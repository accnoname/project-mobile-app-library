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7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Kiểu Có chủ đề 1 - Màu chủ đề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216" d="100"/>
          <a:sy n="216" d="100"/>
        </p:scale>
        <p:origin x="336" y="1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4" y="0"/>
            <a:ext cx="5760085" cy="2808605"/>
          </a:xfrm>
          <a:custGeom>
            <a:avLst/>
            <a:gdLst/>
            <a:ahLst/>
            <a:cxnLst/>
            <a:rect l="l" t="t" r="r" b="b"/>
            <a:pathLst>
              <a:path w="5760085" h="2808605">
                <a:moveTo>
                  <a:pt x="0" y="2808037"/>
                </a:moveTo>
                <a:lnTo>
                  <a:pt x="5760073" y="2808037"/>
                </a:lnTo>
                <a:lnTo>
                  <a:pt x="5760073" y="0"/>
                </a:lnTo>
                <a:lnTo>
                  <a:pt x="0" y="0"/>
                </a:lnTo>
                <a:lnTo>
                  <a:pt x="0" y="2808037"/>
                </a:lnTo>
                <a:close/>
              </a:path>
            </a:pathLst>
          </a:custGeom>
          <a:solidFill>
            <a:srgbClr val="0C2B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-4" y="2808037"/>
            <a:ext cx="5760085" cy="432434"/>
          </a:xfrm>
          <a:custGeom>
            <a:avLst/>
            <a:gdLst/>
            <a:ahLst/>
            <a:cxnLst/>
            <a:rect l="l" t="t" r="r" b="b"/>
            <a:pathLst>
              <a:path w="5760085" h="432435">
                <a:moveTo>
                  <a:pt x="0" y="432004"/>
                </a:moveTo>
                <a:lnTo>
                  <a:pt x="0" y="0"/>
                </a:lnTo>
                <a:lnTo>
                  <a:pt x="5760073" y="0"/>
                </a:lnTo>
                <a:lnTo>
                  <a:pt x="5760073" y="432004"/>
                </a:lnTo>
                <a:lnTo>
                  <a:pt x="0" y="432004"/>
                </a:lnTo>
                <a:close/>
              </a:path>
            </a:pathLst>
          </a:custGeom>
          <a:solidFill>
            <a:srgbClr val="75B2C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62240" y="472070"/>
            <a:ext cx="3235960" cy="403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1B1B2D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Hiếu</a:t>
            </a:r>
            <a:r>
              <a:rPr spc="35" dirty="0"/>
              <a:t> </a:t>
            </a:r>
            <a:r>
              <a:rPr dirty="0">
                <a:latin typeface="Cambria"/>
                <a:cs typeface="Cambria"/>
              </a:rPr>
              <a:t>·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dirty="0"/>
              <a:t>Trọng</a:t>
            </a:r>
            <a:r>
              <a:rPr spc="35" dirty="0"/>
              <a:t> </a:t>
            </a:r>
            <a:r>
              <a:rPr dirty="0">
                <a:latin typeface="Cambria"/>
                <a:cs typeface="Cambria"/>
              </a:rPr>
              <a:t>·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dirty="0"/>
              <a:t>Quang</a:t>
            </a:r>
            <a:r>
              <a:rPr spc="245" dirty="0"/>
              <a:t> </a:t>
            </a:r>
            <a:r>
              <a:rPr dirty="0"/>
              <a:t>(ĐH</a:t>
            </a:r>
            <a:r>
              <a:rPr spc="40" dirty="0"/>
              <a:t> </a:t>
            </a:r>
            <a:r>
              <a:rPr spc="-10" dirty="0"/>
              <a:t>Phenikaa)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20" dirty="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50" dirty="0"/>
              <a:t> </a:t>
            </a:r>
            <a:r>
              <a:rPr spc="150" dirty="0"/>
              <a:t>/</a:t>
            </a:r>
            <a:r>
              <a:rPr spc="-50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1B1B2D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Hiếu</a:t>
            </a:r>
            <a:r>
              <a:rPr spc="35" dirty="0"/>
              <a:t> </a:t>
            </a:r>
            <a:r>
              <a:rPr dirty="0">
                <a:latin typeface="Cambria"/>
                <a:cs typeface="Cambria"/>
              </a:rPr>
              <a:t>·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dirty="0"/>
              <a:t>Trọng</a:t>
            </a:r>
            <a:r>
              <a:rPr spc="35" dirty="0"/>
              <a:t> </a:t>
            </a:r>
            <a:r>
              <a:rPr dirty="0">
                <a:latin typeface="Cambria"/>
                <a:cs typeface="Cambria"/>
              </a:rPr>
              <a:t>·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dirty="0"/>
              <a:t>Quang</a:t>
            </a:r>
            <a:r>
              <a:rPr spc="245" dirty="0"/>
              <a:t> </a:t>
            </a:r>
            <a:r>
              <a:rPr dirty="0"/>
              <a:t>(ĐH</a:t>
            </a:r>
            <a:r>
              <a:rPr spc="40" dirty="0"/>
              <a:t> </a:t>
            </a:r>
            <a:r>
              <a:rPr spc="-10" dirty="0"/>
              <a:t>Phenikaa)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20" dirty="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50" dirty="0"/>
              <a:t> </a:t>
            </a:r>
            <a:r>
              <a:rPr spc="150" dirty="0"/>
              <a:t>/</a:t>
            </a:r>
            <a:r>
              <a:rPr spc="-50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Hiếu</a:t>
            </a:r>
            <a:r>
              <a:rPr spc="35" dirty="0"/>
              <a:t> </a:t>
            </a:r>
            <a:r>
              <a:rPr dirty="0">
                <a:latin typeface="Cambria"/>
                <a:cs typeface="Cambria"/>
              </a:rPr>
              <a:t>·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dirty="0"/>
              <a:t>Trọng</a:t>
            </a:r>
            <a:r>
              <a:rPr spc="35" dirty="0"/>
              <a:t> </a:t>
            </a:r>
            <a:r>
              <a:rPr dirty="0">
                <a:latin typeface="Cambria"/>
                <a:cs typeface="Cambria"/>
              </a:rPr>
              <a:t>·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dirty="0"/>
              <a:t>Quang</a:t>
            </a:r>
            <a:r>
              <a:rPr spc="245" dirty="0"/>
              <a:t> </a:t>
            </a:r>
            <a:r>
              <a:rPr dirty="0"/>
              <a:t>(ĐH</a:t>
            </a:r>
            <a:r>
              <a:rPr spc="40" dirty="0"/>
              <a:t> </a:t>
            </a:r>
            <a:r>
              <a:rPr spc="-10" dirty="0"/>
              <a:t>Phenikaa)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20" dirty="0"/>
              <a:t>2026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50" dirty="0"/>
              <a:t> </a:t>
            </a:r>
            <a:r>
              <a:rPr spc="150" dirty="0"/>
              <a:t>/</a:t>
            </a:r>
            <a:r>
              <a:rPr spc="-50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Hiếu</a:t>
            </a:r>
            <a:r>
              <a:rPr spc="35" dirty="0"/>
              <a:t> </a:t>
            </a:r>
            <a:r>
              <a:rPr dirty="0">
                <a:latin typeface="Cambria"/>
                <a:cs typeface="Cambria"/>
              </a:rPr>
              <a:t>·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dirty="0"/>
              <a:t>Trọng</a:t>
            </a:r>
            <a:r>
              <a:rPr spc="35" dirty="0"/>
              <a:t> </a:t>
            </a:r>
            <a:r>
              <a:rPr dirty="0">
                <a:latin typeface="Cambria"/>
                <a:cs typeface="Cambria"/>
              </a:rPr>
              <a:t>·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dirty="0"/>
              <a:t>Quang</a:t>
            </a:r>
            <a:r>
              <a:rPr spc="245" dirty="0"/>
              <a:t> </a:t>
            </a:r>
            <a:r>
              <a:rPr dirty="0"/>
              <a:t>(ĐH</a:t>
            </a:r>
            <a:r>
              <a:rPr spc="40" dirty="0"/>
              <a:t> </a:t>
            </a:r>
            <a:r>
              <a:rPr spc="-10" dirty="0"/>
              <a:t>Phenikaa)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50" dirty="0"/>
              <a:t> </a:t>
            </a:r>
            <a:r>
              <a:rPr spc="150" dirty="0"/>
              <a:t>/</a:t>
            </a:r>
            <a:r>
              <a:rPr spc="-50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21144" y="1150238"/>
            <a:ext cx="2724150" cy="260350"/>
          </a:xfrm>
          <a:custGeom>
            <a:avLst/>
            <a:gdLst/>
            <a:ahLst/>
            <a:cxnLst/>
            <a:rect l="l" t="t" r="r" b="b"/>
            <a:pathLst>
              <a:path w="2724150" h="260350">
                <a:moveTo>
                  <a:pt x="267292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59955"/>
                </a:lnTo>
                <a:lnTo>
                  <a:pt x="2723725" y="259955"/>
                </a:lnTo>
                <a:lnTo>
                  <a:pt x="2723725" y="50800"/>
                </a:lnTo>
                <a:lnTo>
                  <a:pt x="2719716" y="31075"/>
                </a:lnTo>
                <a:lnTo>
                  <a:pt x="2708802" y="14922"/>
                </a:lnTo>
                <a:lnTo>
                  <a:pt x="2692649" y="4008"/>
                </a:lnTo>
                <a:lnTo>
                  <a:pt x="2672924" y="0"/>
                </a:lnTo>
                <a:close/>
              </a:path>
            </a:pathLst>
          </a:custGeom>
          <a:solidFill>
            <a:srgbClr val="197F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Hiếu</a:t>
            </a:r>
            <a:r>
              <a:rPr spc="35" dirty="0"/>
              <a:t> </a:t>
            </a:r>
            <a:r>
              <a:rPr dirty="0">
                <a:latin typeface="Cambria"/>
                <a:cs typeface="Cambria"/>
              </a:rPr>
              <a:t>·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dirty="0"/>
              <a:t>Trọng</a:t>
            </a:r>
            <a:r>
              <a:rPr spc="35" dirty="0"/>
              <a:t> </a:t>
            </a:r>
            <a:r>
              <a:rPr dirty="0">
                <a:latin typeface="Cambria"/>
                <a:cs typeface="Cambria"/>
              </a:rPr>
              <a:t>·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dirty="0"/>
              <a:t>Quang</a:t>
            </a:r>
            <a:r>
              <a:rPr spc="245" dirty="0"/>
              <a:t> </a:t>
            </a:r>
            <a:r>
              <a:rPr dirty="0"/>
              <a:t>(ĐH</a:t>
            </a:r>
            <a:r>
              <a:rPr spc="40" dirty="0"/>
              <a:t> </a:t>
            </a:r>
            <a:r>
              <a:rPr spc="-10" dirty="0"/>
              <a:t>Phenikaa)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20" dirty="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50" dirty="0"/>
              <a:t> </a:t>
            </a:r>
            <a:r>
              <a:rPr spc="150" dirty="0"/>
              <a:t>/</a:t>
            </a:r>
            <a:r>
              <a:rPr spc="-50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760085" cy="345440"/>
          </a:xfrm>
          <a:custGeom>
            <a:avLst/>
            <a:gdLst/>
            <a:ahLst/>
            <a:cxnLst/>
            <a:rect l="l" t="t" r="r" b="b"/>
            <a:pathLst>
              <a:path w="5760085" h="345440">
                <a:moveTo>
                  <a:pt x="5759996" y="0"/>
                </a:moveTo>
                <a:lnTo>
                  <a:pt x="0" y="0"/>
                </a:lnTo>
                <a:lnTo>
                  <a:pt x="0" y="345097"/>
                </a:lnTo>
                <a:lnTo>
                  <a:pt x="5759996" y="345097"/>
                </a:lnTo>
                <a:lnTo>
                  <a:pt x="5759996" y="0"/>
                </a:lnTo>
                <a:close/>
              </a:path>
            </a:pathLst>
          </a:custGeom>
          <a:solidFill>
            <a:srgbClr val="0C2B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7363"/>
            <a:ext cx="452247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47605" y="644538"/>
            <a:ext cx="2390140" cy="1757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1B1B2D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03034" y="3122434"/>
            <a:ext cx="1313827" cy="1225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Hiếu</a:t>
            </a:r>
            <a:r>
              <a:rPr spc="35" dirty="0"/>
              <a:t> </a:t>
            </a:r>
            <a:r>
              <a:rPr dirty="0">
                <a:latin typeface="Cambria"/>
                <a:cs typeface="Cambria"/>
              </a:rPr>
              <a:t>·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dirty="0"/>
              <a:t>Trọng</a:t>
            </a:r>
            <a:r>
              <a:rPr spc="35" dirty="0"/>
              <a:t> </a:t>
            </a:r>
            <a:r>
              <a:rPr dirty="0">
                <a:latin typeface="Cambria"/>
                <a:cs typeface="Cambria"/>
              </a:rPr>
              <a:t>·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dirty="0"/>
              <a:t>Quang</a:t>
            </a:r>
            <a:r>
              <a:rPr spc="245" dirty="0"/>
              <a:t> </a:t>
            </a:r>
            <a:r>
              <a:rPr dirty="0"/>
              <a:t>(ĐH</a:t>
            </a:r>
            <a:r>
              <a:rPr spc="40" dirty="0"/>
              <a:t> </a:t>
            </a:r>
            <a:r>
              <a:rPr spc="-10" dirty="0"/>
              <a:t>Phenikaa)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92345" y="3135795"/>
            <a:ext cx="186689" cy="1022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20" dirty="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25883" y="3135795"/>
            <a:ext cx="279706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50" dirty="0"/>
              <a:t> </a:t>
            </a:r>
            <a:r>
              <a:rPr spc="150" dirty="0"/>
              <a:t>/</a:t>
            </a:r>
            <a:r>
              <a:rPr spc="-50" dirty="0"/>
              <a:t> </a:t>
            </a:r>
            <a:r>
              <a:rPr spc="-25" dirty="0"/>
              <a:t>19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slide" Target="slide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5" Type="http://schemas.openxmlformats.org/officeDocument/2006/relationships/slide" Target="slide1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15" y="750173"/>
            <a:ext cx="5760749" cy="2701053"/>
            <a:chOff x="-4" y="-9"/>
            <a:chExt cx="5760749" cy="2701053"/>
          </a:xfrm>
        </p:grpSpPr>
        <p:sp>
          <p:nvSpPr>
            <p:cNvPr id="3" name="object 3"/>
            <p:cNvSpPr/>
            <p:nvPr/>
          </p:nvSpPr>
          <p:spPr>
            <a:xfrm>
              <a:off x="-4" y="-9"/>
              <a:ext cx="5760085" cy="1152525"/>
            </a:xfrm>
            <a:custGeom>
              <a:avLst/>
              <a:gdLst/>
              <a:ahLst/>
              <a:cxnLst/>
              <a:rect l="l" t="t" r="r" b="b"/>
              <a:pathLst>
                <a:path w="5760085" h="1152525">
                  <a:moveTo>
                    <a:pt x="0" y="0"/>
                  </a:moveTo>
                  <a:lnTo>
                    <a:pt x="0" y="1152013"/>
                  </a:lnTo>
                  <a:lnTo>
                    <a:pt x="5760073" y="1152013"/>
                  </a:lnTo>
                  <a:lnTo>
                    <a:pt x="576007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C2B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4" y="1152004"/>
              <a:ext cx="5760085" cy="126364"/>
            </a:xfrm>
            <a:custGeom>
              <a:avLst/>
              <a:gdLst/>
              <a:ahLst/>
              <a:cxnLst/>
              <a:rect l="l" t="t" r="r" b="b"/>
              <a:pathLst>
                <a:path w="5760085" h="126365">
                  <a:moveTo>
                    <a:pt x="0" y="0"/>
                  </a:moveTo>
                  <a:lnTo>
                    <a:pt x="0" y="126003"/>
                  </a:lnTo>
                  <a:lnTo>
                    <a:pt x="5760073" y="126003"/>
                  </a:lnTo>
                  <a:lnTo>
                    <a:pt x="576007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7F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60" y="1259992"/>
              <a:ext cx="5760085" cy="1441052"/>
            </a:xfrm>
            <a:custGeom>
              <a:avLst/>
              <a:gdLst/>
              <a:ahLst/>
              <a:cxnLst/>
              <a:rect l="l" t="t" r="r" b="b"/>
              <a:pathLst>
                <a:path w="5760085" h="1962150">
                  <a:moveTo>
                    <a:pt x="0" y="0"/>
                  </a:moveTo>
                  <a:lnTo>
                    <a:pt x="0" y="1962024"/>
                  </a:lnTo>
                  <a:lnTo>
                    <a:pt x="5760073" y="1962024"/>
                  </a:lnTo>
                  <a:lnTo>
                    <a:pt x="576007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F6F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4644055" y="251995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79" h="792480">
                  <a:moveTo>
                    <a:pt x="396004" y="0"/>
                  </a:moveTo>
                  <a:lnTo>
                    <a:pt x="349821" y="2664"/>
                  </a:lnTo>
                  <a:lnTo>
                    <a:pt x="305203" y="10458"/>
                  </a:lnTo>
                  <a:lnTo>
                    <a:pt x="262447" y="23086"/>
                  </a:lnTo>
                  <a:lnTo>
                    <a:pt x="221850" y="40249"/>
                  </a:lnTo>
                  <a:lnTo>
                    <a:pt x="183709" y="61652"/>
                  </a:lnTo>
                  <a:lnTo>
                    <a:pt x="148322" y="86996"/>
                  </a:lnTo>
                  <a:lnTo>
                    <a:pt x="115985" y="115985"/>
                  </a:lnTo>
                  <a:lnTo>
                    <a:pt x="86996" y="148322"/>
                  </a:lnTo>
                  <a:lnTo>
                    <a:pt x="61652" y="183709"/>
                  </a:lnTo>
                  <a:lnTo>
                    <a:pt x="40249" y="221850"/>
                  </a:lnTo>
                  <a:lnTo>
                    <a:pt x="23086" y="262447"/>
                  </a:lnTo>
                  <a:lnTo>
                    <a:pt x="10458" y="305203"/>
                  </a:lnTo>
                  <a:lnTo>
                    <a:pt x="2664" y="349821"/>
                  </a:lnTo>
                  <a:lnTo>
                    <a:pt x="0" y="396004"/>
                  </a:lnTo>
                  <a:lnTo>
                    <a:pt x="2664" y="442187"/>
                  </a:lnTo>
                  <a:lnTo>
                    <a:pt x="10458" y="486805"/>
                  </a:lnTo>
                  <a:lnTo>
                    <a:pt x="23086" y="529561"/>
                  </a:lnTo>
                  <a:lnTo>
                    <a:pt x="40249" y="570158"/>
                  </a:lnTo>
                  <a:lnTo>
                    <a:pt x="61652" y="608298"/>
                  </a:lnTo>
                  <a:lnTo>
                    <a:pt x="86996" y="643685"/>
                  </a:lnTo>
                  <a:lnTo>
                    <a:pt x="115985" y="676022"/>
                  </a:lnTo>
                  <a:lnTo>
                    <a:pt x="148322" y="705011"/>
                  </a:lnTo>
                  <a:lnTo>
                    <a:pt x="183709" y="730356"/>
                  </a:lnTo>
                  <a:lnTo>
                    <a:pt x="221850" y="751758"/>
                  </a:lnTo>
                  <a:lnTo>
                    <a:pt x="262447" y="768922"/>
                  </a:lnTo>
                  <a:lnTo>
                    <a:pt x="305203" y="781549"/>
                  </a:lnTo>
                  <a:lnTo>
                    <a:pt x="349821" y="789344"/>
                  </a:lnTo>
                  <a:lnTo>
                    <a:pt x="396004" y="792008"/>
                  </a:lnTo>
                  <a:lnTo>
                    <a:pt x="442187" y="789344"/>
                  </a:lnTo>
                  <a:lnTo>
                    <a:pt x="486805" y="781549"/>
                  </a:lnTo>
                  <a:lnTo>
                    <a:pt x="529561" y="768922"/>
                  </a:lnTo>
                  <a:lnTo>
                    <a:pt x="570158" y="751758"/>
                  </a:lnTo>
                  <a:lnTo>
                    <a:pt x="608298" y="730356"/>
                  </a:lnTo>
                  <a:lnTo>
                    <a:pt x="643685" y="705011"/>
                  </a:lnTo>
                  <a:lnTo>
                    <a:pt x="676022" y="676022"/>
                  </a:lnTo>
                  <a:lnTo>
                    <a:pt x="705011" y="643685"/>
                  </a:lnTo>
                  <a:lnTo>
                    <a:pt x="730356" y="608298"/>
                  </a:lnTo>
                  <a:lnTo>
                    <a:pt x="751758" y="570158"/>
                  </a:lnTo>
                  <a:lnTo>
                    <a:pt x="768922" y="529561"/>
                  </a:lnTo>
                  <a:lnTo>
                    <a:pt x="781549" y="486805"/>
                  </a:lnTo>
                  <a:lnTo>
                    <a:pt x="789344" y="442187"/>
                  </a:lnTo>
                  <a:lnTo>
                    <a:pt x="792008" y="396004"/>
                  </a:lnTo>
                  <a:lnTo>
                    <a:pt x="789344" y="349821"/>
                  </a:lnTo>
                  <a:lnTo>
                    <a:pt x="781549" y="305203"/>
                  </a:lnTo>
                  <a:lnTo>
                    <a:pt x="768922" y="262447"/>
                  </a:lnTo>
                  <a:lnTo>
                    <a:pt x="751758" y="221850"/>
                  </a:lnTo>
                  <a:lnTo>
                    <a:pt x="730356" y="183709"/>
                  </a:lnTo>
                  <a:lnTo>
                    <a:pt x="705011" y="148322"/>
                  </a:lnTo>
                  <a:lnTo>
                    <a:pt x="676022" y="115985"/>
                  </a:lnTo>
                  <a:lnTo>
                    <a:pt x="643685" y="86996"/>
                  </a:lnTo>
                  <a:lnTo>
                    <a:pt x="608298" y="61652"/>
                  </a:lnTo>
                  <a:lnTo>
                    <a:pt x="570158" y="40249"/>
                  </a:lnTo>
                  <a:lnTo>
                    <a:pt x="529561" y="23086"/>
                  </a:lnTo>
                  <a:lnTo>
                    <a:pt x="486805" y="10458"/>
                  </a:lnTo>
                  <a:lnTo>
                    <a:pt x="442187" y="2664"/>
                  </a:lnTo>
                  <a:lnTo>
                    <a:pt x="396004" y="0"/>
                  </a:lnTo>
                  <a:close/>
                </a:path>
              </a:pathLst>
            </a:custGeom>
            <a:solidFill>
              <a:srgbClr val="F0A5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30686" y="552132"/>
              <a:ext cx="219075" cy="193675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1587500" y="834257"/>
            <a:ext cx="23552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70" dirty="0">
                <a:latin typeface="Arial"/>
                <a:cs typeface="Arial"/>
              </a:rPr>
              <a:t>Trường</a:t>
            </a:r>
            <a:r>
              <a:rPr sz="1100" b="0" i="1" spc="-5" dirty="0">
                <a:latin typeface="Arial"/>
                <a:cs typeface="Arial"/>
              </a:rPr>
              <a:t> </a:t>
            </a:r>
            <a:r>
              <a:rPr sz="1100" b="0" i="1" dirty="0">
                <a:latin typeface="Arial"/>
                <a:cs typeface="Arial"/>
              </a:rPr>
              <a:t>Đại</a:t>
            </a:r>
            <a:r>
              <a:rPr sz="1100" b="0" i="1" spc="-10" dirty="0">
                <a:latin typeface="Arial"/>
                <a:cs typeface="Arial"/>
              </a:rPr>
              <a:t> </a:t>
            </a:r>
            <a:r>
              <a:rPr sz="1100" b="0" i="1" spc="-20" dirty="0">
                <a:latin typeface="Arial"/>
                <a:cs typeface="Arial"/>
              </a:rPr>
              <a:t>học</a:t>
            </a:r>
            <a:r>
              <a:rPr sz="1100" b="0" i="1" spc="-10" dirty="0">
                <a:latin typeface="Arial"/>
                <a:cs typeface="Arial"/>
              </a:rPr>
              <a:t> </a:t>
            </a:r>
            <a:r>
              <a:rPr sz="1100" b="0" i="1" spc="-60" dirty="0">
                <a:latin typeface="Arial"/>
                <a:cs typeface="Arial"/>
              </a:rPr>
              <a:t>Phenikaa</a:t>
            </a:r>
            <a:r>
              <a:rPr sz="1100" b="0" i="1" spc="-5" dirty="0">
                <a:latin typeface="Arial"/>
                <a:cs typeface="Arial"/>
              </a:rPr>
              <a:t> </a:t>
            </a:r>
            <a:r>
              <a:rPr sz="1100" b="0" i="1" dirty="0">
                <a:latin typeface="Cambria"/>
                <a:cs typeface="Cambria"/>
              </a:rPr>
              <a:t>·</a:t>
            </a:r>
            <a:r>
              <a:rPr sz="1100" b="0" i="1" spc="55" dirty="0">
                <a:latin typeface="Cambria"/>
                <a:cs typeface="Cambria"/>
              </a:rPr>
              <a:t> </a:t>
            </a:r>
            <a:r>
              <a:rPr sz="1100" b="0" i="1" spc="-30" dirty="0">
                <a:latin typeface="Arial"/>
                <a:cs typeface="Arial"/>
              </a:rPr>
              <a:t>Khoa</a:t>
            </a:r>
            <a:r>
              <a:rPr sz="1100" b="0" i="1" spc="-5" dirty="0">
                <a:latin typeface="Arial"/>
                <a:cs typeface="Arial"/>
              </a:rPr>
              <a:t> </a:t>
            </a:r>
            <a:r>
              <a:rPr sz="1100" b="0" i="1" spc="-20" dirty="0">
                <a:latin typeface="Arial"/>
                <a:cs typeface="Arial"/>
              </a:rPr>
              <a:t>CNTT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61135" y="1037285"/>
            <a:ext cx="2843530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b="1" dirty="0">
                <a:solidFill>
                  <a:srgbClr val="FFFFFF"/>
                </a:solidFill>
                <a:latin typeface="Tahoma"/>
                <a:cs typeface="Tahoma"/>
              </a:rPr>
              <a:t>Dự</a:t>
            </a:r>
            <a:r>
              <a:rPr sz="2050" b="1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50" b="1" spc="-90" dirty="0">
                <a:solidFill>
                  <a:srgbClr val="FFFFFF"/>
                </a:solidFill>
                <a:latin typeface="Tahoma"/>
                <a:cs typeface="Tahoma"/>
              </a:rPr>
              <a:t>đoán</a:t>
            </a:r>
            <a:r>
              <a:rPr sz="2050" b="1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50" b="1" spc="-35" dirty="0">
                <a:solidFill>
                  <a:srgbClr val="FFFFFF"/>
                </a:solidFill>
                <a:latin typeface="Tahoma"/>
                <a:cs typeface="Tahoma"/>
              </a:rPr>
              <a:t>và </a:t>
            </a:r>
            <a:r>
              <a:rPr sz="2050" b="1" dirty="0">
                <a:solidFill>
                  <a:srgbClr val="FFFFFF"/>
                </a:solidFill>
                <a:latin typeface="Tahoma"/>
                <a:cs typeface="Tahoma"/>
              </a:rPr>
              <a:t>Tối</a:t>
            </a:r>
            <a:r>
              <a:rPr sz="2050" b="1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50" b="1" spc="-40" dirty="0">
                <a:solidFill>
                  <a:srgbClr val="FFFFFF"/>
                </a:solidFill>
                <a:latin typeface="Tahoma"/>
                <a:cs typeface="Tahoma"/>
              </a:rPr>
              <a:t>ưu</a:t>
            </a:r>
            <a:r>
              <a:rPr sz="2050" b="1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50" b="1" spc="-110" dirty="0">
                <a:solidFill>
                  <a:srgbClr val="FFFFFF"/>
                </a:solidFill>
                <a:latin typeface="Tahoma"/>
                <a:cs typeface="Tahoma"/>
              </a:rPr>
              <a:t>hóa</a:t>
            </a:r>
            <a:endParaRPr sz="205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27276" y="1161458"/>
            <a:ext cx="2304415" cy="745490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345"/>
              </a:spcBef>
            </a:pPr>
            <a:r>
              <a:rPr sz="2050" b="1" spc="-10" dirty="0">
                <a:solidFill>
                  <a:srgbClr val="F0A500"/>
                </a:solidFill>
                <a:latin typeface="Tahoma"/>
                <a:cs typeface="Tahoma"/>
              </a:rPr>
              <a:t>Cước</a:t>
            </a:r>
            <a:r>
              <a:rPr sz="2050" b="1" spc="-80" dirty="0">
                <a:solidFill>
                  <a:srgbClr val="F0A500"/>
                </a:solidFill>
                <a:latin typeface="Tahoma"/>
                <a:cs typeface="Tahoma"/>
              </a:rPr>
              <a:t> </a:t>
            </a:r>
            <a:r>
              <a:rPr sz="2050" b="1" spc="-50" dirty="0">
                <a:solidFill>
                  <a:srgbClr val="F0A500"/>
                </a:solidFill>
                <a:latin typeface="Tahoma"/>
                <a:cs typeface="Tahoma"/>
              </a:rPr>
              <a:t>phí</a:t>
            </a:r>
            <a:r>
              <a:rPr sz="2050" b="1" spc="-80" dirty="0">
                <a:solidFill>
                  <a:srgbClr val="F0A500"/>
                </a:solidFill>
                <a:latin typeface="Tahoma"/>
                <a:cs typeface="Tahoma"/>
              </a:rPr>
              <a:t> </a:t>
            </a:r>
            <a:r>
              <a:rPr sz="2050" b="1" spc="-20" dirty="0">
                <a:solidFill>
                  <a:srgbClr val="F0A500"/>
                </a:solidFill>
                <a:latin typeface="Tahoma"/>
                <a:cs typeface="Tahoma"/>
              </a:rPr>
              <a:t>Taxi</a:t>
            </a:r>
            <a:endParaRPr sz="205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645"/>
              </a:spcBef>
            </a:pPr>
            <a:r>
              <a:rPr sz="11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Lập</a:t>
            </a:r>
            <a:r>
              <a:rPr sz="11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FFFFFF"/>
                </a:solidFill>
                <a:latin typeface="Microsoft Sans Serif"/>
                <a:cs typeface="Microsoft Sans Serif"/>
              </a:rPr>
              <a:t>trình </a:t>
            </a:r>
            <a:r>
              <a:rPr sz="11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Phân</a:t>
            </a:r>
            <a:r>
              <a:rPr sz="1100" dirty="0">
                <a:solidFill>
                  <a:srgbClr val="FFFFFF"/>
                </a:solidFill>
                <a:latin typeface="Microsoft Sans Serif"/>
                <a:cs typeface="Microsoft Sans Serif"/>
              </a:rPr>
              <a:t> tích Dữ </a:t>
            </a:r>
            <a:r>
              <a:rPr sz="11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liệu</a:t>
            </a:r>
            <a:r>
              <a:rPr sz="1100" dirty="0">
                <a:solidFill>
                  <a:srgbClr val="FFFFFF"/>
                </a:solidFill>
                <a:latin typeface="Microsoft Sans Serif"/>
                <a:cs typeface="Microsoft Sans Serif"/>
              </a:rPr>
              <a:t> với </a:t>
            </a:r>
            <a:r>
              <a:rPr sz="11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Python</a:t>
            </a:r>
            <a:endParaRPr sz="1100" dirty="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63700" y="2067111"/>
            <a:ext cx="2296795" cy="127849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006600" algn="l"/>
              </a:tabLst>
            </a:pPr>
            <a:r>
              <a:rPr sz="1100" b="1" dirty="0">
                <a:solidFill>
                  <a:srgbClr val="1B1B2D"/>
                </a:solidFill>
                <a:latin typeface="Tahoma"/>
                <a:cs typeface="Tahoma"/>
              </a:rPr>
              <a:t>GVHD:</a:t>
            </a:r>
            <a:r>
              <a:rPr sz="1100" b="1" spc="-1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1B1B2D"/>
                </a:solidFill>
                <a:latin typeface="Microsoft Sans Serif"/>
                <a:cs typeface="Microsoft Sans Serif"/>
              </a:rPr>
              <a:t>Nguyễn</a:t>
            </a:r>
            <a:r>
              <a:rPr sz="1100" spc="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30" dirty="0">
                <a:solidFill>
                  <a:srgbClr val="1B1B2D"/>
                </a:solidFill>
                <a:latin typeface="Microsoft Sans Serif"/>
                <a:cs typeface="Microsoft Sans Serif"/>
              </a:rPr>
              <a:t>Ngọc</a:t>
            </a:r>
            <a:r>
              <a:rPr sz="1100" spc="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Giang</a:t>
            </a:r>
            <a:endParaRPr lang="vi-VN" sz="1100" spc="-20" dirty="0">
              <a:solidFill>
                <a:srgbClr val="1B1B2D"/>
              </a:solidFill>
              <a:latin typeface="Microsoft Sans Serif"/>
              <a:cs typeface="Microsoft Sans Serif"/>
            </a:endParaRPr>
          </a:p>
          <a:p>
            <a:pPr marL="12700">
              <a:spcBef>
                <a:spcPts val="90"/>
              </a:spcBef>
              <a:tabLst>
                <a:tab pos="2006600" algn="l"/>
              </a:tabLst>
            </a:pPr>
            <a:r>
              <a:rPr lang="en-US" sz="1100" spc="-60" dirty="0">
                <a:solidFill>
                  <a:srgbClr val="1B1B2D"/>
                </a:solidFill>
                <a:latin typeface="Microsoft Sans Serif"/>
                <a:cs typeface="Microsoft Sans Serif"/>
              </a:rPr>
              <a:t>Nguyễn</a:t>
            </a:r>
            <a:r>
              <a:rPr lang="en-US" sz="1100" spc="-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lang="en-US" sz="11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Trung</a:t>
            </a:r>
            <a:r>
              <a:rPr lang="en-US" sz="1100" spc="-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lang="en-US" sz="1100" spc="-30" dirty="0">
                <a:solidFill>
                  <a:srgbClr val="1B1B2D"/>
                </a:solidFill>
                <a:latin typeface="Microsoft Sans Serif"/>
                <a:cs typeface="Microsoft Sans Serif"/>
              </a:rPr>
              <a:t>Hiếu</a:t>
            </a:r>
            <a:r>
              <a:rPr lang="en-US"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lang="en-US" sz="1100" spc="-35" dirty="0">
                <a:solidFill>
                  <a:srgbClr val="1B1B2D"/>
                </a:solidFill>
                <a:latin typeface="Microsoft Sans Serif"/>
                <a:cs typeface="Microsoft Sans Serif"/>
              </a:rPr>
              <a:t>(23011098)</a:t>
            </a:r>
            <a:endParaRPr lang="vi-VN" sz="1100" spc="-35" dirty="0">
              <a:solidFill>
                <a:srgbClr val="1B1B2D"/>
              </a:solidFill>
              <a:latin typeface="Microsoft Sans Serif"/>
              <a:cs typeface="Microsoft Sans Serif"/>
            </a:endParaRPr>
          </a:p>
          <a:p>
            <a:pPr marL="12700">
              <a:spcBef>
                <a:spcPts val="90"/>
              </a:spcBef>
              <a:tabLst>
                <a:tab pos="2006600" algn="l"/>
              </a:tabLst>
            </a:pPr>
            <a:r>
              <a:rPr lang="en-US" sz="1100" spc="-60" dirty="0">
                <a:solidFill>
                  <a:srgbClr val="1B1B2D"/>
                </a:solidFill>
                <a:latin typeface="Microsoft Sans Serif"/>
                <a:cs typeface="Microsoft Sans Serif"/>
              </a:rPr>
              <a:t>Nguyễn</a:t>
            </a:r>
            <a:r>
              <a:rPr lang="en-US" sz="1100" spc="-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lang="en-US" sz="1100" spc="-35" dirty="0">
                <a:solidFill>
                  <a:srgbClr val="1B1B2D"/>
                </a:solidFill>
                <a:latin typeface="Microsoft Sans Serif"/>
                <a:cs typeface="Microsoft Sans Serif"/>
              </a:rPr>
              <a:t>Văn</a:t>
            </a:r>
            <a:r>
              <a:rPr lang="en-US"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lang="en-US" sz="1100" spc="-30" dirty="0" err="1">
                <a:solidFill>
                  <a:srgbClr val="1B1B2D"/>
                </a:solidFill>
                <a:latin typeface="Microsoft Sans Serif"/>
                <a:cs typeface="Microsoft Sans Serif"/>
              </a:rPr>
              <a:t>Trọng</a:t>
            </a:r>
            <a:r>
              <a:rPr lang="en-US"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lang="en-US" sz="1100" spc="-40" dirty="0">
                <a:solidFill>
                  <a:srgbClr val="1B1B2D"/>
                </a:solidFill>
                <a:latin typeface="Microsoft Sans Serif"/>
                <a:cs typeface="Microsoft Sans Serif"/>
              </a:rPr>
              <a:t>(23010748)</a:t>
            </a:r>
            <a:endParaRPr lang="vi-VN" sz="1100" spc="-40" dirty="0">
              <a:solidFill>
                <a:srgbClr val="1B1B2D"/>
              </a:solidFill>
              <a:latin typeface="Microsoft Sans Serif"/>
              <a:cs typeface="Microsoft Sans Serif"/>
            </a:endParaRPr>
          </a:p>
          <a:p>
            <a:pPr marL="12700">
              <a:spcBef>
                <a:spcPts val="90"/>
              </a:spcBef>
              <a:tabLst>
                <a:tab pos="2006600" algn="l"/>
              </a:tabLst>
            </a:pPr>
            <a:r>
              <a:rPr lang="en-US" sz="1100" spc="-65" dirty="0">
                <a:solidFill>
                  <a:srgbClr val="1B1B2D"/>
                </a:solidFill>
                <a:latin typeface="Microsoft Sans Serif"/>
                <a:cs typeface="Microsoft Sans Serif"/>
              </a:rPr>
              <a:t>Nguyễn</a:t>
            </a:r>
            <a:r>
              <a:rPr lang="en-US" sz="1100" spc="3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lang="en-US"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Việt</a:t>
            </a:r>
            <a:r>
              <a:rPr lang="en-US" sz="1100" spc="3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lang="en-US" sz="1100" spc="-50" dirty="0">
                <a:solidFill>
                  <a:srgbClr val="1B1B2D"/>
                </a:solidFill>
                <a:latin typeface="Microsoft Sans Serif"/>
                <a:cs typeface="Microsoft Sans Serif"/>
              </a:rPr>
              <a:t>Quang</a:t>
            </a:r>
            <a:r>
              <a:rPr lang="en-US"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(22010132)</a:t>
            </a:r>
            <a:endParaRPr lang="en-US" sz="1100" dirty="0">
              <a:latin typeface="Microsoft Sans Serif"/>
              <a:cs typeface="Microsoft Sans Serif"/>
            </a:endParaRPr>
          </a:p>
          <a:p>
            <a:pPr marL="12700">
              <a:spcBef>
                <a:spcPts val="90"/>
              </a:spcBef>
              <a:tabLst>
                <a:tab pos="2006600" algn="l"/>
              </a:tabLst>
            </a:pPr>
            <a:endParaRPr lang="en-US" sz="1100" dirty="0">
              <a:latin typeface="Microsoft Sans Serif"/>
              <a:cs typeface="Microsoft Sans Serif"/>
            </a:endParaRPr>
          </a:p>
          <a:p>
            <a:pPr marL="12700">
              <a:spcBef>
                <a:spcPts val="90"/>
              </a:spcBef>
              <a:tabLst>
                <a:tab pos="2006600" algn="l"/>
              </a:tabLst>
            </a:pPr>
            <a:endParaRPr lang="en-US" sz="11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006600" algn="l"/>
              </a:tabLst>
            </a:pP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	</a:t>
            </a:r>
            <a:endParaRPr sz="11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7363"/>
            <a:ext cx="16433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Nội</a:t>
            </a:r>
            <a:r>
              <a:rPr spc="-10" dirty="0"/>
              <a:t> </a:t>
            </a:r>
            <a:r>
              <a:rPr spc="-55" dirty="0"/>
              <a:t>dung</a:t>
            </a:r>
            <a:r>
              <a:rPr spc="-15" dirty="0"/>
              <a:t> </a:t>
            </a:r>
            <a:r>
              <a:rPr spc="-30" dirty="0"/>
              <a:t>Trình</a:t>
            </a:r>
            <a:r>
              <a:rPr spc="-10" dirty="0"/>
              <a:t> </a:t>
            </a:r>
            <a:r>
              <a:rPr spc="-70" dirty="0"/>
              <a:t>bày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1144" y="939431"/>
            <a:ext cx="2774950" cy="1770380"/>
            <a:chOff x="121144" y="939431"/>
            <a:chExt cx="2774950" cy="1770380"/>
          </a:xfrm>
        </p:grpSpPr>
        <p:sp>
          <p:nvSpPr>
            <p:cNvPr id="4" name="object 4"/>
            <p:cNvSpPr/>
            <p:nvPr/>
          </p:nvSpPr>
          <p:spPr>
            <a:xfrm>
              <a:off x="121144" y="939431"/>
              <a:ext cx="2724150" cy="82550"/>
            </a:xfrm>
            <a:custGeom>
              <a:avLst/>
              <a:gdLst/>
              <a:ahLst/>
              <a:cxnLst/>
              <a:rect l="l" t="t" r="r" b="b"/>
              <a:pathLst>
                <a:path w="2724150" h="82550">
                  <a:moveTo>
                    <a:pt x="267292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2723725" y="82384"/>
                  </a:lnTo>
                  <a:lnTo>
                    <a:pt x="2723725" y="50800"/>
                  </a:lnTo>
                  <a:lnTo>
                    <a:pt x="2719716" y="31075"/>
                  </a:lnTo>
                  <a:lnTo>
                    <a:pt x="2708802" y="14922"/>
                  </a:lnTo>
                  <a:lnTo>
                    <a:pt x="2692649" y="4008"/>
                  </a:lnTo>
                  <a:lnTo>
                    <a:pt x="2672924" y="0"/>
                  </a:lnTo>
                  <a:close/>
                </a:path>
              </a:pathLst>
            </a:custGeom>
            <a:solidFill>
              <a:srgbClr val="D6E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1945" y="1002676"/>
              <a:ext cx="2724150" cy="1706880"/>
            </a:xfrm>
            <a:custGeom>
              <a:avLst/>
              <a:gdLst/>
              <a:ahLst/>
              <a:cxnLst/>
              <a:rect l="l" t="t" r="r" b="b"/>
              <a:pathLst>
                <a:path w="2724150" h="1706880">
                  <a:moveTo>
                    <a:pt x="2723725" y="0"/>
                  </a:moveTo>
                  <a:lnTo>
                    <a:pt x="0" y="0"/>
                  </a:lnTo>
                  <a:lnTo>
                    <a:pt x="0" y="1706526"/>
                  </a:lnTo>
                  <a:lnTo>
                    <a:pt x="2723725" y="1706526"/>
                  </a:lnTo>
                  <a:lnTo>
                    <a:pt x="27237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1144" y="983840"/>
              <a:ext cx="2724150" cy="1675130"/>
            </a:xfrm>
            <a:custGeom>
              <a:avLst/>
              <a:gdLst/>
              <a:ahLst/>
              <a:cxnLst/>
              <a:rect l="l" t="t" r="r" b="b"/>
              <a:pathLst>
                <a:path w="2724150" h="1675130">
                  <a:moveTo>
                    <a:pt x="2723725" y="0"/>
                  </a:moveTo>
                  <a:lnTo>
                    <a:pt x="0" y="0"/>
                  </a:lnTo>
                  <a:lnTo>
                    <a:pt x="0" y="1623761"/>
                  </a:lnTo>
                  <a:lnTo>
                    <a:pt x="4008" y="1643486"/>
                  </a:lnTo>
                  <a:lnTo>
                    <a:pt x="14922" y="1659639"/>
                  </a:lnTo>
                  <a:lnTo>
                    <a:pt x="31075" y="1670553"/>
                  </a:lnTo>
                  <a:lnTo>
                    <a:pt x="50800" y="1674562"/>
                  </a:lnTo>
                  <a:lnTo>
                    <a:pt x="2672924" y="1674562"/>
                  </a:lnTo>
                  <a:lnTo>
                    <a:pt x="2692649" y="1670553"/>
                  </a:lnTo>
                  <a:lnTo>
                    <a:pt x="2708802" y="1659639"/>
                  </a:lnTo>
                  <a:lnTo>
                    <a:pt x="2719716" y="1643486"/>
                  </a:lnTo>
                  <a:lnTo>
                    <a:pt x="2723725" y="1623761"/>
                  </a:lnTo>
                  <a:lnTo>
                    <a:pt x="2723725" y="0"/>
                  </a:lnTo>
                  <a:close/>
                </a:path>
              </a:pathLst>
            </a:custGeom>
            <a:solidFill>
              <a:srgbClr val="D6E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71945" y="1002676"/>
            <a:ext cx="2724150" cy="1706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5910" indent="-203200">
              <a:lnSpc>
                <a:spcPts val="1410"/>
              </a:lnSpc>
              <a:buClr>
                <a:srgbClr val="0C2B54"/>
              </a:buClr>
              <a:buAutoNum type="arabicPeriod"/>
              <a:tabLst>
                <a:tab pos="295910" algn="l"/>
              </a:tabLst>
            </a:pPr>
            <a:r>
              <a:rPr sz="1200" b="1" spc="-30" dirty="0">
                <a:solidFill>
                  <a:srgbClr val="1B1B2D"/>
                </a:solidFill>
                <a:latin typeface="Tahoma"/>
                <a:cs typeface="Tahoma"/>
              </a:rPr>
              <a:t>Giới</a:t>
            </a:r>
            <a:r>
              <a:rPr sz="1200" b="1" spc="-50" dirty="0">
                <a:solidFill>
                  <a:srgbClr val="1B1B2D"/>
                </a:solidFill>
                <a:latin typeface="Tahoma"/>
                <a:cs typeface="Tahoma"/>
              </a:rPr>
              <a:t> thiệu</a:t>
            </a:r>
            <a:r>
              <a:rPr sz="1200" b="1" spc="-3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spc="-25" dirty="0">
                <a:solidFill>
                  <a:srgbClr val="1B1B2D"/>
                </a:solidFill>
                <a:latin typeface="Tahoma"/>
                <a:cs typeface="Tahoma"/>
              </a:rPr>
              <a:t>đề</a:t>
            </a:r>
            <a:r>
              <a:rPr sz="1200" b="1" spc="-4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spc="-25" dirty="0">
                <a:solidFill>
                  <a:srgbClr val="1B1B2D"/>
                </a:solidFill>
                <a:latin typeface="Tahoma"/>
                <a:cs typeface="Tahoma"/>
              </a:rPr>
              <a:t>tài</a:t>
            </a:r>
            <a:endParaRPr sz="1200">
              <a:latin typeface="Tahoma"/>
              <a:cs typeface="Tahoma"/>
            </a:endParaRPr>
          </a:p>
          <a:p>
            <a:pPr marL="297180" marR="268605">
              <a:lnSpc>
                <a:spcPts val="1440"/>
              </a:lnSpc>
              <a:spcBef>
                <a:spcPts val="50"/>
              </a:spcBef>
            </a:pP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Bối</a:t>
            </a:r>
            <a:r>
              <a:rPr sz="1100" spc="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55" dirty="0">
                <a:solidFill>
                  <a:srgbClr val="1B1B2D"/>
                </a:solidFill>
                <a:latin typeface="Microsoft Sans Serif"/>
                <a:cs typeface="Microsoft Sans Serif"/>
              </a:rPr>
              <a:t>cảnh</a:t>
            </a:r>
            <a:r>
              <a:rPr sz="1100" spc="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YaHei"/>
                <a:cs typeface="Microsoft YaHei"/>
              </a:rPr>
              <a:t>·</a:t>
            </a:r>
            <a:r>
              <a:rPr sz="1100" spc="-30" dirty="0">
                <a:solidFill>
                  <a:srgbClr val="1B1B2D"/>
                </a:solidFill>
                <a:latin typeface="Microsoft YaHei"/>
                <a:cs typeface="Microsoft YaHei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Mục</a:t>
            </a:r>
            <a:r>
              <a:rPr sz="1100" spc="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tiêu</a:t>
            </a:r>
            <a:r>
              <a:rPr sz="1100" spc="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YaHei"/>
                <a:cs typeface="Microsoft YaHei"/>
              </a:rPr>
              <a:t>·</a:t>
            </a:r>
            <a:r>
              <a:rPr sz="1100" spc="-30" dirty="0">
                <a:solidFill>
                  <a:srgbClr val="1B1B2D"/>
                </a:solidFill>
                <a:latin typeface="Microsoft YaHei"/>
                <a:cs typeface="Microsoft YaHei"/>
              </a:rPr>
              <a:t> </a:t>
            </a:r>
            <a:r>
              <a:rPr sz="1100" spc="-60" dirty="0">
                <a:solidFill>
                  <a:srgbClr val="1B1B2D"/>
                </a:solidFill>
                <a:latin typeface="Microsoft Sans Serif"/>
                <a:cs typeface="Microsoft Sans Serif"/>
              </a:rPr>
              <a:t>Câu</a:t>
            </a:r>
            <a:r>
              <a:rPr sz="1100" spc="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hỏi</a:t>
            </a:r>
            <a:r>
              <a:rPr sz="1100" spc="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40" dirty="0">
                <a:solidFill>
                  <a:srgbClr val="1B1B2D"/>
                </a:solidFill>
                <a:latin typeface="Microsoft Sans Serif"/>
                <a:cs typeface="Microsoft Sans Serif"/>
              </a:rPr>
              <a:t>nghiên </a:t>
            </a:r>
            <a:r>
              <a:rPr sz="11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cứu</a:t>
            </a:r>
            <a:endParaRPr sz="1100">
              <a:latin typeface="Microsoft Sans Serif"/>
              <a:cs typeface="Microsoft Sans Serif"/>
            </a:endParaRPr>
          </a:p>
          <a:p>
            <a:pPr marL="295910" indent="-203200">
              <a:lnSpc>
                <a:spcPct val="100000"/>
              </a:lnSpc>
              <a:spcBef>
                <a:spcPts val="560"/>
              </a:spcBef>
              <a:buClr>
                <a:srgbClr val="0C2B54"/>
              </a:buClr>
              <a:buAutoNum type="arabicPeriod" startAt="2"/>
              <a:tabLst>
                <a:tab pos="295910" algn="l"/>
              </a:tabLst>
            </a:pPr>
            <a:r>
              <a:rPr sz="1200" b="1" spc="-50" dirty="0">
                <a:solidFill>
                  <a:srgbClr val="1B1B2D"/>
                </a:solidFill>
                <a:latin typeface="Tahoma"/>
                <a:cs typeface="Tahoma"/>
              </a:rPr>
              <a:t>Nguồn</a:t>
            </a:r>
            <a:r>
              <a:rPr sz="1200" b="1" spc="-4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spc="-25" dirty="0">
                <a:solidFill>
                  <a:srgbClr val="1B1B2D"/>
                </a:solidFill>
                <a:latin typeface="Tahoma"/>
                <a:cs typeface="Tahoma"/>
              </a:rPr>
              <a:t>dữ</a:t>
            </a:r>
            <a:r>
              <a:rPr sz="1200" b="1" spc="-4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spc="-20" dirty="0">
                <a:solidFill>
                  <a:srgbClr val="1B1B2D"/>
                </a:solidFill>
                <a:latin typeface="Tahoma"/>
                <a:cs typeface="Tahoma"/>
              </a:rPr>
              <a:t>liệu</a:t>
            </a:r>
            <a:endParaRPr sz="1200">
              <a:latin typeface="Tahoma"/>
              <a:cs typeface="Tahoma"/>
            </a:endParaRPr>
          </a:p>
          <a:p>
            <a:pPr marL="29718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Mô</a:t>
            </a:r>
            <a:r>
              <a:rPr sz="1100" spc="2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tả</a:t>
            </a:r>
            <a:r>
              <a:rPr sz="1100" spc="2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YaHei"/>
                <a:cs typeface="Microsoft YaHei"/>
              </a:rPr>
              <a:t>·</a:t>
            </a:r>
            <a:r>
              <a:rPr sz="1100" spc="-10" dirty="0">
                <a:solidFill>
                  <a:srgbClr val="1B1B2D"/>
                </a:solidFill>
                <a:latin typeface="Microsoft YaHei"/>
                <a:cs typeface="Microsoft YaHei"/>
              </a:rPr>
              <a:t> </a:t>
            </a:r>
            <a:r>
              <a:rPr sz="11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Đặc</a:t>
            </a:r>
            <a:r>
              <a:rPr sz="1100" spc="2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trưng</a:t>
            </a:r>
            <a:r>
              <a:rPr sz="1100" spc="3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YaHei"/>
                <a:cs typeface="Microsoft YaHei"/>
              </a:rPr>
              <a:t>·</a:t>
            </a:r>
            <a:r>
              <a:rPr sz="1100" spc="-10" dirty="0">
                <a:solidFill>
                  <a:srgbClr val="1B1B2D"/>
                </a:solidFill>
                <a:latin typeface="Microsoft YaHei"/>
                <a:cs typeface="Microsoft YaHei"/>
              </a:rPr>
              <a:t> </a:t>
            </a:r>
            <a:r>
              <a:rPr sz="1100" spc="-35" dirty="0">
                <a:solidFill>
                  <a:srgbClr val="1B1B2D"/>
                </a:solidFill>
                <a:latin typeface="Microsoft Sans Serif"/>
                <a:cs typeface="Microsoft Sans Serif"/>
              </a:rPr>
              <a:t>Phạm</a:t>
            </a:r>
            <a:r>
              <a:rPr sz="1100" spc="2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35" dirty="0">
                <a:solidFill>
                  <a:srgbClr val="1B1B2D"/>
                </a:solidFill>
                <a:latin typeface="Microsoft Sans Serif"/>
                <a:cs typeface="Microsoft Sans Serif"/>
              </a:rPr>
              <a:t>vi</a:t>
            </a:r>
            <a:endParaRPr sz="1100">
              <a:latin typeface="Microsoft Sans Serif"/>
              <a:cs typeface="Microsoft Sans Serif"/>
            </a:endParaRPr>
          </a:p>
          <a:p>
            <a:pPr marL="295910" indent="-203200">
              <a:lnSpc>
                <a:spcPct val="100000"/>
              </a:lnSpc>
              <a:spcBef>
                <a:spcPts val="620"/>
              </a:spcBef>
              <a:buClr>
                <a:srgbClr val="0C2B54"/>
              </a:buClr>
              <a:buAutoNum type="arabicPeriod" startAt="3"/>
              <a:tabLst>
                <a:tab pos="295910" algn="l"/>
              </a:tabLst>
            </a:pPr>
            <a:r>
              <a:rPr sz="1200" b="1" dirty="0">
                <a:solidFill>
                  <a:srgbClr val="1B1B2D"/>
                </a:solidFill>
                <a:latin typeface="Tahoma"/>
                <a:cs typeface="Tahoma"/>
              </a:rPr>
              <a:t>Tiền</a:t>
            </a:r>
            <a:r>
              <a:rPr sz="1200" b="1" spc="-70" dirty="0">
                <a:solidFill>
                  <a:srgbClr val="1B1B2D"/>
                </a:solidFill>
                <a:latin typeface="Tahoma"/>
                <a:cs typeface="Tahoma"/>
              </a:rPr>
              <a:t> xử</a:t>
            </a:r>
            <a:r>
              <a:rPr sz="1200" b="1" spc="-1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spc="-10" dirty="0">
                <a:solidFill>
                  <a:srgbClr val="1B1B2D"/>
                </a:solidFill>
                <a:latin typeface="Tahoma"/>
                <a:cs typeface="Tahoma"/>
              </a:rPr>
              <a:t>lý</a:t>
            </a:r>
            <a:r>
              <a:rPr sz="1200" b="1" spc="-4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spc="-25" dirty="0">
                <a:solidFill>
                  <a:srgbClr val="1B1B2D"/>
                </a:solidFill>
                <a:latin typeface="Tahoma"/>
                <a:cs typeface="Tahoma"/>
              </a:rPr>
              <a:t>dữ</a:t>
            </a:r>
            <a:r>
              <a:rPr sz="1200" b="1" spc="-4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spc="-20" dirty="0">
                <a:solidFill>
                  <a:srgbClr val="1B1B2D"/>
                </a:solidFill>
                <a:latin typeface="Tahoma"/>
                <a:cs typeface="Tahoma"/>
              </a:rPr>
              <a:t>liệu</a:t>
            </a:r>
            <a:endParaRPr sz="1200">
              <a:latin typeface="Tahoma"/>
              <a:cs typeface="Tahoma"/>
            </a:endParaRPr>
          </a:p>
          <a:p>
            <a:pPr marL="297180" marR="292735">
              <a:lnSpc>
                <a:spcPts val="1440"/>
              </a:lnSpc>
              <a:spcBef>
                <a:spcPts val="55"/>
              </a:spcBef>
            </a:pP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8</a:t>
            </a:r>
            <a:r>
              <a:rPr sz="1100" spc="2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bước</a:t>
            </a:r>
            <a:r>
              <a:rPr sz="1100" spc="2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40" dirty="0">
                <a:solidFill>
                  <a:srgbClr val="1B1B2D"/>
                </a:solidFill>
                <a:latin typeface="Microsoft Sans Serif"/>
                <a:cs typeface="Microsoft Sans Serif"/>
              </a:rPr>
              <a:t>pipeline</a:t>
            </a:r>
            <a:r>
              <a:rPr sz="1100" spc="2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YaHei"/>
                <a:cs typeface="Microsoft YaHei"/>
              </a:rPr>
              <a:t>·</a:t>
            </a:r>
            <a:r>
              <a:rPr sz="1100" spc="-15" dirty="0">
                <a:solidFill>
                  <a:srgbClr val="1B1B2D"/>
                </a:solidFill>
                <a:latin typeface="Microsoft YaHei"/>
                <a:cs typeface="Microsoft YaHei"/>
              </a:rPr>
              <a:t> </a:t>
            </a:r>
            <a:r>
              <a:rPr sz="1100" spc="-60" dirty="0">
                <a:solidFill>
                  <a:srgbClr val="1B1B2D"/>
                </a:solidFill>
                <a:latin typeface="Microsoft Sans Serif"/>
                <a:cs typeface="Microsoft Sans Serif"/>
              </a:rPr>
              <a:t>Haversine</a:t>
            </a:r>
            <a:r>
              <a:rPr sz="1100" spc="2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YaHei"/>
                <a:cs typeface="Microsoft YaHei"/>
              </a:rPr>
              <a:t>·</a:t>
            </a:r>
            <a:r>
              <a:rPr sz="1100" spc="-10" dirty="0">
                <a:solidFill>
                  <a:srgbClr val="1B1B2D"/>
                </a:solidFill>
                <a:latin typeface="Microsoft YaHei"/>
                <a:cs typeface="Microsoft YaHei"/>
              </a:rPr>
              <a:t> </a:t>
            </a:r>
            <a:r>
              <a:rPr sz="1100" spc="-50" dirty="0">
                <a:solidFill>
                  <a:srgbClr val="1B1B2D"/>
                </a:solidFill>
                <a:latin typeface="Microsoft Sans Serif"/>
                <a:cs typeface="Microsoft Sans Serif"/>
              </a:rPr>
              <a:t>Feature 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Engineering</a:t>
            </a:r>
            <a:endParaRPr sz="110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915170" y="939431"/>
            <a:ext cx="2774950" cy="1657350"/>
            <a:chOff x="2915170" y="939431"/>
            <a:chExt cx="2774950" cy="1657350"/>
          </a:xfrm>
        </p:grpSpPr>
        <p:sp>
          <p:nvSpPr>
            <p:cNvPr id="9" name="object 9"/>
            <p:cNvSpPr/>
            <p:nvPr/>
          </p:nvSpPr>
          <p:spPr>
            <a:xfrm>
              <a:off x="2915170" y="939431"/>
              <a:ext cx="2724150" cy="82550"/>
            </a:xfrm>
            <a:custGeom>
              <a:avLst/>
              <a:gdLst/>
              <a:ahLst/>
              <a:cxnLst/>
              <a:rect l="l" t="t" r="r" b="b"/>
              <a:pathLst>
                <a:path w="2724150" h="82550">
                  <a:moveTo>
                    <a:pt x="267292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2723725" y="82384"/>
                  </a:lnTo>
                  <a:lnTo>
                    <a:pt x="2723725" y="50800"/>
                  </a:lnTo>
                  <a:lnTo>
                    <a:pt x="2719716" y="31075"/>
                  </a:lnTo>
                  <a:lnTo>
                    <a:pt x="2708802" y="14922"/>
                  </a:lnTo>
                  <a:lnTo>
                    <a:pt x="2692649" y="4008"/>
                  </a:lnTo>
                  <a:lnTo>
                    <a:pt x="2672924" y="0"/>
                  </a:lnTo>
                  <a:close/>
                </a:path>
              </a:pathLst>
            </a:custGeom>
            <a:solidFill>
              <a:srgbClr val="D6E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65970" y="1002670"/>
              <a:ext cx="2724150" cy="1594485"/>
            </a:xfrm>
            <a:custGeom>
              <a:avLst/>
              <a:gdLst/>
              <a:ahLst/>
              <a:cxnLst/>
              <a:rect l="l" t="t" r="r" b="b"/>
              <a:pathLst>
                <a:path w="2724150" h="1594485">
                  <a:moveTo>
                    <a:pt x="2723725" y="0"/>
                  </a:moveTo>
                  <a:lnTo>
                    <a:pt x="0" y="0"/>
                  </a:lnTo>
                  <a:lnTo>
                    <a:pt x="0" y="1594023"/>
                  </a:lnTo>
                  <a:lnTo>
                    <a:pt x="2723725" y="1594023"/>
                  </a:lnTo>
                  <a:lnTo>
                    <a:pt x="27237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915170" y="983833"/>
              <a:ext cx="2724150" cy="1562100"/>
            </a:xfrm>
            <a:custGeom>
              <a:avLst/>
              <a:gdLst/>
              <a:ahLst/>
              <a:cxnLst/>
              <a:rect l="l" t="t" r="r" b="b"/>
              <a:pathLst>
                <a:path w="2724150" h="1562100">
                  <a:moveTo>
                    <a:pt x="2723725" y="0"/>
                  </a:moveTo>
                  <a:lnTo>
                    <a:pt x="0" y="0"/>
                  </a:lnTo>
                  <a:lnTo>
                    <a:pt x="0" y="1511258"/>
                  </a:lnTo>
                  <a:lnTo>
                    <a:pt x="4008" y="1530983"/>
                  </a:lnTo>
                  <a:lnTo>
                    <a:pt x="14922" y="1547136"/>
                  </a:lnTo>
                  <a:lnTo>
                    <a:pt x="31075" y="1558050"/>
                  </a:lnTo>
                  <a:lnTo>
                    <a:pt x="50800" y="1562059"/>
                  </a:lnTo>
                  <a:lnTo>
                    <a:pt x="2672924" y="1562059"/>
                  </a:lnTo>
                  <a:lnTo>
                    <a:pt x="2692649" y="1558050"/>
                  </a:lnTo>
                  <a:lnTo>
                    <a:pt x="2708802" y="1547136"/>
                  </a:lnTo>
                  <a:lnTo>
                    <a:pt x="2719716" y="1530983"/>
                  </a:lnTo>
                  <a:lnTo>
                    <a:pt x="2723725" y="1511258"/>
                  </a:lnTo>
                  <a:lnTo>
                    <a:pt x="2723725" y="0"/>
                  </a:lnTo>
                  <a:close/>
                </a:path>
              </a:pathLst>
            </a:custGeom>
            <a:solidFill>
              <a:srgbClr val="D6E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965970" y="1002670"/>
            <a:ext cx="2724150" cy="1594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5910" indent="-203200">
              <a:lnSpc>
                <a:spcPts val="1350"/>
              </a:lnSpc>
              <a:buClr>
                <a:srgbClr val="0C2B54"/>
              </a:buClr>
              <a:buAutoNum type="arabicPeriod" startAt="4"/>
              <a:tabLst>
                <a:tab pos="295910" algn="l"/>
              </a:tabLst>
            </a:pPr>
            <a:r>
              <a:rPr sz="1200" b="1" spc="-30" dirty="0">
                <a:solidFill>
                  <a:srgbClr val="1B1B2D"/>
                </a:solidFill>
                <a:latin typeface="Tahoma"/>
                <a:cs typeface="Tahoma"/>
              </a:rPr>
              <a:t>Khám</a:t>
            </a:r>
            <a:r>
              <a:rPr sz="1200" b="1" spc="-3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spc="-60" dirty="0">
                <a:solidFill>
                  <a:srgbClr val="1B1B2D"/>
                </a:solidFill>
                <a:latin typeface="Tahoma"/>
                <a:cs typeface="Tahoma"/>
              </a:rPr>
              <a:t>phá</a:t>
            </a:r>
            <a:r>
              <a:rPr sz="1200" b="1" spc="-25" dirty="0">
                <a:solidFill>
                  <a:srgbClr val="1B1B2D"/>
                </a:solidFill>
                <a:latin typeface="Tahoma"/>
                <a:cs typeface="Tahoma"/>
              </a:rPr>
              <a:t> dữ</a:t>
            </a:r>
            <a:r>
              <a:rPr sz="1200" b="1" spc="-3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spc="-60" dirty="0">
                <a:solidFill>
                  <a:srgbClr val="1B1B2D"/>
                </a:solidFill>
                <a:latin typeface="Tahoma"/>
                <a:cs typeface="Tahoma"/>
              </a:rPr>
              <a:t>liệu</a:t>
            </a:r>
            <a:r>
              <a:rPr sz="1200" b="1" spc="-2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spc="-20" dirty="0">
                <a:solidFill>
                  <a:srgbClr val="1B1B2D"/>
                </a:solidFill>
                <a:latin typeface="Tahoma"/>
                <a:cs typeface="Tahoma"/>
              </a:rPr>
              <a:t>(EDA)</a:t>
            </a:r>
            <a:endParaRPr sz="1200">
              <a:latin typeface="Tahoma"/>
              <a:cs typeface="Tahoma"/>
            </a:endParaRPr>
          </a:p>
          <a:p>
            <a:pPr marL="297180">
              <a:lnSpc>
                <a:spcPct val="100000"/>
              </a:lnSpc>
              <a:spcBef>
                <a:spcPts val="105"/>
              </a:spcBef>
            </a:pPr>
            <a:r>
              <a:rPr sz="1100" spc="-40" dirty="0">
                <a:solidFill>
                  <a:srgbClr val="1B1B2D"/>
                </a:solidFill>
                <a:latin typeface="Microsoft Sans Serif"/>
                <a:cs typeface="Microsoft Sans Serif"/>
              </a:rPr>
              <a:t>Phân</a:t>
            </a:r>
            <a:r>
              <a:rPr sz="1100" spc="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phối</a:t>
            </a:r>
            <a:r>
              <a:rPr sz="1100" spc="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YaHei"/>
                <a:cs typeface="Microsoft YaHei"/>
              </a:rPr>
              <a:t>·</a:t>
            </a:r>
            <a:r>
              <a:rPr sz="1100" spc="-35" dirty="0">
                <a:solidFill>
                  <a:srgbClr val="1B1B2D"/>
                </a:solidFill>
                <a:latin typeface="Microsoft YaHei"/>
                <a:cs typeface="Microsoft YaHei"/>
              </a:rPr>
              <a:t> </a:t>
            </a:r>
            <a:r>
              <a:rPr sz="11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Tương</a:t>
            </a:r>
            <a:r>
              <a:rPr sz="1100" spc="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40" dirty="0">
                <a:solidFill>
                  <a:srgbClr val="1B1B2D"/>
                </a:solidFill>
                <a:latin typeface="Microsoft Sans Serif"/>
                <a:cs typeface="Microsoft Sans Serif"/>
              </a:rPr>
              <a:t>quan</a:t>
            </a:r>
            <a:r>
              <a:rPr sz="1100" spc="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YaHei"/>
                <a:cs typeface="Microsoft YaHei"/>
              </a:rPr>
              <a:t>·</a:t>
            </a:r>
            <a:r>
              <a:rPr sz="1100" spc="-30" dirty="0">
                <a:solidFill>
                  <a:srgbClr val="1B1B2D"/>
                </a:solidFill>
                <a:latin typeface="Microsoft YaHei"/>
                <a:cs typeface="Microsoft YaHei"/>
              </a:rPr>
              <a:t> </a:t>
            </a:r>
            <a:r>
              <a:rPr sz="1100" spc="-40" dirty="0">
                <a:solidFill>
                  <a:srgbClr val="1B1B2D"/>
                </a:solidFill>
                <a:latin typeface="Microsoft Sans Serif"/>
                <a:cs typeface="Microsoft Sans Serif"/>
              </a:rPr>
              <a:t>Ngoại</a:t>
            </a:r>
            <a:r>
              <a:rPr sz="1100" spc="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lệ</a:t>
            </a:r>
            <a:endParaRPr sz="1100">
              <a:latin typeface="Microsoft Sans Serif"/>
              <a:cs typeface="Microsoft Sans Serif"/>
            </a:endParaRPr>
          </a:p>
          <a:p>
            <a:pPr marL="295910" indent="-203200">
              <a:lnSpc>
                <a:spcPct val="100000"/>
              </a:lnSpc>
              <a:spcBef>
                <a:spcPts val="620"/>
              </a:spcBef>
              <a:buClr>
                <a:srgbClr val="0C2B54"/>
              </a:buClr>
              <a:buAutoNum type="arabicPeriod" startAt="5"/>
              <a:tabLst>
                <a:tab pos="295910" algn="l"/>
              </a:tabLst>
            </a:pPr>
            <a:r>
              <a:rPr sz="1200" b="1" dirty="0">
                <a:solidFill>
                  <a:srgbClr val="1B1B2D"/>
                </a:solidFill>
                <a:latin typeface="Tahoma"/>
                <a:cs typeface="Tahoma"/>
              </a:rPr>
              <a:t>Mô</a:t>
            </a:r>
            <a:r>
              <a:rPr sz="1200" b="1" spc="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spc="-65" dirty="0">
                <a:solidFill>
                  <a:srgbClr val="1B1B2D"/>
                </a:solidFill>
                <a:latin typeface="Tahoma"/>
                <a:cs typeface="Tahoma"/>
              </a:rPr>
              <a:t>hình</a:t>
            </a:r>
            <a:r>
              <a:rPr sz="1200" b="1" spc="1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spc="-25" dirty="0">
                <a:solidFill>
                  <a:srgbClr val="1B1B2D"/>
                </a:solidFill>
                <a:latin typeface="Tahoma"/>
                <a:cs typeface="Tahoma"/>
              </a:rPr>
              <a:t>dự</a:t>
            </a:r>
            <a:r>
              <a:rPr sz="1200" b="1" spc="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spc="-20" dirty="0">
                <a:solidFill>
                  <a:srgbClr val="1B1B2D"/>
                </a:solidFill>
                <a:latin typeface="Tahoma"/>
                <a:cs typeface="Tahoma"/>
              </a:rPr>
              <a:t>đoán</a:t>
            </a:r>
            <a:endParaRPr sz="1200">
              <a:latin typeface="Tahoma"/>
              <a:cs typeface="Tahoma"/>
            </a:endParaRPr>
          </a:p>
          <a:p>
            <a:pPr marL="297180">
              <a:lnSpc>
                <a:spcPct val="100000"/>
              </a:lnSpc>
              <a:spcBef>
                <a:spcPts val="105"/>
              </a:spcBef>
            </a:pP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LR</a:t>
            </a:r>
            <a:r>
              <a:rPr sz="1100" spc="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YaHei"/>
                <a:cs typeface="Microsoft YaHei"/>
              </a:rPr>
              <a:t>·</a:t>
            </a:r>
            <a:r>
              <a:rPr sz="1100" spc="-25" dirty="0">
                <a:solidFill>
                  <a:srgbClr val="1B1B2D"/>
                </a:solidFill>
                <a:latin typeface="Microsoft YaHei"/>
                <a:cs typeface="Microsoft YaHei"/>
              </a:rPr>
              <a:t> </a:t>
            </a:r>
            <a:r>
              <a:rPr sz="1100" spc="-50" dirty="0">
                <a:solidFill>
                  <a:srgbClr val="1B1B2D"/>
                </a:solidFill>
                <a:latin typeface="Microsoft Sans Serif"/>
                <a:cs typeface="Microsoft Sans Serif"/>
              </a:rPr>
              <a:t>Decision</a:t>
            </a:r>
            <a:r>
              <a:rPr sz="1100" spc="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50" dirty="0">
                <a:solidFill>
                  <a:srgbClr val="1B1B2D"/>
                </a:solidFill>
                <a:latin typeface="Microsoft Sans Serif"/>
                <a:cs typeface="Microsoft Sans Serif"/>
              </a:rPr>
              <a:t>Tree</a:t>
            </a:r>
            <a:r>
              <a:rPr sz="1100" spc="1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YaHei"/>
                <a:cs typeface="Microsoft YaHei"/>
              </a:rPr>
              <a:t>·</a:t>
            </a:r>
            <a:r>
              <a:rPr sz="1100" spc="-30" dirty="0">
                <a:solidFill>
                  <a:srgbClr val="1B1B2D"/>
                </a:solidFill>
                <a:latin typeface="Microsoft YaHei"/>
                <a:cs typeface="Microsoft YaHei"/>
              </a:rPr>
              <a:t> </a:t>
            </a:r>
            <a:r>
              <a:rPr sz="1100" spc="-55" dirty="0">
                <a:solidFill>
                  <a:srgbClr val="1B1B2D"/>
                </a:solidFill>
                <a:latin typeface="Microsoft Sans Serif"/>
                <a:cs typeface="Microsoft Sans Serif"/>
              </a:rPr>
              <a:t>Random</a:t>
            </a:r>
            <a:r>
              <a:rPr sz="1100" spc="1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Forest</a:t>
            </a:r>
            <a:endParaRPr sz="1100">
              <a:latin typeface="Microsoft Sans Serif"/>
              <a:cs typeface="Microsoft Sans Serif"/>
            </a:endParaRPr>
          </a:p>
          <a:p>
            <a:pPr marL="295910" indent="-203200">
              <a:lnSpc>
                <a:spcPct val="100000"/>
              </a:lnSpc>
              <a:spcBef>
                <a:spcPts val="620"/>
              </a:spcBef>
              <a:buClr>
                <a:srgbClr val="0C2B54"/>
              </a:buClr>
              <a:buAutoNum type="arabicPeriod" startAt="6"/>
              <a:tabLst>
                <a:tab pos="295910" algn="l"/>
              </a:tabLst>
            </a:pPr>
            <a:r>
              <a:rPr sz="1200" b="1" spc="-35" dirty="0">
                <a:solidFill>
                  <a:srgbClr val="1B1B2D"/>
                </a:solidFill>
                <a:latin typeface="Tahoma"/>
                <a:cs typeface="Tahoma"/>
              </a:rPr>
              <a:t>Đánh</a:t>
            </a:r>
            <a:r>
              <a:rPr sz="1200" b="1" spc="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spc="-40" dirty="0">
                <a:solidFill>
                  <a:srgbClr val="1B1B2D"/>
                </a:solidFill>
                <a:latin typeface="Tahoma"/>
                <a:cs typeface="Tahoma"/>
              </a:rPr>
              <a:t>giá</a:t>
            </a:r>
            <a:r>
              <a:rPr sz="1200" b="1" spc="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dirty="0">
                <a:solidFill>
                  <a:srgbClr val="1B1B2D"/>
                </a:solidFill>
                <a:latin typeface="Tahoma"/>
                <a:cs typeface="Tahoma"/>
              </a:rPr>
              <a:t>&amp;</a:t>
            </a:r>
            <a:r>
              <a:rPr sz="1200" b="1" spc="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dirty="0">
                <a:solidFill>
                  <a:srgbClr val="1B1B2D"/>
                </a:solidFill>
                <a:latin typeface="Tahoma"/>
                <a:cs typeface="Tahoma"/>
              </a:rPr>
              <a:t>So</a:t>
            </a:r>
            <a:r>
              <a:rPr sz="1200" b="1" spc="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spc="-20" dirty="0">
                <a:solidFill>
                  <a:srgbClr val="1B1B2D"/>
                </a:solidFill>
                <a:latin typeface="Tahoma"/>
                <a:cs typeface="Tahoma"/>
              </a:rPr>
              <a:t>sánh</a:t>
            </a:r>
            <a:endParaRPr sz="1200">
              <a:latin typeface="Tahoma"/>
              <a:cs typeface="Tahoma"/>
            </a:endParaRPr>
          </a:p>
          <a:p>
            <a:pPr marL="29718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MAE</a:t>
            </a:r>
            <a:r>
              <a:rPr sz="1100" spc="2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YaHei"/>
                <a:cs typeface="Microsoft YaHei"/>
              </a:rPr>
              <a:t>·</a:t>
            </a:r>
            <a:r>
              <a:rPr sz="1100" spc="-5" dirty="0">
                <a:solidFill>
                  <a:srgbClr val="1B1B2D"/>
                </a:solidFill>
                <a:latin typeface="Microsoft YaHei"/>
                <a:cs typeface="Microsoft YaHei"/>
              </a:rPr>
              <a:t> </a:t>
            </a:r>
            <a:r>
              <a:rPr sz="1100" spc="-50" dirty="0">
                <a:solidFill>
                  <a:srgbClr val="1B1B2D"/>
                </a:solidFill>
                <a:latin typeface="Microsoft Sans Serif"/>
                <a:cs typeface="Microsoft Sans Serif"/>
              </a:rPr>
              <a:t>RMSE</a:t>
            </a:r>
            <a:r>
              <a:rPr sz="1100" spc="2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YaHei"/>
                <a:cs typeface="Microsoft YaHei"/>
              </a:rPr>
              <a:t>·</a:t>
            </a:r>
            <a:r>
              <a:rPr sz="1100" spc="-5" dirty="0">
                <a:solidFill>
                  <a:srgbClr val="1B1B2D"/>
                </a:solidFill>
                <a:latin typeface="Microsoft YaHei"/>
                <a:cs typeface="Microsoft YaHei"/>
              </a:rPr>
              <a:t> </a:t>
            </a:r>
            <a:r>
              <a:rPr sz="1100" i="1" spc="-25" dirty="0">
                <a:solidFill>
                  <a:srgbClr val="1B1B2D"/>
                </a:solidFill>
                <a:latin typeface="Franklin Gothic Medium"/>
                <a:cs typeface="Franklin Gothic Medium"/>
              </a:rPr>
              <a:t>R</a:t>
            </a:r>
            <a:r>
              <a:rPr sz="1200" spc="-37" baseline="27777" dirty="0">
                <a:solidFill>
                  <a:srgbClr val="1B1B2D"/>
                </a:solidFill>
                <a:latin typeface="Microsoft Sans Serif"/>
                <a:cs typeface="Microsoft Sans Serif"/>
              </a:rPr>
              <a:t>2</a:t>
            </a:r>
            <a:endParaRPr sz="1200" baseline="27777">
              <a:latin typeface="Microsoft Sans Serif"/>
              <a:cs typeface="Microsoft Sans Serif"/>
            </a:endParaRPr>
          </a:p>
          <a:p>
            <a:pPr marL="295910" indent="-203200">
              <a:lnSpc>
                <a:spcPct val="100000"/>
              </a:lnSpc>
              <a:spcBef>
                <a:spcPts val="625"/>
              </a:spcBef>
              <a:buClr>
                <a:srgbClr val="0C2B54"/>
              </a:buClr>
              <a:buAutoNum type="arabicPeriod" startAt="7"/>
              <a:tabLst>
                <a:tab pos="295910" algn="l"/>
              </a:tabLst>
            </a:pPr>
            <a:r>
              <a:rPr sz="1200" b="1" dirty="0">
                <a:solidFill>
                  <a:srgbClr val="1B1B2D"/>
                </a:solidFill>
                <a:latin typeface="Tahoma"/>
                <a:cs typeface="Tahoma"/>
              </a:rPr>
              <a:t>Kết</a:t>
            </a:r>
            <a:r>
              <a:rPr sz="1200" b="1" spc="2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spc="-65" dirty="0">
                <a:solidFill>
                  <a:srgbClr val="1B1B2D"/>
                </a:solidFill>
                <a:latin typeface="Tahoma"/>
                <a:cs typeface="Tahoma"/>
              </a:rPr>
              <a:t>luận</a:t>
            </a:r>
            <a:r>
              <a:rPr sz="1200" b="1" spc="2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dirty="0">
                <a:solidFill>
                  <a:srgbClr val="1B1B2D"/>
                </a:solidFill>
                <a:latin typeface="Tahoma"/>
                <a:cs typeface="Tahoma"/>
              </a:rPr>
              <a:t>&amp;</a:t>
            </a:r>
            <a:r>
              <a:rPr sz="1200" b="1" spc="2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spc="-55" dirty="0">
                <a:solidFill>
                  <a:srgbClr val="1B1B2D"/>
                </a:solidFill>
                <a:latin typeface="Tahoma"/>
                <a:cs typeface="Tahoma"/>
              </a:rPr>
              <a:t>Hướng</a:t>
            </a:r>
            <a:r>
              <a:rPr sz="1200" b="1" spc="2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spc="-45" dirty="0">
                <a:solidFill>
                  <a:srgbClr val="1B1B2D"/>
                </a:solidFill>
                <a:latin typeface="Tahoma"/>
                <a:cs typeface="Tahoma"/>
              </a:rPr>
              <a:t>phát</a:t>
            </a:r>
            <a:r>
              <a:rPr sz="1200" b="1" spc="2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spc="-10" dirty="0">
                <a:solidFill>
                  <a:srgbClr val="1B1B2D"/>
                </a:solidFill>
                <a:latin typeface="Tahoma"/>
                <a:cs typeface="Tahoma"/>
              </a:rPr>
              <a:t>triển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-5" y="3130372"/>
            <a:ext cx="5760085" cy="109855"/>
            <a:chOff x="-5" y="3130372"/>
            <a:chExt cx="5760085" cy="109855"/>
          </a:xfrm>
        </p:grpSpPr>
        <p:sp>
          <p:nvSpPr>
            <p:cNvPr id="14" name="object 14"/>
            <p:cNvSpPr/>
            <p:nvPr/>
          </p:nvSpPr>
          <p:spPr>
            <a:xfrm>
              <a:off x="0" y="3130372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26"/>
                  </a:lnTo>
                  <a:lnTo>
                    <a:pt x="1919973" y="10962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7F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19960" y="3130384"/>
              <a:ext cx="3840479" cy="109855"/>
            </a:xfrm>
            <a:custGeom>
              <a:avLst/>
              <a:gdLst/>
              <a:ahLst/>
              <a:cxnLst/>
              <a:rect l="l" t="t" r="r" b="b"/>
              <a:pathLst>
                <a:path w="3840479" h="109855">
                  <a:moveTo>
                    <a:pt x="3839946" y="0"/>
                  </a:moveTo>
                  <a:lnTo>
                    <a:pt x="1919973" y="0"/>
                  </a:lnTo>
                  <a:lnTo>
                    <a:pt x="0" y="0"/>
                  </a:lnTo>
                  <a:lnTo>
                    <a:pt x="0" y="109613"/>
                  </a:lnTo>
                  <a:lnTo>
                    <a:pt x="1919973" y="109613"/>
                  </a:lnTo>
                  <a:lnTo>
                    <a:pt x="3839946" y="109613"/>
                  </a:lnTo>
                  <a:lnTo>
                    <a:pt x="3839946" y="0"/>
                  </a:lnTo>
                  <a:close/>
                </a:path>
              </a:pathLst>
            </a:custGeom>
            <a:solidFill>
              <a:srgbClr val="0C2B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-5" y="3214693"/>
              <a:ext cx="0" cy="25400"/>
            </a:xfrm>
            <a:custGeom>
              <a:avLst/>
              <a:gdLst/>
              <a:ahLst/>
              <a:cxnLst/>
              <a:rect l="l" t="t" r="r" b="b"/>
              <a:pathLst>
                <a:path h="25400">
                  <a:moveTo>
                    <a:pt x="0" y="25305"/>
                  </a:moveTo>
                  <a:lnTo>
                    <a:pt x="0" y="0"/>
                  </a:lnTo>
                  <a:lnTo>
                    <a:pt x="0" y="25305"/>
                  </a:lnTo>
                  <a:close/>
                </a:path>
                <a:path h="25400">
                  <a:moveTo>
                    <a:pt x="0" y="0"/>
                  </a:moveTo>
                </a:path>
              </a:pathLst>
            </a:custGeom>
            <a:solidFill>
              <a:srgbClr val="A3CB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Hiếu</a:t>
            </a:r>
            <a:r>
              <a:rPr spc="35" dirty="0"/>
              <a:t> </a:t>
            </a:r>
            <a:r>
              <a:rPr dirty="0">
                <a:latin typeface="Cambria"/>
                <a:cs typeface="Cambria"/>
              </a:rPr>
              <a:t>·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dirty="0"/>
              <a:t>Trọng</a:t>
            </a:r>
            <a:r>
              <a:rPr spc="35" dirty="0"/>
              <a:t> </a:t>
            </a:r>
            <a:r>
              <a:rPr dirty="0">
                <a:latin typeface="Cambria"/>
                <a:cs typeface="Cambria"/>
              </a:rPr>
              <a:t>·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dirty="0"/>
              <a:t>Quang</a:t>
            </a:r>
            <a:r>
              <a:rPr spc="245" dirty="0"/>
              <a:t> </a:t>
            </a:r>
            <a:r>
              <a:rPr dirty="0"/>
              <a:t>(ĐH</a:t>
            </a:r>
            <a:r>
              <a:rPr spc="40" dirty="0"/>
              <a:t> </a:t>
            </a:r>
            <a:r>
              <a:rPr spc="-10" dirty="0"/>
              <a:t>Phenikaa)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441397" y="3122434"/>
            <a:ext cx="877569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Cước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phí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Taxi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·</a:t>
            </a:r>
            <a:r>
              <a:rPr sz="600" spc="55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Phenikaa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20" dirty="0"/>
              <a:t>2026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spc="-30" dirty="0"/>
              <a:t>2</a:t>
            </a:fld>
            <a:r>
              <a:rPr spc="-50" dirty="0"/>
              <a:t> </a:t>
            </a:r>
            <a:r>
              <a:rPr spc="150" dirty="0"/>
              <a:t>/</a:t>
            </a:r>
            <a:r>
              <a:rPr spc="-50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Bối</a:t>
            </a:r>
            <a:r>
              <a:rPr spc="20" dirty="0"/>
              <a:t> </a:t>
            </a:r>
            <a:r>
              <a:rPr spc="-45" dirty="0"/>
              <a:t>cảnh</a:t>
            </a:r>
            <a:r>
              <a:rPr spc="20" dirty="0"/>
              <a:t> </a:t>
            </a:r>
            <a:r>
              <a:rPr spc="85" dirty="0"/>
              <a:t>&amp;</a:t>
            </a:r>
            <a:r>
              <a:rPr spc="20" dirty="0"/>
              <a:t> </a:t>
            </a:r>
            <a:r>
              <a:rPr dirty="0"/>
              <a:t>Lý</a:t>
            </a:r>
            <a:r>
              <a:rPr spc="20" dirty="0"/>
              <a:t> </a:t>
            </a:r>
            <a:r>
              <a:rPr dirty="0"/>
              <a:t>do</a:t>
            </a:r>
            <a:r>
              <a:rPr spc="20" dirty="0"/>
              <a:t> </a:t>
            </a:r>
            <a:r>
              <a:rPr spc="-10" dirty="0"/>
              <a:t>Chọn</a:t>
            </a:r>
            <a:r>
              <a:rPr spc="15" dirty="0"/>
              <a:t> </a:t>
            </a:r>
            <a:r>
              <a:rPr dirty="0"/>
              <a:t>Đề</a:t>
            </a:r>
            <a:r>
              <a:rPr spc="20" dirty="0"/>
              <a:t> </a:t>
            </a:r>
            <a:r>
              <a:rPr spc="-25" dirty="0"/>
              <a:t>tài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1008" y="461276"/>
            <a:ext cx="3000375" cy="149987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200" b="1" spc="-20" dirty="0">
                <a:solidFill>
                  <a:srgbClr val="1B1B2D"/>
                </a:solidFill>
                <a:latin typeface="Tahoma"/>
                <a:cs typeface="Tahoma"/>
              </a:rPr>
              <a:t>Thách</a:t>
            </a:r>
            <a:r>
              <a:rPr sz="1200" b="1" spc="-3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spc="-40" dirty="0">
                <a:solidFill>
                  <a:srgbClr val="1B1B2D"/>
                </a:solidFill>
                <a:latin typeface="Tahoma"/>
                <a:cs typeface="Tahoma"/>
              </a:rPr>
              <a:t>thức</a:t>
            </a:r>
            <a:r>
              <a:rPr sz="1200" b="1" spc="-1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spc="-85" dirty="0">
                <a:solidFill>
                  <a:srgbClr val="1B1B2D"/>
                </a:solidFill>
                <a:latin typeface="Tahoma"/>
                <a:cs typeface="Tahoma"/>
              </a:rPr>
              <a:t>ngành</a:t>
            </a:r>
            <a:r>
              <a:rPr sz="1200" b="1" spc="-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spc="-45" dirty="0">
                <a:solidFill>
                  <a:srgbClr val="1B1B2D"/>
                </a:solidFill>
                <a:latin typeface="Tahoma"/>
                <a:cs typeface="Tahoma"/>
              </a:rPr>
              <a:t>taxi</a:t>
            </a:r>
            <a:r>
              <a:rPr sz="1200" b="1" spc="-1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spc="-70" dirty="0">
                <a:solidFill>
                  <a:srgbClr val="1B1B2D"/>
                </a:solidFill>
                <a:latin typeface="Tahoma"/>
                <a:cs typeface="Tahoma"/>
              </a:rPr>
              <a:t>hiện</a:t>
            </a:r>
            <a:r>
              <a:rPr sz="1200" b="1" spc="-20" dirty="0">
                <a:solidFill>
                  <a:srgbClr val="1B1B2D"/>
                </a:solidFill>
                <a:latin typeface="Tahoma"/>
                <a:cs typeface="Tahoma"/>
              </a:rPr>
              <a:t> nay:</a:t>
            </a:r>
            <a:endParaRPr sz="1200">
              <a:latin typeface="Tahoma"/>
              <a:cs typeface="Tahoma"/>
            </a:endParaRPr>
          </a:p>
          <a:p>
            <a:pPr marL="309880" indent="-148590">
              <a:lnSpc>
                <a:spcPct val="100000"/>
              </a:lnSpc>
              <a:spcBef>
                <a:spcPts val="300"/>
              </a:spcBef>
              <a:buClr>
                <a:srgbClr val="197FA4"/>
              </a:buClr>
              <a:buFont typeface="Arial MT"/>
              <a:buChar char="•"/>
              <a:tabLst>
                <a:tab pos="309880" algn="l"/>
              </a:tabLst>
            </a:pPr>
            <a:r>
              <a:rPr sz="1200" spc="-45" dirty="0">
                <a:solidFill>
                  <a:srgbClr val="1B1B2D"/>
                </a:solidFill>
                <a:latin typeface="Tahoma"/>
                <a:cs typeface="Tahoma"/>
              </a:rPr>
              <a:t>Cạnh tranh</a:t>
            </a:r>
            <a:r>
              <a:rPr sz="1200" spc="-4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1B1B2D"/>
                </a:solidFill>
                <a:latin typeface="Tahoma"/>
                <a:cs typeface="Tahoma"/>
              </a:rPr>
              <a:t>khốc</a:t>
            </a:r>
            <a:r>
              <a:rPr sz="1200" spc="-4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1B1B2D"/>
                </a:solidFill>
                <a:latin typeface="Tahoma"/>
                <a:cs typeface="Tahoma"/>
              </a:rPr>
              <a:t>liệt</a:t>
            </a:r>
            <a:r>
              <a:rPr sz="1200" spc="-5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1B1B2D"/>
                </a:solidFill>
                <a:latin typeface="Tahoma"/>
                <a:cs typeface="Tahoma"/>
              </a:rPr>
              <a:t>từ</a:t>
            </a:r>
            <a:r>
              <a:rPr sz="1200" spc="-4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1B1B2D"/>
                </a:solidFill>
                <a:latin typeface="Tahoma"/>
                <a:cs typeface="Tahoma"/>
              </a:rPr>
              <a:t>Grab, </a:t>
            </a:r>
            <a:r>
              <a:rPr sz="1200" spc="-35" dirty="0">
                <a:solidFill>
                  <a:srgbClr val="1B1B2D"/>
                </a:solidFill>
                <a:latin typeface="Tahoma"/>
                <a:cs typeface="Tahoma"/>
              </a:rPr>
              <a:t>Uber,</a:t>
            </a:r>
            <a:r>
              <a:rPr sz="1200" spc="-4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1B1B2D"/>
                </a:solidFill>
                <a:latin typeface="Tahoma"/>
                <a:cs typeface="Tahoma"/>
              </a:rPr>
              <a:t>Lyft</a:t>
            </a:r>
            <a:endParaRPr sz="1200">
              <a:latin typeface="Tahoma"/>
              <a:cs typeface="Tahoma"/>
            </a:endParaRPr>
          </a:p>
          <a:p>
            <a:pPr marL="309880" indent="-148590">
              <a:lnSpc>
                <a:spcPct val="100000"/>
              </a:lnSpc>
              <a:spcBef>
                <a:spcPts val="305"/>
              </a:spcBef>
              <a:buClr>
                <a:srgbClr val="197FA4"/>
              </a:buClr>
              <a:buFont typeface="Arial MT"/>
              <a:buChar char="•"/>
              <a:tabLst>
                <a:tab pos="309880" algn="l"/>
              </a:tabLst>
            </a:pPr>
            <a:r>
              <a:rPr sz="1200" spc="-55" dirty="0">
                <a:solidFill>
                  <a:srgbClr val="1B1B2D"/>
                </a:solidFill>
                <a:latin typeface="Tahoma"/>
                <a:cs typeface="Tahoma"/>
              </a:rPr>
              <a:t>Yêu</a:t>
            </a:r>
            <a:r>
              <a:rPr sz="1200" spc="-4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1B1B2D"/>
                </a:solidFill>
                <a:latin typeface="Tahoma"/>
                <a:cs typeface="Tahoma"/>
              </a:rPr>
              <a:t>cầu </a:t>
            </a:r>
            <a:r>
              <a:rPr sz="1200" spc="-55" dirty="0">
                <a:solidFill>
                  <a:srgbClr val="1B1B2D"/>
                </a:solidFill>
                <a:latin typeface="Tahoma"/>
                <a:cs typeface="Tahoma"/>
              </a:rPr>
              <a:t>định</a:t>
            </a:r>
            <a:r>
              <a:rPr sz="1200" spc="-3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40" dirty="0">
                <a:solidFill>
                  <a:srgbClr val="1B1B2D"/>
                </a:solidFill>
                <a:latin typeface="Tahoma"/>
                <a:cs typeface="Tahoma"/>
              </a:rPr>
              <a:t>giá </a:t>
            </a:r>
            <a:r>
              <a:rPr sz="1200" b="1" spc="-70" dirty="0">
                <a:solidFill>
                  <a:srgbClr val="1B1B2D"/>
                </a:solidFill>
                <a:latin typeface="Tahoma"/>
                <a:cs typeface="Tahoma"/>
              </a:rPr>
              <a:t>minh</a:t>
            </a:r>
            <a:r>
              <a:rPr sz="1200" b="1" spc="2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spc="-75" dirty="0">
                <a:solidFill>
                  <a:srgbClr val="1B1B2D"/>
                </a:solidFill>
                <a:latin typeface="Tahoma"/>
                <a:cs typeface="Tahoma"/>
              </a:rPr>
              <a:t>bạch</a:t>
            </a:r>
            <a:r>
              <a:rPr sz="1200" b="1" spc="-1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70" dirty="0">
                <a:solidFill>
                  <a:srgbClr val="1B1B2D"/>
                </a:solidFill>
                <a:latin typeface="Tahoma"/>
                <a:cs typeface="Tahoma"/>
              </a:rPr>
              <a:t>&amp;</a:t>
            </a:r>
            <a:r>
              <a:rPr sz="1200" spc="-4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spc="-10" dirty="0">
                <a:solidFill>
                  <a:srgbClr val="1B1B2D"/>
                </a:solidFill>
                <a:latin typeface="Tahoma"/>
                <a:cs typeface="Tahoma"/>
              </a:rPr>
              <a:t>tối</a:t>
            </a:r>
            <a:r>
              <a:rPr sz="1200" b="1" spc="2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spc="-25" dirty="0">
                <a:solidFill>
                  <a:srgbClr val="1B1B2D"/>
                </a:solidFill>
                <a:latin typeface="Tahoma"/>
                <a:cs typeface="Tahoma"/>
              </a:rPr>
              <a:t>ưu</a:t>
            </a:r>
            <a:endParaRPr sz="1200">
              <a:latin typeface="Tahoma"/>
              <a:cs typeface="Tahoma"/>
            </a:endParaRPr>
          </a:p>
          <a:p>
            <a:pPr marL="309880" marR="8890" indent="-149225">
              <a:lnSpc>
                <a:spcPct val="100000"/>
              </a:lnSpc>
              <a:spcBef>
                <a:spcPts val="305"/>
              </a:spcBef>
              <a:buClr>
                <a:srgbClr val="197FA4"/>
              </a:buClr>
              <a:buFont typeface="Arial MT"/>
              <a:buChar char="•"/>
              <a:tabLst>
                <a:tab pos="309880" algn="l"/>
              </a:tabLst>
            </a:pPr>
            <a:r>
              <a:rPr sz="1200" spc="-20" dirty="0">
                <a:solidFill>
                  <a:srgbClr val="1B1B2D"/>
                </a:solidFill>
                <a:latin typeface="Tahoma"/>
                <a:cs typeface="Tahoma"/>
              </a:rPr>
              <a:t>Thiếu</a:t>
            </a:r>
            <a:r>
              <a:rPr sz="1200" spc="-7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1B1B2D"/>
                </a:solidFill>
                <a:latin typeface="Tahoma"/>
                <a:cs typeface="Tahoma"/>
              </a:rPr>
              <a:t>công</a:t>
            </a:r>
            <a:r>
              <a:rPr sz="1200" spc="-4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1B1B2D"/>
                </a:solidFill>
                <a:latin typeface="Tahoma"/>
                <a:cs typeface="Tahoma"/>
              </a:rPr>
              <a:t>cụ</a:t>
            </a:r>
            <a:r>
              <a:rPr sz="1200" spc="-7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90" dirty="0">
                <a:solidFill>
                  <a:srgbClr val="1B1B2D"/>
                </a:solidFill>
                <a:latin typeface="Tahoma"/>
                <a:cs typeface="Tahoma"/>
              </a:rPr>
              <a:t>dự</a:t>
            </a:r>
            <a:r>
              <a:rPr sz="1200" spc="-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1B1B2D"/>
                </a:solidFill>
                <a:latin typeface="Tahoma"/>
                <a:cs typeface="Tahoma"/>
              </a:rPr>
              <a:t>báo</a:t>
            </a:r>
            <a:r>
              <a:rPr sz="1200" spc="-4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1B1B2D"/>
                </a:solidFill>
                <a:latin typeface="Tahoma"/>
                <a:cs typeface="Tahoma"/>
              </a:rPr>
              <a:t>chi</a:t>
            </a:r>
            <a:r>
              <a:rPr sz="1200" spc="-4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1B1B2D"/>
                </a:solidFill>
                <a:latin typeface="Tahoma"/>
                <a:cs typeface="Tahoma"/>
              </a:rPr>
              <a:t>phí</a:t>
            </a:r>
            <a:r>
              <a:rPr sz="1200" spc="-5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1B1B2D"/>
                </a:solidFill>
                <a:latin typeface="Tahoma"/>
                <a:cs typeface="Tahoma"/>
              </a:rPr>
              <a:t>trước </a:t>
            </a:r>
            <a:r>
              <a:rPr sz="1200" spc="-80" dirty="0">
                <a:solidFill>
                  <a:srgbClr val="1B1B2D"/>
                </a:solidFill>
                <a:latin typeface="Tahoma"/>
                <a:cs typeface="Tahoma"/>
              </a:rPr>
              <a:t>chuyến </a:t>
            </a:r>
            <a:r>
              <a:rPr sz="1200" spc="-25" dirty="0">
                <a:solidFill>
                  <a:srgbClr val="1B1B2D"/>
                </a:solidFill>
                <a:latin typeface="Tahoma"/>
                <a:cs typeface="Tahoma"/>
              </a:rPr>
              <a:t>đi</a:t>
            </a:r>
            <a:endParaRPr sz="1200">
              <a:latin typeface="Tahoma"/>
              <a:cs typeface="Tahoma"/>
            </a:endParaRPr>
          </a:p>
          <a:p>
            <a:pPr marL="309880" marR="5080" indent="-149225">
              <a:lnSpc>
                <a:spcPct val="100000"/>
              </a:lnSpc>
              <a:spcBef>
                <a:spcPts val="305"/>
              </a:spcBef>
              <a:buClr>
                <a:srgbClr val="197FA4"/>
              </a:buClr>
              <a:buFont typeface="Arial MT"/>
              <a:buChar char="•"/>
              <a:tabLst>
                <a:tab pos="309880" algn="l"/>
              </a:tabLst>
            </a:pPr>
            <a:r>
              <a:rPr sz="1200" dirty="0">
                <a:solidFill>
                  <a:srgbClr val="1B1B2D"/>
                </a:solidFill>
                <a:latin typeface="Tahoma"/>
                <a:cs typeface="Tahoma"/>
              </a:rPr>
              <a:t>Dữ</a:t>
            </a:r>
            <a:r>
              <a:rPr sz="1200" spc="-9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40" dirty="0">
                <a:solidFill>
                  <a:srgbClr val="1B1B2D"/>
                </a:solidFill>
                <a:latin typeface="Tahoma"/>
                <a:cs typeface="Tahoma"/>
              </a:rPr>
              <a:t>liệu</a:t>
            </a:r>
            <a:r>
              <a:rPr sz="1200" spc="-4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1B1B2D"/>
                </a:solidFill>
                <a:latin typeface="Tahoma"/>
                <a:cs typeface="Tahoma"/>
              </a:rPr>
              <a:t>hành</a:t>
            </a:r>
            <a:r>
              <a:rPr sz="1200" spc="-3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1B1B2D"/>
                </a:solidFill>
                <a:latin typeface="Tahoma"/>
                <a:cs typeface="Tahoma"/>
              </a:rPr>
              <a:t>trình</a:t>
            </a:r>
            <a:r>
              <a:rPr sz="1200" spc="-40" dirty="0">
                <a:solidFill>
                  <a:srgbClr val="1B1B2D"/>
                </a:solidFill>
                <a:latin typeface="Tahoma"/>
                <a:cs typeface="Tahoma"/>
              </a:rPr>
              <a:t> lớn</a:t>
            </a:r>
            <a:r>
              <a:rPr sz="1200" spc="-4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75" dirty="0">
                <a:solidFill>
                  <a:srgbClr val="1B1B2D"/>
                </a:solidFill>
                <a:latin typeface="Tahoma"/>
                <a:cs typeface="Tahoma"/>
              </a:rPr>
              <a:t>chưa</a:t>
            </a:r>
            <a:r>
              <a:rPr sz="1200" spc="-1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70" dirty="0">
                <a:solidFill>
                  <a:srgbClr val="1B1B2D"/>
                </a:solidFill>
                <a:latin typeface="Tahoma"/>
                <a:cs typeface="Tahoma"/>
              </a:rPr>
              <a:t>được</a:t>
            </a:r>
            <a:r>
              <a:rPr sz="1200" spc="-25" dirty="0">
                <a:solidFill>
                  <a:srgbClr val="1B1B2D"/>
                </a:solidFill>
                <a:latin typeface="Tahoma"/>
                <a:cs typeface="Tahoma"/>
              </a:rPr>
              <a:t> khai</a:t>
            </a:r>
            <a:r>
              <a:rPr sz="1200" spc="-4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1B1B2D"/>
                </a:solidFill>
                <a:latin typeface="Tahoma"/>
                <a:cs typeface="Tahoma"/>
              </a:rPr>
              <a:t>thác </a:t>
            </a:r>
            <a:r>
              <a:rPr sz="1200" spc="-20" dirty="0">
                <a:solidFill>
                  <a:srgbClr val="1B1B2D"/>
                </a:solidFill>
                <a:latin typeface="Tahoma"/>
                <a:cs typeface="Tahoma"/>
              </a:rPr>
              <a:t>triệt</a:t>
            </a:r>
            <a:r>
              <a:rPr sz="1200" spc="-4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1B1B2D"/>
                </a:solidFill>
                <a:latin typeface="Tahoma"/>
                <a:cs typeface="Tahoma"/>
              </a:rPr>
              <a:t>để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3708" y="2246355"/>
            <a:ext cx="3004820" cy="784860"/>
            <a:chOff x="153708" y="2246355"/>
            <a:chExt cx="3004820" cy="784860"/>
          </a:xfrm>
        </p:grpSpPr>
        <p:sp>
          <p:nvSpPr>
            <p:cNvPr id="5" name="object 5"/>
            <p:cNvSpPr/>
            <p:nvPr/>
          </p:nvSpPr>
          <p:spPr>
            <a:xfrm>
              <a:off x="153708" y="2246355"/>
              <a:ext cx="3004820" cy="784860"/>
            </a:xfrm>
            <a:custGeom>
              <a:avLst/>
              <a:gdLst/>
              <a:ahLst/>
              <a:cxnLst/>
              <a:rect l="l" t="t" r="r" b="b"/>
              <a:pathLst>
                <a:path w="3004820" h="784860">
                  <a:moveTo>
                    <a:pt x="2926114" y="0"/>
                  </a:moveTo>
                  <a:lnTo>
                    <a:pt x="78446" y="0"/>
                  </a:lnTo>
                  <a:lnTo>
                    <a:pt x="47911" y="6164"/>
                  </a:lnTo>
                  <a:lnTo>
                    <a:pt x="22976" y="22976"/>
                  </a:lnTo>
                  <a:lnTo>
                    <a:pt x="6164" y="47911"/>
                  </a:lnTo>
                  <a:lnTo>
                    <a:pt x="0" y="78446"/>
                  </a:lnTo>
                  <a:lnTo>
                    <a:pt x="0" y="706192"/>
                  </a:lnTo>
                  <a:lnTo>
                    <a:pt x="6164" y="736727"/>
                  </a:lnTo>
                  <a:lnTo>
                    <a:pt x="22976" y="761662"/>
                  </a:lnTo>
                  <a:lnTo>
                    <a:pt x="47911" y="778474"/>
                  </a:lnTo>
                  <a:lnTo>
                    <a:pt x="78446" y="784639"/>
                  </a:lnTo>
                  <a:lnTo>
                    <a:pt x="2926114" y="784639"/>
                  </a:lnTo>
                  <a:lnTo>
                    <a:pt x="2956649" y="778474"/>
                  </a:lnTo>
                  <a:lnTo>
                    <a:pt x="2981584" y="761662"/>
                  </a:lnTo>
                  <a:lnTo>
                    <a:pt x="2998396" y="736727"/>
                  </a:lnTo>
                  <a:lnTo>
                    <a:pt x="3004560" y="706192"/>
                  </a:lnTo>
                  <a:lnTo>
                    <a:pt x="3004560" y="78446"/>
                  </a:lnTo>
                  <a:lnTo>
                    <a:pt x="2998396" y="47911"/>
                  </a:lnTo>
                  <a:lnTo>
                    <a:pt x="2981584" y="22976"/>
                  </a:lnTo>
                  <a:lnTo>
                    <a:pt x="2956649" y="6164"/>
                  </a:lnTo>
                  <a:lnTo>
                    <a:pt x="2926114" y="0"/>
                  </a:lnTo>
                  <a:close/>
                </a:path>
              </a:pathLst>
            </a:custGeom>
            <a:solidFill>
              <a:srgbClr val="F0A5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8891" y="2261538"/>
              <a:ext cx="2974340" cy="754380"/>
            </a:xfrm>
            <a:custGeom>
              <a:avLst/>
              <a:gdLst/>
              <a:ahLst/>
              <a:cxnLst/>
              <a:rect l="l" t="t" r="r" b="b"/>
              <a:pathLst>
                <a:path w="2974340" h="754380">
                  <a:moveTo>
                    <a:pt x="2910930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691009"/>
                  </a:lnTo>
                  <a:lnTo>
                    <a:pt x="4971" y="715634"/>
                  </a:lnTo>
                  <a:lnTo>
                    <a:pt x="18529" y="735743"/>
                  </a:lnTo>
                  <a:lnTo>
                    <a:pt x="38638" y="749301"/>
                  </a:lnTo>
                  <a:lnTo>
                    <a:pt x="63263" y="754272"/>
                  </a:lnTo>
                  <a:lnTo>
                    <a:pt x="2910930" y="754272"/>
                  </a:lnTo>
                  <a:lnTo>
                    <a:pt x="2935555" y="749301"/>
                  </a:lnTo>
                  <a:lnTo>
                    <a:pt x="2955665" y="735743"/>
                  </a:lnTo>
                  <a:lnTo>
                    <a:pt x="2969222" y="715634"/>
                  </a:lnTo>
                  <a:lnTo>
                    <a:pt x="2974194" y="691009"/>
                  </a:lnTo>
                  <a:lnTo>
                    <a:pt x="2974194" y="63263"/>
                  </a:lnTo>
                  <a:lnTo>
                    <a:pt x="2969222" y="38638"/>
                  </a:lnTo>
                  <a:lnTo>
                    <a:pt x="2955665" y="18529"/>
                  </a:lnTo>
                  <a:lnTo>
                    <a:pt x="2935555" y="4971"/>
                  </a:lnTo>
                  <a:lnTo>
                    <a:pt x="2910930" y="0"/>
                  </a:lnTo>
                  <a:close/>
                </a:path>
              </a:pathLst>
            </a:custGeom>
            <a:solidFill>
              <a:srgbClr val="FCF1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84200" y="2364432"/>
            <a:ext cx="2744470" cy="574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95"/>
              </a:spcBef>
            </a:pPr>
            <a:r>
              <a:rPr sz="1200" b="1" spc="-30" dirty="0">
                <a:latin typeface="Tahoma"/>
                <a:cs typeface="Tahoma"/>
              </a:rPr>
              <a:t>Giải</a:t>
            </a:r>
            <a:r>
              <a:rPr sz="1200" b="1" spc="-40" dirty="0">
                <a:latin typeface="Tahoma"/>
                <a:cs typeface="Tahoma"/>
              </a:rPr>
              <a:t> </a:t>
            </a:r>
            <a:r>
              <a:rPr sz="1200" b="1" spc="-55" dirty="0">
                <a:latin typeface="Tahoma"/>
                <a:cs typeface="Tahoma"/>
              </a:rPr>
              <a:t>pháp:</a:t>
            </a:r>
            <a:r>
              <a:rPr sz="1200" b="1" spc="80" dirty="0">
                <a:latin typeface="Tahoma"/>
                <a:cs typeface="Tahoma"/>
              </a:rPr>
              <a:t> </a:t>
            </a:r>
            <a:r>
              <a:rPr sz="1200" spc="-65" dirty="0">
                <a:latin typeface="Tahoma"/>
                <a:cs typeface="Tahoma"/>
              </a:rPr>
              <a:t>Ứng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65" dirty="0">
                <a:latin typeface="Tahoma"/>
                <a:cs typeface="Tahoma"/>
              </a:rPr>
              <a:t>dụng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Machine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Learning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để </a:t>
            </a:r>
            <a:r>
              <a:rPr sz="1200" spc="-90" dirty="0">
                <a:latin typeface="Tahoma"/>
                <a:cs typeface="Tahoma"/>
              </a:rPr>
              <a:t>dự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báo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và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tối</a:t>
            </a:r>
            <a:r>
              <a:rPr sz="1200" spc="-75" dirty="0">
                <a:latin typeface="Tahoma"/>
                <a:cs typeface="Tahoma"/>
              </a:rPr>
              <a:t> </a:t>
            </a:r>
            <a:r>
              <a:rPr sz="1200" spc="-105" dirty="0">
                <a:latin typeface="Tahoma"/>
                <a:cs typeface="Tahoma"/>
              </a:rPr>
              <a:t>ưu</a:t>
            </a:r>
            <a:r>
              <a:rPr sz="1200" spc="10" dirty="0">
                <a:latin typeface="Tahoma"/>
                <a:cs typeface="Tahoma"/>
              </a:rPr>
              <a:t> </a:t>
            </a:r>
            <a:r>
              <a:rPr sz="1200" spc="-60" dirty="0">
                <a:latin typeface="Tahoma"/>
                <a:cs typeface="Tahoma"/>
              </a:rPr>
              <a:t>hóa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cước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phí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taxi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90" dirty="0">
                <a:latin typeface="Tahoma"/>
                <a:cs typeface="Tahoma"/>
              </a:rPr>
              <a:t>dựa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trên </a:t>
            </a:r>
            <a:r>
              <a:rPr sz="1200" spc="-90" dirty="0">
                <a:latin typeface="Tahoma"/>
                <a:cs typeface="Tahoma"/>
              </a:rPr>
              <a:t>dữ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liệu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spc="-70" dirty="0">
                <a:latin typeface="Tahoma"/>
                <a:cs typeface="Tahoma"/>
              </a:rPr>
              <a:t>hành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trình </a:t>
            </a:r>
            <a:r>
              <a:rPr sz="1200" spc="-45" dirty="0">
                <a:latin typeface="Tahoma"/>
                <a:cs typeface="Tahoma"/>
              </a:rPr>
              <a:t>thực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tế.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14471" y="533295"/>
            <a:ext cx="1271270" cy="248285"/>
          </a:xfrm>
          <a:prstGeom prst="rect">
            <a:avLst/>
          </a:prstGeom>
          <a:solidFill>
            <a:srgbClr val="D6EAF8"/>
          </a:solidFill>
          <a:ln w="5060">
            <a:solidFill>
              <a:srgbClr val="0C2B54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49530">
              <a:lnSpc>
                <a:spcPct val="100000"/>
              </a:lnSpc>
              <a:spcBef>
                <a:spcPts val="254"/>
              </a:spcBef>
            </a:pPr>
            <a:r>
              <a:rPr sz="1100" b="1" dirty="0">
                <a:solidFill>
                  <a:srgbClr val="1B1B2D"/>
                </a:solidFill>
                <a:latin typeface="Tahoma"/>
                <a:cs typeface="Tahoma"/>
              </a:rPr>
              <a:t>Dữ</a:t>
            </a:r>
            <a:r>
              <a:rPr sz="1100" b="1" spc="-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100" b="1" spc="-60" dirty="0">
                <a:solidFill>
                  <a:srgbClr val="1B1B2D"/>
                </a:solidFill>
                <a:latin typeface="Tahoma"/>
                <a:cs typeface="Tahoma"/>
              </a:rPr>
              <a:t>liệu</a:t>
            </a:r>
            <a:r>
              <a:rPr sz="1100" b="1" spc="-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100" b="1" spc="-70" dirty="0">
                <a:solidFill>
                  <a:srgbClr val="1B1B2D"/>
                </a:solidFill>
                <a:latin typeface="Tahoma"/>
                <a:cs typeface="Tahoma"/>
              </a:rPr>
              <a:t>hành</a:t>
            </a:r>
            <a:r>
              <a:rPr sz="1100" b="1" spc="-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1B1B2D"/>
                </a:solidFill>
                <a:latin typeface="Tahoma"/>
                <a:cs typeface="Tahoma"/>
              </a:rPr>
              <a:t>trình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10086" y="1038649"/>
            <a:ext cx="1080135" cy="234315"/>
          </a:xfrm>
          <a:prstGeom prst="rect">
            <a:avLst/>
          </a:prstGeom>
          <a:solidFill>
            <a:srgbClr val="D6EAF8"/>
          </a:solidFill>
          <a:ln w="5060">
            <a:solidFill>
              <a:srgbClr val="0C2B54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40970">
              <a:lnSpc>
                <a:spcPct val="100000"/>
              </a:lnSpc>
              <a:spcBef>
                <a:spcPts val="300"/>
              </a:spcBef>
            </a:pPr>
            <a:r>
              <a:rPr sz="1100" b="1" dirty="0">
                <a:solidFill>
                  <a:srgbClr val="1B1B2D"/>
                </a:solidFill>
                <a:latin typeface="Tahoma"/>
                <a:cs typeface="Tahoma"/>
              </a:rPr>
              <a:t>Mô</a:t>
            </a:r>
            <a:r>
              <a:rPr sz="1100" b="1" spc="3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100" b="1" spc="-65" dirty="0">
                <a:solidFill>
                  <a:srgbClr val="1B1B2D"/>
                </a:solidFill>
                <a:latin typeface="Tahoma"/>
                <a:cs typeface="Tahoma"/>
              </a:rPr>
              <a:t>hình</a:t>
            </a:r>
            <a:r>
              <a:rPr sz="1100" b="1" spc="3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100" b="1" spc="-25" dirty="0">
                <a:solidFill>
                  <a:srgbClr val="1B1B2D"/>
                </a:solidFill>
                <a:latin typeface="Tahoma"/>
                <a:cs typeface="Tahoma"/>
              </a:rPr>
              <a:t>ML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27649" y="1529713"/>
            <a:ext cx="1245235" cy="248920"/>
          </a:xfrm>
          <a:prstGeom prst="rect">
            <a:avLst/>
          </a:prstGeom>
          <a:solidFill>
            <a:srgbClr val="D6EAF8"/>
          </a:solidFill>
          <a:ln w="5060">
            <a:solidFill>
              <a:srgbClr val="0C2B54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49530">
              <a:lnSpc>
                <a:spcPct val="100000"/>
              </a:lnSpc>
              <a:spcBef>
                <a:spcPts val="254"/>
              </a:spcBef>
            </a:pPr>
            <a:r>
              <a:rPr sz="1100" b="1" dirty="0">
                <a:solidFill>
                  <a:srgbClr val="1B1B2D"/>
                </a:solidFill>
                <a:latin typeface="Tahoma"/>
                <a:cs typeface="Tahoma"/>
              </a:rPr>
              <a:t>Dự</a:t>
            </a:r>
            <a:r>
              <a:rPr sz="1100" b="1" spc="-2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100" b="1" spc="-70" dirty="0">
                <a:solidFill>
                  <a:srgbClr val="1B1B2D"/>
                </a:solidFill>
                <a:latin typeface="Tahoma"/>
                <a:cs typeface="Tahoma"/>
              </a:rPr>
              <a:t>đoán</a:t>
            </a:r>
            <a:r>
              <a:rPr sz="1100" b="1" spc="-1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100" b="1" spc="-40" dirty="0">
                <a:solidFill>
                  <a:srgbClr val="1B1B2D"/>
                </a:solidFill>
                <a:latin typeface="Tahoma"/>
                <a:cs typeface="Tahoma"/>
              </a:rPr>
              <a:t>cước</a:t>
            </a:r>
            <a:r>
              <a:rPr sz="1100" b="1" spc="-1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100" b="1" spc="-25" dirty="0">
                <a:solidFill>
                  <a:srgbClr val="1B1B2D"/>
                </a:solidFill>
                <a:latin typeface="Tahoma"/>
                <a:cs typeface="Tahoma"/>
              </a:rPr>
              <a:t>phí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10086" y="2035313"/>
            <a:ext cx="1080135" cy="234315"/>
          </a:xfrm>
          <a:prstGeom prst="rect">
            <a:avLst/>
          </a:prstGeom>
          <a:solidFill>
            <a:srgbClr val="D6EAF8"/>
          </a:solidFill>
          <a:ln w="5060">
            <a:solidFill>
              <a:srgbClr val="0C2B54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193675">
              <a:lnSpc>
                <a:spcPct val="100000"/>
              </a:lnSpc>
              <a:spcBef>
                <a:spcPts val="330"/>
              </a:spcBef>
            </a:pPr>
            <a:r>
              <a:rPr sz="1100" b="1" dirty="0">
                <a:solidFill>
                  <a:srgbClr val="1B1B2D"/>
                </a:solidFill>
                <a:latin typeface="Tahoma"/>
                <a:cs typeface="Tahoma"/>
              </a:rPr>
              <a:t>Tối</a:t>
            </a:r>
            <a:r>
              <a:rPr sz="1100" b="1" spc="-4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100" b="1" spc="-60" dirty="0">
                <a:solidFill>
                  <a:srgbClr val="1B1B2D"/>
                </a:solidFill>
                <a:latin typeface="Tahoma"/>
                <a:cs typeface="Tahoma"/>
              </a:rPr>
              <a:t>ưu</a:t>
            </a:r>
            <a:r>
              <a:rPr sz="1100" b="1" spc="-2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100" b="1" spc="-25" dirty="0">
                <a:solidFill>
                  <a:srgbClr val="1B1B2D"/>
                </a:solidFill>
                <a:latin typeface="Tahoma"/>
                <a:cs typeface="Tahoma"/>
              </a:rPr>
              <a:t>hóa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932677" y="784117"/>
            <a:ext cx="34925" cy="243204"/>
            <a:chOff x="3932677" y="784117"/>
            <a:chExt cx="34925" cy="243204"/>
          </a:xfrm>
        </p:grpSpPr>
        <p:sp>
          <p:nvSpPr>
            <p:cNvPr id="13" name="object 13"/>
            <p:cNvSpPr/>
            <p:nvPr/>
          </p:nvSpPr>
          <p:spPr>
            <a:xfrm>
              <a:off x="3950093" y="784117"/>
              <a:ext cx="0" cy="213995"/>
            </a:xfrm>
            <a:custGeom>
              <a:avLst/>
              <a:gdLst/>
              <a:ahLst/>
              <a:cxnLst/>
              <a:rect l="l" t="t" r="r" b="b"/>
              <a:pathLst>
                <a:path h="213994">
                  <a:moveTo>
                    <a:pt x="0" y="0"/>
                  </a:moveTo>
                  <a:lnTo>
                    <a:pt x="0" y="213465"/>
                  </a:lnTo>
                </a:path>
              </a:pathLst>
            </a:custGeom>
            <a:ln w="10122">
              <a:solidFill>
                <a:srgbClr val="197F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937738" y="989199"/>
              <a:ext cx="24765" cy="33020"/>
            </a:xfrm>
            <a:custGeom>
              <a:avLst/>
              <a:gdLst/>
              <a:ahLst/>
              <a:cxnLst/>
              <a:rect l="l" t="t" r="r" b="b"/>
              <a:pathLst>
                <a:path w="24764" h="33019">
                  <a:moveTo>
                    <a:pt x="24710" y="0"/>
                  </a:moveTo>
                  <a:lnTo>
                    <a:pt x="12355" y="10913"/>
                  </a:lnTo>
                  <a:lnTo>
                    <a:pt x="0" y="0"/>
                  </a:lnTo>
                  <a:lnTo>
                    <a:pt x="12355" y="32506"/>
                  </a:lnTo>
                  <a:lnTo>
                    <a:pt x="24710" y="0"/>
                  </a:lnTo>
                  <a:close/>
                </a:path>
              </a:pathLst>
            </a:custGeom>
            <a:solidFill>
              <a:srgbClr val="197F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37738" y="989199"/>
              <a:ext cx="24765" cy="33020"/>
            </a:xfrm>
            <a:custGeom>
              <a:avLst/>
              <a:gdLst/>
              <a:ahLst/>
              <a:cxnLst/>
              <a:rect l="l" t="t" r="r" b="b"/>
              <a:pathLst>
                <a:path w="24764" h="33019">
                  <a:moveTo>
                    <a:pt x="12355" y="32506"/>
                  </a:moveTo>
                  <a:lnTo>
                    <a:pt x="24710" y="0"/>
                  </a:lnTo>
                  <a:lnTo>
                    <a:pt x="12355" y="10913"/>
                  </a:lnTo>
                  <a:lnTo>
                    <a:pt x="0" y="0"/>
                  </a:lnTo>
                  <a:lnTo>
                    <a:pt x="12355" y="32506"/>
                  </a:lnTo>
                  <a:close/>
                </a:path>
              </a:pathLst>
            </a:custGeom>
            <a:ln w="10122">
              <a:solidFill>
                <a:srgbClr val="197F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3932677" y="1275180"/>
            <a:ext cx="34925" cy="243204"/>
            <a:chOff x="3932677" y="1275180"/>
            <a:chExt cx="34925" cy="243204"/>
          </a:xfrm>
        </p:grpSpPr>
        <p:sp>
          <p:nvSpPr>
            <p:cNvPr id="17" name="object 17"/>
            <p:cNvSpPr/>
            <p:nvPr/>
          </p:nvSpPr>
          <p:spPr>
            <a:xfrm>
              <a:off x="3950093" y="1275180"/>
              <a:ext cx="0" cy="213995"/>
            </a:xfrm>
            <a:custGeom>
              <a:avLst/>
              <a:gdLst/>
              <a:ahLst/>
              <a:cxnLst/>
              <a:rect l="l" t="t" r="r" b="b"/>
              <a:pathLst>
                <a:path h="213994">
                  <a:moveTo>
                    <a:pt x="0" y="0"/>
                  </a:moveTo>
                  <a:lnTo>
                    <a:pt x="0" y="213465"/>
                  </a:lnTo>
                </a:path>
              </a:pathLst>
            </a:custGeom>
            <a:ln w="10122">
              <a:solidFill>
                <a:srgbClr val="197F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937738" y="1480262"/>
              <a:ext cx="24765" cy="33020"/>
            </a:xfrm>
            <a:custGeom>
              <a:avLst/>
              <a:gdLst/>
              <a:ahLst/>
              <a:cxnLst/>
              <a:rect l="l" t="t" r="r" b="b"/>
              <a:pathLst>
                <a:path w="24764" h="33019">
                  <a:moveTo>
                    <a:pt x="24710" y="0"/>
                  </a:moveTo>
                  <a:lnTo>
                    <a:pt x="12355" y="10913"/>
                  </a:lnTo>
                  <a:lnTo>
                    <a:pt x="0" y="0"/>
                  </a:lnTo>
                  <a:lnTo>
                    <a:pt x="12355" y="32506"/>
                  </a:lnTo>
                  <a:lnTo>
                    <a:pt x="24710" y="0"/>
                  </a:lnTo>
                  <a:close/>
                </a:path>
              </a:pathLst>
            </a:custGeom>
            <a:solidFill>
              <a:srgbClr val="197F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937738" y="1480262"/>
              <a:ext cx="24765" cy="33020"/>
            </a:xfrm>
            <a:custGeom>
              <a:avLst/>
              <a:gdLst/>
              <a:ahLst/>
              <a:cxnLst/>
              <a:rect l="l" t="t" r="r" b="b"/>
              <a:pathLst>
                <a:path w="24764" h="33019">
                  <a:moveTo>
                    <a:pt x="12355" y="32506"/>
                  </a:moveTo>
                  <a:lnTo>
                    <a:pt x="24710" y="0"/>
                  </a:lnTo>
                  <a:lnTo>
                    <a:pt x="12355" y="10913"/>
                  </a:lnTo>
                  <a:lnTo>
                    <a:pt x="0" y="0"/>
                  </a:lnTo>
                  <a:lnTo>
                    <a:pt x="12355" y="32506"/>
                  </a:lnTo>
                  <a:close/>
                </a:path>
              </a:pathLst>
            </a:custGeom>
            <a:ln w="10122">
              <a:solidFill>
                <a:srgbClr val="197F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3932677" y="1780781"/>
            <a:ext cx="34925" cy="243204"/>
            <a:chOff x="3932677" y="1780781"/>
            <a:chExt cx="34925" cy="243204"/>
          </a:xfrm>
        </p:grpSpPr>
        <p:sp>
          <p:nvSpPr>
            <p:cNvPr id="21" name="object 21"/>
            <p:cNvSpPr/>
            <p:nvPr/>
          </p:nvSpPr>
          <p:spPr>
            <a:xfrm>
              <a:off x="3950093" y="1780781"/>
              <a:ext cx="0" cy="213995"/>
            </a:xfrm>
            <a:custGeom>
              <a:avLst/>
              <a:gdLst/>
              <a:ahLst/>
              <a:cxnLst/>
              <a:rect l="l" t="t" r="r" b="b"/>
              <a:pathLst>
                <a:path h="213994">
                  <a:moveTo>
                    <a:pt x="0" y="0"/>
                  </a:moveTo>
                  <a:lnTo>
                    <a:pt x="0" y="213465"/>
                  </a:lnTo>
                </a:path>
              </a:pathLst>
            </a:custGeom>
            <a:ln w="10122">
              <a:solidFill>
                <a:srgbClr val="197F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937738" y="1985863"/>
              <a:ext cx="24765" cy="33020"/>
            </a:xfrm>
            <a:custGeom>
              <a:avLst/>
              <a:gdLst/>
              <a:ahLst/>
              <a:cxnLst/>
              <a:rect l="l" t="t" r="r" b="b"/>
              <a:pathLst>
                <a:path w="24764" h="33019">
                  <a:moveTo>
                    <a:pt x="24710" y="0"/>
                  </a:moveTo>
                  <a:lnTo>
                    <a:pt x="12355" y="10913"/>
                  </a:lnTo>
                  <a:lnTo>
                    <a:pt x="0" y="0"/>
                  </a:lnTo>
                  <a:lnTo>
                    <a:pt x="12355" y="32506"/>
                  </a:lnTo>
                  <a:lnTo>
                    <a:pt x="24710" y="0"/>
                  </a:lnTo>
                  <a:close/>
                </a:path>
              </a:pathLst>
            </a:custGeom>
            <a:solidFill>
              <a:srgbClr val="197F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937738" y="1985863"/>
              <a:ext cx="24765" cy="33020"/>
            </a:xfrm>
            <a:custGeom>
              <a:avLst/>
              <a:gdLst/>
              <a:ahLst/>
              <a:cxnLst/>
              <a:rect l="l" t="t" r="r" b="b"/>
              <a:pathLst>
                <a:path w="24764" h="33019">
                  <a:moveTo>
                    <a:pt x="12355" y="32506"/>
                  </a:moveTo>
                  <a:lnTo>
                    <a:pt x="24710" y="0"/>
                  </a:lnTo>
                  <a:lnTo>
                    <a:pt x="12355" y="10913"/>
                  </a:lnTo>
                  <a:lnTo>
                    <a:pt x="0" y="0"/>
                  </a:lnTo>
                  <a:lnTo>
                    <a:pt x="12355" y="32506"/>
                  </a:lnTo>
                  <a:close/>
                </a:path>
              </a:pathLst>
            </a:custGeom>
            <a:ln w="10122">
              <a:solidFill>
                <a:srgbClr val="197F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699609" y="593996"/>
            <a:ext cx="5162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6C747D"/>
                </a:solidFill>
                <a:latin typeface="Microsoft Sans Serif"/>
                <a:cs typeface="Microsoft Sans Serif"/>
              </a:rPr>
              <a:t>8.45M</a:t>
            </a:r>
            <a:r>
              <a:rPr sz="600" spc="10" dirty="0">
                <a:solidFill>
                  <a:srgbClr val="6C747D"/>
                </a:solidFill>
                <a:latin typeface="Microsoft Sans Serif"/>
                <a:cs typeface="Microsoft Sans Serif"/>
              </a:rPr>
              <a:t> </a:t>
            </a:r>
            <a:r>
              <a:rPr sz="600" dirty="0">
                <a:solidFill>
                  <a:srgbClr val="6C747D"/>
                </a:solidFill>
                <a:latin typeface="Microsoft Sans Serif"/>
                <a:cs typeface="Microsoft Sans Serif"/>
              </a:rPr>
              <a:t>bản</a:t>
            </a:r>
            <a:r>
              <a:rPr sz="600" spc="10" dirty="0">
                <a:solidFill>
                  <a:srgbClr val="6C747D"/>
                </a:solidFill>
                <a:latin typeface="Microsoft Sans Serif"/>
                <a:cs typeface="Microsoft Sans Serif"/>
              </a:rPr>
              <a:t> </a:t>
            </a:r>
            <a:r>
              <a:rPr sz="600" spc="-25" dirty="0">
                <a:solidFill>
                  <a:srgbClr val="6C747D"/>
                </a:solidFill>
                <a:latin typeface="Microsoft Sans Serif"/>
                <a:cs typeface="Microsoft Sans Serif"/>
              </a:rPr>
              <a:t>ghi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603991" y="1093208"/>
            <a:ext cx="4851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6C747D"/>
                </a:solidFill>
                <a:latin typeface="Microsoft Sans Serif"/>
                <a:cs typeface="Microsoft Sans Serif"/>
              </a:rPr>
              <a:t>LR</a:t>
            </a:r>
            <a:r>
              <a:rPr sz="600" spc="60" dirty="0">
                <a:solidFill>
                  <a:srgbClr val="6C747D"/>
                </a:solidFill>
                <a:latin typeface="Microsoft Sans Serif"/>
                <a:cs typeface="Microsoft Sans Serif"/>
              </a:rPr>
              <a:t> </a:t>
            </a:r>
            <a:r>
              <a:rPr sz="600" dirty="0">
                <a:solidFill>
                  <a:srgbClr val="6C747D"/>
                </a:solidFill>
                <a:latin typeface="Cambria"/>
                <a:cs typeface="Cambria"/>
              </a:rPr>
              <a:t>·</a:t>
            </a:r>
            <a:r>
              <a:rPr sz="600" spc="95" dirty="0">
                <a:solidFill>
                  <a:srgbClr val="6C747D"/>
                </a:solidFill>
                <a:latin typeface="Cambria"/>
                <a:cs typeface="Cambria"/>
              </a:rPr>
              <a:t> </a:t>
            </a:r>
            <a:r>
              <a:rPr sz="600" dirty="0">
                <a:solidFill>
                  <a:srgbClr val="6C747D"/>
                </a:solidFill>
                <a:latin typeface="Microsoft Sans Serif"/>
                <a:cs typeface="Microsoft Sans Serif"/>
              </a:rPr>
              <a:t>DT</a:t>
            </a:r>
            <a:r>
              <a:rPr sz="600" spc="65" dirty="0">
                <a:solidFill>
                  <a:srgbClr val="6C747D"/>
                </a:solidFill>
                <a:latin typeface="Microsoft Sans Serif"/>
                <a:cs typeface="Microsoft Sans Serif"/>
              </a:rPr>
              <a:t> </a:t>
            </a:r>
            <a:r>
              <a:rPr sz="600" dirty="0">
                <a:solidFill>
                  <a:srgbClr val="6C747D"/>
                </a:solidFill>
                <a:latin typeface="Cambria"/>
                <a:cs typeface="Cambria"/>
              </a:rPr>
              <a:t>·</a:t>
            </a:r>
            <a:r>
              <a:rPr sz="600" spc="95" dirty="0">
                <a:solidFill>
                  <a:srgbClr val="6C747D"/>
                </a:solidFill>
                <a:latin typeface="Cambria"/>
                <a:cs typeface="Cambria"/>
              </a:rPr>
              <a:t> </a:t>
            </a:r>
            <a:r>
              <a:rPr sz="600" spc="-25" dirty="0">
                <a:solidFill>
                  <a:srgbClr val="6C747D"/>
                </a:solidFill>
                <a:latin typeface="Microsoft Sans Serif"/>
                <a:cs typeface="Microsoft Sans Serif"/>
              </a:rPr>
              <a:t>RF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661027" y="1590476"/>
            <a:ext cx="6375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6C747D"/>
                </a:solidFill>
                <a:latin typeface="Microsoft Sans Serif"/>
                <a:cs typeface="Microsoft Sans Serif"/>
              </a:rPr>
              <a:t>MAE/RMSE/</a:t>
            </a:r>
            <a:r>
              <a:rPr sz="600" i="1" spc="-10" dirty="0">
                <a:solidFill>
                  <a:srgbClr val="6C747D"/>
                </a:solidFill>
                <a:latin typeface="Verdana"/>
                <a:cs typeface="Verdana"/>
              </a:rPr>
              <a:t>R</a:t>
            </a:r>
            <a:r>
              <a:rPr sz="750" spc="-15" baseline="22222" dirty="0">
                <a:solidFill>
                  <a:srgbClr val="6C747D"/>
                </a:solidFill>
                <a:latin typeface="Microsoft Sans Serif"/>
                <a:cs typeface="Microsoft Sans Serif"/>
              </a:rPr>
              <a:t>2</a:t>
            </a:r>
            <a:endParaRPr sz="750" baseline="22222">
              <a:latin typeface="Microsoft Sans Serif"/>
              <a:cs typeface="Microsoft Sans Serif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603991" y="2090640"/>
            <a:ext cx="4686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6C747D"/>
                </a:solidFill>
                <a:latin typeface="Microsoft Sans Serif"/>
                <a:cs typeface="Microsoft Sans Serif"/>
              </a:rPr>
              <a:t>Lợi</a:t>
            </a:r>
            <a:r>
              <a:rPr sz="600" spc="35" dirty="0">
                <a:solidFill>
                  <a:srgbClr val="6C747D"/>
                </a:solidFill>
                <a:latin typeface="Microsoft Sans Serif"/>
                <a:cs typeface="Microsoft Sans Serif"/>
              </a:rPr>
              <a:t> </a:t>
            </a:r>
            <a:r>
              <a:rPr sz="600" dirty="0">
                <a:solidFill>
                  <a:srgbClr val="6C747D"/>
                </a:solidFill>
                <a:latin typeface="Microsoft Sans Serif"/>
                <a:cs typeface="Microsoft Sans Serif"/>
              </a:rPr>
              <a:t>ích</a:t>
            </a:r>
            <a:r>
              <a:rPr sz="600" spc="40" dirty="0">
                <a:solidFill>
                  <a:srgbClr val="6C747D"/>
                </a:solidFill>
                <a:latin typeface="Microsoft Sans Serif"/>
                <a:cs typeface="Microsoft Sans Serif"/>
              </a:rPr>
              <a:t> </a:t>
            </a:r>
            <a:r>
              <a:rPr sz="600" dirty="0">
                <a:solidFill>
                  <a:srgbClr val="6C747D"/>
                </a:solidFill>
                <a:latin typeface="Microsoft Sans Serif"/>
                <a:cs typeface="Microsoft Sans Serif"/>
              </a:rPr>
              <a:t>3</a:t>
            </a:r>
            <a:r>
              <a:rPr sz="600" spc="35" dirty="0">
                <a:solidFill>
                  <a:srgbClr val="6C747D"/>
                </a:solidFill>
                <a:latin typeface="Microsoft Sans Serif"/>
                <a:cs typeface="Microsoft Sans Serif"/>
              </a:rPr>
              <a:t> </a:t>
            </a:r>
            <a:r>
              <a:rPr sz="600" spc="-25" dirty="0">
                <a:solidFill>
                  <a:srgbClr val="6C747D"/>
                </a:solidFill>
                <a:latin typeface="Microsoft Sans Serif"/>
                <a:cs typeface="Microsoft Sans Serif"/>
              </a:rPr>
              <a:t>bên</a:t>
            </a:r>
            <a:endParaRPr sz="600">
              <a:latin typeface="Microsoft Sans Serif"/>
              <a:cs typeface="Microsoft Sans Serif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-5" y="3130372"/>
            <a:ext cx="5760085" cy="109855"/>
            <a:chOff x="-5" y="3130372"/>
            <a:chExt cx="5760085" cy="109855"/>
          </a:xfrm>
        </p:grpSpPr>
        <p:sp>
          <p:nvSpPr>
            <p:cNvPr id="29" name="object 29"/>
            <p:cNvSpPr/>
            <p:nvPr/>
          </p:nvSpPr>
          <p:spPr>
            <a:xfrm>
              <a:off x="0" y="3130372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26"/>
                  </a:lnTo>
                  <a:lnTo>
                    <a:pt x="1919973" y="10962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7F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19973" y="3130372"/>
              <a:ext cx="3840479" cy="109855"/>
            </a:xfrm>
            <a:custGeom>
              <a:avLst/>
              <a:gdLst/>
              <a:ahLst/>
              <a:cxnLst/>
              <a:rect l="l" t="t" r="r" b="b"/>
              <a:pathLst>
                <a:path w="3840479" h="109855">
                  <a:moveTo>
                    <a:pt x="3839946" y="0"/>
                  </a:moveTo>
                  <a:lnTo>
                    <a:pt x="1919973" y="0"/>
                  </a:lnTo>
                  <a:lnTo>
                    <a:pt x="0" y="0"/>
                  </a:lnTo>
                  <a:lnTo>
                    <a:pt x="0" y="109626"/>
                  </a:lnTo>
                  <a:lnTo>
                    <a:pt x="1919973" y="109626"/>
                  </a:lnTo>
                  <a:lnTo>
                    <a:pt x="3839946" y="109626"/>
                  </a:lnTo>
                  <a:lnTo>
                    <a:pt x="3839946" y="0"/>
                  </a:lnTo>
                  <a:close/>
                </a:path>
              </a:pathLst>
            </a:custGeom>
            <a:solidFill>
              <a:srgbClr val="0C2B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-5" y="3214693"/>
              <a:ext cx="0" cy="25400"/>
            </a:xfrm>
            <a:custGeom>
              <a:avLst/>
              <a:gdLst/>
              <a:ahLst/>
              <a:cxnLst/>
              <a:rect l="l" t="t" r="r" b="b"/>
              <a:pathLst>
                <a:path h="25400">
                  <a:moveTo>
                    <a:pt x="0" y="25305"/>
                  </a:moveTo>
                  <a:lnTo>
                    <a:pt x="0" y="0"/>
                  </a:lnTo>
                  <a:lnTo>
                    <a:pt x="0" y="25305"/>
                  </a:lnTo>
                  <a:close/>
                </a:path>
                <a:path h="25400">
                  <a:moveTo>
                    <a:pt x="0" y="0"/>
                  </a:moveTo>
                </a:path>
              </a:pathLst>
            </a:custGeom>
            <a:solidFill>
              <a:srgbClr val="A3CB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Hiếu</a:t>
            </a:r>
            <a:r>
              <a:rPr spc="35" dirty="0"/>
              <a:t> </a:t>
            </a:r>
            <a:r>
              <a:rPr dirty="0">
                <a:latin typeface="Cambria"/>
                <a:cs typeface="Cambria"/>
              </a:rPr>
              <a:t>·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dirty="0"/>
              <a:t>Trọng</a:t>
            </a:r>
            <a:r>
              <a:rPr spc="35" dirty="0"/>
              <a:t> </a:t>
            </a:r>
            <a:r>
              <a:rPr dirty="0">
                <a:latin typeface="Cambria"/>
                <a:cs typeface="Cambria"/>
              </a:rPr>
              <a:t>·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dirty="0"/>
              <a:t>Quang</a:t>
            </a:r>
            <a:r>
              <a:rPr spc="245" dirty="0"/>
              <a:t> </a:t>
            </a:r>
            <a:r>
              <a:rPr dirty="0"/>
              <a:t>(ĐH</a:t>
            </a:r>
            <a:r>
              <a:rPr spc="40" dirty="0"/>
              <a:t> </a:t>
            </a:r>
            <a:r>
              <a:rPr spc="-10" dirty="0"/>
              <a:t>Phenikaa)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2441397" y="3122434"/>
            <a:ext cx="877569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Cước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phí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Taxi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·</a:t>
            </a:r>
            <a:r>
              <a:rPr sz="600" spc="55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Phenikaa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20" dirty="0"/>
              <a:t>2026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spc="-30" dirty="0"/>
              <a:t>3</a:t>
            </a:fld>
            <a:r>
              <a:rPr spc="-50" dirty="0"/>
              <a:t> </a:t>
            </a:r>
            <a:r>
              <a:rPr spc="150" dirty="0"/>
              <a:t>/</a:t>
            </a:r>
            <a:r>
              <a:rPr spc="-50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7363"/>
            <a:ext cx="18046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Mục</a:t>
            </a:r>
            <a:r>
              <a:rPr spc="15" dirty="0"/>
              <a:t> </a:t>
            </a:r>
            <a:r>
              <a:rPr spc="-30" dirty="0"/>
              <a:t>tiêu</a:t>
            </a:r>
            <a:r>
              <a:rPr spc="10" dirty="0"/>
              <a:t> </a:t>
            </a:r>
            <a:r>
              <a:rPr spc="-45" dirty="0"/>
              <a:t>Nghiên</a:t>
            </a:r>
            <a:r>
              <a:rPr spc="15" dirty="0"/>
              <a:t> </a:t>
            </a:r>
            <a:r>
              <a:rPr spc="-45" dirty="0"/>
              <a:t>cứu</a:t>
            </a:r>
          </a:p>
        </p:txBody>
      </p:sp>
      <p:sp>
        <p:nvSpPr>
          <p:cNvPr id="3" name="object 3"/>
          <p:cNvSpPr/>
          <p:nvPr/>
        </p:nvSpPr>
        <p:spPr>
          <a:xfrm>
            <a:off x="121144" y="586866"/>
            <a:ext cx="2724150" cy="471805"/>
          </a:xfrm>
          <a:custGeom>
            <a:avLst/>
            <a:gdLst/>
            <a:ahLst/>
            <a:cxnLst/>
            <a:rect l="l" t="t" r="r" b="b"/>
            <a:pathLst>
              <a:path w="2724150" h="471805">
                <a:moveTo>
                  <a:pt x="267292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471264"/>
                </a:lnTo>
                <a:lnTo>
                  <a:pt x="2723725" y="471264"/>
                </a:lnTo>
                <a:lnTo>
                  <a:pt x="2723725" y="50800"/>
                </a:lnTo>
                <a:lnTo>
                  <a:pt x="2719716" y="31075"/>
                </a:lnTo>
                <a:lnTo>
                  <a:pt x="2708802" y="14922"/>
                </a:lnTo>
                <a:lnTo>
                  <a:pt x="2692649" y="4008"/>
                </a:lnTo>
                <a:lnTo>
                  <a:pt x="2672924" y="0"/>
                </a:lnTo>
                <a:close/>
              </a:path>
            </a:pathLst>
          </a:custGeom>
          <a:solidFill>
            <a:srgbClr val="BF39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1945" y="626500"/>
            <a:ext cx="2263775" cy="433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35"/>
              </a:lnSpc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</a:t>
            </a:r>
            <a:r>
              <a:rPr sz="1400" spc="4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/>
                <a:cs typeface="Tahoma"/>
              </a:rPr>
              <a:t>Mục</a:t>
            </a:r>
            <a:r>
              <a:rPr sz="1400" b="1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30" dirty="0">
                <a:solidFill>
                  <a:srgbClr val="FFFFFF"/>
                </a:solidFill>
                <a:latin typeface="Tahoma"/>
                <a:cs typeface="Tahoma"/>
              </a:rPr>
              <a:t>tiêu</a:t>
            </a:r>
            <a:r>
              <a:rPr sz="1400" b="1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1400" b="1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/>
                <a:cs typeface="Tahoma"/>
              </a:rPr>
              <a:t>–</a:t>
            </a:r>
            <a:r>
              <a:rPr sz="1400" b="1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Tahoma"/>
                <a:cs typeface="Tahoma"/>
              </a:rPr>
              <a:t>Phân</a:t>
            </a:r>
            <a:r>
              <a:rPr sz="1400" b="1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45" dirty="0">
                <a:solidFill>
                  <a:srgbClr val="FFFFFF"/>
                </a:solidFill>
                <a:latin typeface="Tahoma"/>
                <a:cs typeface="Tahoma"/>
              </a:rPr>
              <a:t>tích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400" b="1" spc="30" dirty="0">
                <a:solidFill>
                  <a:srgbClr val="FFFFFF"/>
                </a:solidFill>
                <a:latin typeface="Tahoma"/>
                <a:cs typeface="Tahoma"/>
              </a:rPr>
              <a:t>EDA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1144" y="1045476"/>
            <a:ext cx="2724150" cy="653881"/>
            <a:chOff x="121144" y="1045476"/>
            <a:chExt cx="2724150" cy="653881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144" y="1045476"/>
              <a:ext cx="2723725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21144" y="1089757"/>
              <a:ext cx="2724150" cy="609600"/>
            </a:xfrm>
            <a:custGeom>
              <a:avLst/>
              <a:gdLst/>
              <a:ahLst/>
              <a:cxnLst/>
              <a:rect l="l" t="t" r="r" b="b"/>
              <a:pathLst>
                <a:path w="2724150" h="609600">
                  <a:moveTo>
                    <a:pt x="2723725" y="0"/>
                  </a:moveTo>
                  <a:lnTo>
                    <a:pt x="0" y="0"/>
                  </a:lnTo>
                  <a:lnTo>
                    <a:pt x="0" y="558460"/>
                  </a:lnTo>
                  <a:lnTo>
                    <a:pt x="4008" y="578185"/>
                  </a:lnTo>
                  <a:lnTo>
                    <a:pt x="14922" y="594338"/>
                  </a:lnTo>
                  <a:lnTo>
                    <a:pt x="31075" y="605252"/>
                  </a:lnTo>
                  <a:lnTo>
                    <a:pt x="50800" y="609261"/>
                  </a:lnTo>
                  <a:lnTo>
                    <a:pt x="2672924" y="609261"/>
                  </a:lnTo>
                  <a:lnTo>
                    <a:pt x="2692649" y="605252"/>
                  </a:lnTo>
                  <a:lnTo>
                    <a:pt x="2708802" y="594338"/>
                  </a:lnTo>
                  <a:lnTo>
                    <a:pt x="2719716" y="578185"/>
                  </a:lnTo>
                  <a:lnTo>
                    <a:pt x="2723725" y="558460"/>
                  </a:lnTo>
                  <a:lnTo>
                    <a:pt x="2723725" y="0"/>
                  </a:lnTo>
                  <a:close/>
                </a:path>
              </a:pathLst>
            </a:custGeom>
            <a:solidFill>
              <a:srgbClr val="FF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71945" y="1093619"/>
            <a:ext cx="2724150" cy="574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0193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1B1B2D"/>
                </a:solidFill>
                <a:latin typeface="Tahoma"/>
                <a:cs typeface="Tahoma"/>
              </a:rPr>
              <a:t>Phân</a:t>
            </a:r>
            <a:r>
              <a:rPr sz="1200" spc="-8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1B1B2D"/>
                </a:solidFill>
                <a:latin typeface="Tahoma"/>
                <a:cs typeface="Tahoma"/>
              </a:rPr>
              <a:t>tích</a:t>
            </a:r>
            <a:r>
              <a:rPr sz="1200" spc="-7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90" dirty="0">
                <a:solidFill>
                  <a:srgbClr val="1B1B2D"/>
                </a:solidFill>
                <a:latin typeface="Tahoma"/>
                <a:cs typeface="Tahoma"/>
              </a:rPr>
              <a:t>dữ</a:t>
            </a:r>
            <a:r>
              <a:rPr sz="120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40" dirty="0">
                <a:solidFill>
                  <a:srgbClr val="1B1B2D"/>
                </a:solidFill>
                <a:latin typeface="Tahoma"/>
                <a:cs typeface="Tahoma"/>
              </a:rPr>
              <a:t>liệu</a:t>
            </a:r>
            <a:r>
              <a:rPr sz="1200" spc="-3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1B1B2D"/>
                </a:solidFill>
                <a:latin typeface="Tahoma"/>
                <a:cs typeface="Tahoma"/>
              </a:rPr>
              <a:t>hành</a:t>
            </a:r>
            <a:r>
              <a:rPr sz="1200" spc="-3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1B1B2D"/>
                </a:solidFill>
                <a:latin typeface="Tahoma"/>
                <a:cs typeface="Tahoma"/>
              </a:rPr>
              <a:t>trình</a:t>
            </a:r>
            <a:r>
              <a:rPr sz="1200" spc="-3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110" dirty="0">
                <a:solidFill>
                  <a:srgbClr val="1B1B2D"/>
                </a:solidFill>
                <a:latin typeface="Tahoma"/>
                <a:cs typeface="Tahoma"/>
              </a:rPr>
              <a:t>để</a:t>
            </a:r>
            <a:r>
              <a:rPr sz="1200" spc="1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rgbClr val="1B1B2D"/>
                </a:solidFill>
                <a:latin typeface="Tahoma"/>
                <a:cs typeface="Tahoma"/>
              </a:rPr>
              <a:t>xác</a:t>
            </a:r>
            <a:r>
              <a:rPr sz="1200" spc="-4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60" dirty="0">
                <a:solidFill>
                  <a:srgbClr val="1B1B2D"/>
                </a:solidFill>
                <a:latin typeface="Tahoma"/>
                <a:cs typeface="Tahoma"/>
              </a:rPr>
              <a:t>định </a:t>
            </a:r>
            <a:r>
              <a:rPr sz="1200" spc="-20" dirty="0">
                <a:solidFill>
                  <a:srgbClr val="1B1B2D"/>
                </a:solidFill>
                <a:latin typeface="Tahoma"/>
                <a:cs typeface="Tahoma"/>
              </a:rPr>
              <a:t>các</a:t>
            </a:r>
            <a:r>
              <a:rPr sz="1200" spc="-7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100" dirty="0">
                <a:solidFill>
                  <a:srgbClr val="1B1B2D"/>
                </a:solidFill>
                <a:latin typeface="Tahoma"/>
                <a:cs typeface="Tahoma"/>
              </a:rPr>
              <a:t>yếu</a:t>
            </a:r>
            <a:r>
              <a:rPr sz="1200" spc="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1B1B2D"/>
                </a:solidFill>
                <a:latin typeface="Tahoma"/>
                <a:cs typeface="Tahoma"/>
              </a:rPr>
              <a:t>tố</a:t>
            </a:r>
            <a:r>
              <a:rPr sz="1200" spc="-4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1B1B2D"/>
                </a:solidFill>
                <a:latin typeface="Tahoma"/>
                <a:cs typeface="Tahoma"/>
              </a:rPr>
              <a:t>ảnh</a:t>
            </a:r>
            <a:r>
              <a:rPr sz="1200" spc="-2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90" dirty="0">
                <a:solidFill>
                  <a:srgbClr val="1B1B2D"/>
                </a:solidFill>
                <a:latin typeface="Tahoma"/>
                <a:cs typeface="Tahoma"/>
              </a:rPr>
              <a:t>hưởng</a:t>
            </a:r>
            <a:r>
              <a:rPr sz="120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95" dirty="0">
                <a:solidFill>
                  <a:srgbClr val="1B1B2D"/>
                </a:solidFill>
                <a:latin typeface="Tahoma"/>
                <a:cs typeface="Tahoma"/>
              </a:rPr>
              <a:t>đến</a:t>
            </a:r>
            <a:r>
              <a:rPr sz="120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1B1B2D"/>
                </a:solidFill>
                <a:latin typeface="Tahoma"/>
                <a:cs typeface="Tahoma"/>
              </a:rPr>
              <a:t>cước</a:t>
            </a:r>
            <a:r>
              <a:rPr sz="1200" spc="-2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1B1B2D"/>
                </a:solidFill>
                <a:latin typeface="Tahoma"/>
                <a:cs typeface="Tahoma"/>
              </a:rPr>
              <a:t>phí</a:t>
            </a:r>
            <a:r>
              <a:rPr sz="1200" spc="-25" dirty="0">
                <a:solidFill>
                  <a:srgbClr val="1B1B2D"/>
                </a:solidFill>
                <a:latin typeface="Tahoma"/>
                <a:cs typeface="Tahoma"/>
              </a:rPr>
              <a:t> và </a:t>
            </a:r>
            <a:r>
              <a:rPr sz="1200" spc="-80" dirty="0">
                <a:solidFill>
                  <a:srgbClr val="1B1B2D"/>
                </a:solidFill>
                <a:latin typeface="Tahoma"/>
                <a:cs typeface="Tahoma"/>
              </a:rPr>
              <a:t>mức</a:t>
            </a:r>
            <a:r>
              <a:rPr sz="1200" spc="-1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1B1B2D"/>
                </a:solidFill>
                <a:latin typeface="Tahoma"/>
                <a:cs typeface="Tahoma"/>
              </a:rPr>
              <a:t>độ</a:t>
            </a:r>
            <a:r>
              <a:rPr sz="1200" spc="-4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1B1B2D"/>
                </a:solidFill>
                <a:latin typeface="Tahoma"/>
                <a:cs typeface="Tahoma"/>
              </a:rPr>
              <a:t>tác</a:t>
            </a:r>
            <a:r>
              <a:rPr sz="1200" spc="-5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1B1B2D"/>
                </a:solidFill>
                <a:latin typeface="Tahoma"/>
                <a:cs typeface="Tahoma"/>
              </a:rPr>
              <a:t>động.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7810" y="1790001"/>
            <a:ext cx="2724150" cy="471805"/>
          </a:xfrm>
          <a:custGeom>
            <a:avLst/>
            <a:gdLst/>
            <a:ahLst/>
            <a:cxnLst/>
            <a:rect l="l" t="t" r="r" b="b"/>
            <a:pathLst>
              <a:path w="2724150" h="471805">
                <a:moveTo>
                  <a:pt x="267292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471264"/>
                </a:lnTo>
                <a:lnTo>
                  <a:pt x="2723725" y="471264"/>
                </a:lnTo>
                <a:lnTo>
                  <a:pt x="2723725" y="50800"/>
                </a:lnTo>
                <a:lnTo>
                  <a:pt x="2719716" y="31075"/>
                </a:lnTo>
                <a:lnTo>
                  <a:pt x="2708802" y="14922"/>
                </a:lnTo>
                <a:lnTo>
                  <a:pt x="2692649" y="4008"/>
                </a:lnTo>
                <a:lnTo>
                  <a:pt x="2672924" y="0"/>
                </a:lnTo>
                <a:close/>
              </a:path>
            </a:pathLst>
          </a:custGeom>
          <a:solidFill>
            <a:srgbClr val="BF39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20719" y="1799597"/>
            <a:ext cx="2673141" cy="420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35"/>
              </a:lnSpc>
            </a:pPr>
            <a:r>
              <a:rPr sz="1400" spc="390" dirty="0">
                <a:solidFill>
                  <a:srgbClr val="FFFFFF"/>
                </a:solidFill>
                <a:latin typeface="Arial MT"/>
                <a:cs typeface="Arial MT"/>
              </a:rPr>
              <a:t></a:t>
            </a:r>
            <a:r>
              <a:rPr sz="1400" spc="4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/>
                <a:cs typeface="Tahoma"/>
              </a:rPr>
              <a:t>Mục</a:t>
            </a:r>
            <a:r>
              <a:rPr sz="1400" b="1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30" dirty="0">
                <a:solidFill>
                  <a:srgbClr val="FFFFFF"/>
                </a:solidFill>
                <a:latin typeface="Tahoma"/>
                <a:cs typeface="Tahoma"/>
              </a:rPr>
              <a:t>tiêu</a:t>
            </a:r>
            <a:r>
              <a:rPr sz="1400" b="1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400" b="1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/>
                <a:cs typeface="Tahoma"/>
              </a:rPr>
              <a:t>–</a:t>
            </a:r>
            <a:r>
              <a:rPr sz="1400" b="1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/>
                <a:cs typeface="Tahoma"/>
              </a:rPr>
              <a:t>Xây</a:t>
            </a:r>
            <a:r>
              <a:rPr sz="1400" b="1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65" dirty="0">
                <a:solidFill>
                  <a:srgbClr val="FFFFFF"/>
                </a:solidFill>
                <a:latin typeface="Tahoma"/>
                <a:cs typeface="Tahoma"/>
              </a:rPr>
              <a:t>dựng</a:t>
            </a:r>
            <a:r>
              <a:rPr sz="1400" b="1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70" dirty="0">
                <a:solidFill>
                  <a:srgbClr val="FFFFFF"/>
                </a:solidFill>
                <a:latin typeface="Tahoma"/>
                <a:cs typeface="Tahoma"/>
              </a:rPr>
              <a:t>mô</a:t>
            </a:r>
            <a:endParaRPr sz="1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400" b="1" spc="-20" dirty="0">
                <a:solidFill>
                  <a:srgbClr val="FFFFFF"/>
                </a:solidFill>
                <a:latin typeface="Tahoma"/>
                <a:cs typeface="Tahoma"/>
              </a:rPr>
              <a:t>hình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6405" y="2236050"/>
            <a:ext cx="2724150" cy="822778"/>
            <a:chOff x="121144" y="2417546"/>
            <a:chExt cx="2724150" cy="822778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144" y="2417546"/>
              <a:ext cx="2723725" cy="5060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21144" y="2461814"/>
              <a:ext cx="2724150" cy="778510"/>
            </a:xfrm>
            <a:custGeom>
              <a:avLst/>
              <a:gdLst/>
              <a:ahLst/>
              <a:cxnLst/>
              <a:rect l="l" t="t" r="r" b="b"/>
              <a:pathLst>
                <a:path w="2724150" h="778510">
                  <a:moveTo>
                    <a:pt x="2723725" y="0"/>
                  </a:moveTo>
                  <a:lnTo>
                    <a:pt x="0" y="0"/>
                  </a:lnTo>
                  <a:lnTo>
                    <a:pt x="0" y="741925"/>
                  </a:lnTo>
                  <a:lnTo>
                    <a:pt x="4008" y="761649"/>
                  </a:lnTo>
                  <a:lnTo>
                    <a:pt x="14922" y="777802"/>
                  </a:lnTo>
                  <a:lnTo>
                    <a:pt x="15486" y="778183"/>
                  </a:lnTo>
                  <a:lnTo>
                    <a:pt x="2708239" y="778183"/>
                  </a:lnTo>
                  <a:lnTo>
                    <a:pt x="2708802" y="777802"/>
                  </a:lnTo>
                  <a:lnTo>
                    <a:pt x="2719716" y="761649"/>
                  </a:lnTo>
                  <a:lnTo>
                    <a:pt x="2723725" y="741925"/>
                  </a:lnTo>
                  <a:lnTo>
                    <a:pt x="2723725" y="0"/>
                  </a:lnTo>
                  <a:close/>
                </a:path>
              </a:pathLst>
            </a:custGeom>
            <a:solidFill>
              <a:srgbClr val="FF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4875" y="2246595"/>
            <a:ext cx="2394185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1B1B2D"/>
                </a:solidFill>
                <a:latin typeface="Tahoma"/>
                <a:cs typeface="Tahoma"/>
              </a:rPr>
              <a:t>Phát</a:t>
            </a:r>
            <a:r>
              <a:rPr sz="1200" spc="-6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30" dirty="0">
                <a:solidFill>
                  <a:srgbClr val="1B1B2D"/>
                </a:solidFill>
                <a:latin typeface="Tahoma"/>
                <a:cs typeface="Tahoma"/>
              </a:rPr>
              <a:t>triển </a:t>
            </a:r>
            <a:r>
              <a:rPr sz="1200" spc="-60" dirty="0">
                <a:solidFill>
                  <a:srgbClr val="1B1B2D"/>
                </a:solidFill>
                <a:latin typeface="Tahoma"/>
                <a:cs typeface="Tahoma"/>
              </a:rPr>
              <a:t>mô</a:t>
            </a:r>
            <a:r>
              <a:rPr sz="1200" spc="-2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1B1B2D"/>
                </a:solidFill>
                <a:latin typeface="Tahoma"/>
                <a:cs typeface="Tahoma"/>
              </a:rPr>
              <a:t>hình</a:t>
            </a:r>
            <a:r>
              <a:rPr sz="1200" spc="-2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90" dirty="0">
                <a:solidFill>
                  <a:srgbClr val="1B1B2D"/>
                </a:solidFill>
                <a:latin typeface="Tahoma"/>
                <a:cs typeface="Tahoma"/>
              </a:rPr>
              <a:t>dự</a:t>
            </a:r>
            <a:r>
              <a:rPr sz="1200" spc="-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70" dirty="0">
                <a:solidFill>
                  <a:srgbClr val="1B1B2D"/>
                </a:solidFill>
                <a:latin typeface="Tahoma"/>
                <a:cs typeface="Tahoma"/>
              </a:rPr>
              <a:t>đoán</a:t>
            </a:r>
            <a:r>
              <a:rPr sz="1200" spc="-2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1B1B2D"/>
                </a:solidFill>
                <a:latin typeface="Tahoma"/>
                <a:cs typeface="Tahoma"/>
              </a:rPr>
              <a:t>cước</a:t>
            </a:r>
            <a:r>
              <a:rPr sz="1200" spc="-3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1B1B2D"/>
                </a:solidFill>
                <a:latin typeface="Tahoma"/>
                <a:cs typeface="Tahoma"/>
              </a:rPr>
              <a:t>phí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0719" y="2430687"/>
            <a:ext cx="2462956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45" dirty="0">
                <a:solidFill>
                  <a:srgbClr val="1B1B2D"/>
                </a:solidFill>
                <a:latin typeface="Tahoma"/>
                <a:cs typeface="Tahoma"/>
              </a:rPr>
              <a:t>chính</a:t>
            </a:r>
            <a:r>
              <a:rPr sz="1200" spc="-2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rgbClr val="1B1B2D"/>
                </a:solidFill>
                <a:latin typeface="Tahoma"/>
                <a:cs typeface="Tahoma"/>
              </a:rPr>
              <a:t>xác</a:t>
            </a:r>
            <a:r>
              <a:rPr sz="1200" spc="-2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1B1B2D"/>
                </a:solidFill>
                <a:latin typeface="Tahoma"/>
                <a:cs typeface="Tahoma"/>
              </a:rPr>
              <a:t>(LR,</a:t>
            </a:r>
            <a:r>
              <a:rPr sz="1200" spc="-2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40" dirty="0">
                <a:solidFill>
                  <a:srgbClr val="1B1B2D"/>
                </a:solidFill>
                <a:latin typeface="Tahoma"/>
                <a:cs typeface="Tahoma"/>
              </a:rPr>
              <a:t>Decision</a:t>
            </a:r>
            <a:r>
              <a:rPr sz="1200" spc="-2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1B1B2D"/>
                </a:solidFill>
                <a:latin typeface="Tahoma"/>
                <a:cs typeface="Tahoma"/>
              </a:rPr>
              <a:t>Tree,</a:t>
            </a:r>
            <a:r>
              <a:rPr sz="1200" spc="-1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1B1B2D"/>
                </a:solidFill>
                <a:latin typeface="Tahoma"/>
                <a:cs typeface="Tahoma"/>
              </a:rPr>
              <a:t>Random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915170" y="586866"/>
            <a:ext cx="2724150" cy="471805"/>
          </a:xfrm>
          <a:custGeom>
            <a:avLst/>
            <a:gdLst/>
            <a:ahLst/>
            <a:cxnLst/>
            <a:rect l="l" t="t" r="r" b="b"/>
            <a:pathLst>
              <a:path w="2724150" h="471805">
                <a:moveTo>
                  <a:pt x="267292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471264"/>
                </a:lnTo>
                <a:lnTo>
                  <a:pt x="2723725" y="471264"/>
                </a:lnTo>
                <a:lnTo>
                  <a:pt x="2723725" y="50800"/>
                </a:lnTo>
                <a:lnTo>
                  <a:pt x="2719716" y="31075"/>
                </a:lnTo>
                <a:lnTo>
                  <a:pt x="2708802" y="14922"/>
                </a:lnTo>
                <a:lnTo>
                  <a:pt x="2692649" y="4008"/>
                </a:lnTo>
                <a:lnTo>
                  <a:pt x="2672924" y="0"/>
                </a:lnTo>
                <a:close/>
              </a:path>
            </a:pathLst>
          </a:custGeom>
          <a:solidFill>
            <a:srgbClr val="26AD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965970" y="626500"/>
            <a:ext cx="2482850" cy="433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35"/>
              </a:lnSpc>
            </a:pPr>
            <a:r>
              <a:rPr sz="1400" spc="390" dirty="0">
                <a:solidFill>
                  <a:srgbClr val="FFFFFF"/>
                </a:solidFill>
                <a:latin typeface="Arial MT"/>
                <a:cs typeface="Arial MT"/>
              </a:rPr>
              <a:t></a:t>
            </a:r>
            <a:r>
              <a:rPr sz="1400" spc="4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/>
                <a:cs typeface="Tahoma"/>
              </a:rPr>
              <a:t>Mục</a:t>
            </a:r>
            <a:r>
              <a:rPr sz="1400" b="1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30" dirty="0">
                <a:solidFill>
                  <a:srgbClr val="FFFFFF"/>
                </a:solidFill>
                <a:latin typeface="Tahoma"/>
                <a:cs typeface="Tahoma"/>
              </a:rPr>
              <a:t>tiêu</a:t>
            </a:r>
            <a:r>
              <a:rPr sz="1400" b="1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r>
              <a:rPr sz="1400" b="1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/>
                <a:cs typeface="Tahoma"/>
              </a:rPr>
              <a:t>–</a:t>
            </a:r>
            <a:r>
              <a:rPr sz="1400" b="1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/>
                <a:cs typeface="Tahoma"/>
              </a:rPr>
              <a:t>So</a:t>
            </a:r>
            <a:r>
              <a:rPr sz="1400" b="1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65" dirty="0">
                <a:solidFill>
                  <a:srgbClr val="FFFFFF"/>
                </a:solidFill>
                <a:latin typeface="Tahoma"/>
                <a:cs typeface="Tahoma"/>
              </a:rPr>
              <a:t>sánh</a:t>
            </a:r>
            <a:r>
              <a:rPr sz="1400" b="1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75" dirty="0">
                <a:solidFill>
                  <a:srgbClr val="FFFFFF"/>
                </a:solidFill>
                <a:latin typeface="Tahoma"/>
                <a:cs typeface="Tahoma"/>
              </a:rPr>
              <a:t>mô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400" b="1" spc="-20" dirty="0">
                <a:solidFill>
                  <a:srgbClr val="FFFFFF"/>
                </a:solidFill>
                <a:latin typeface="Tahoma"/>
                <a:cs typeface="Tahoma"/>
              </a:rPr>
              <a:t>hình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915170" y="1045476"/>
            <a:ext cx="2724150" cy="624038"/>
            <a:chOff x="2915170" y="1045476"/>
            <a:chExt cx="2724150" cy="624038"/>
          </a:xfrm>
        </p:grpSpPr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15170" y="1045476"/>
              <a:ext cx="2723725" cy="5060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915170" y="1089759"/>
              <a:ext cx="2724150" cy="579755"/>
            </a:xfrm>
            <a:custGeom>
              <a:avLst/>
              <a:gdLst/>
              <a:ahLst/>
              <a:cxnLst/>
              <a:rect l="l" t="t" r="r" b="b"/>
              <a:pathLst>
                <a:path w="2724150" h="579755">
                  <a:moveTo>
                    <a:pt x="2723725" y="0"/>
                  </a:moveTo>
                  <a:lnTo>
                    <a:pt x="0" y="0"/>
                  </a:lnTo>
                  <a:lnTo>
                    <a:pt x="0" y="528944"/>
                  </a:lnTo>
                  <a:lnTo>
                    <a:pt x="4008" y="548669"/>
                  </a:lnTo>
                  <a:lnTo>
                    <a:pt x="14922" y="564822"/>
                  </a:lnTo>
                  <a:lnTo>
                    <a:pt x="31075" y="575736"/>
                  </a:lnTo>
                  <a:lnTo>
                    <a:pt x="50800" y="579745"/>
                  </a:lnTo>
                  <a:lnTo>
                    <a:pt x="2672924" y="579745"/>
                  </a:lnTo>
                  <a:lnTo>
                    <a:pt x="2692649" y="575736"/>
                  </a:lnTo>
                  <a:lnTo>
                    <a:pt x="2708802" y="564822"/>
                  </a:lnTo>
                  <a:lnTo>
                    <a:pt x="2719716" y="548669"/>
                  </a:lnTo>
                  <a:lnTo>
                    <a:pt x="2723725" y="528944"/>
                  </a:lnTo>
                  <a:lnTo>
                    <a:pt x="2723725" y="0"/>
                  </a:lnTo>
                  <a:close/>
                </a:path>
              </a:pathLst>
            </a:custGeom>
            <a:solidFill>
              <a:srgbClr val="EA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927870" y="1093619"/>
            <a:ext cx="2626360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95"/>
              </a:spcBef>
            </a:pPr>
            <a:r>
              <a:rPr sz="1200" spc="-45" dirty="0">
                <a:solidFill>
                  <a:srgbClr val="1B1B2D"/>
                </a:solidFill>
                <a:latin typeface="Tahoma"/>
                <a:cs typeface="Tahoma"/>
              </a:rPr>
              <a:t>Đánh</a:t>
            </a:r>
            <a:r>
              <a:rPr sz="1200" spc="-5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rgbClr val="1B1B2D"/>
                </a:solidFill>
                <a:latin typeface="Tahoma"/>
                <a:cs typeface="Tahoma"/>
              </a:rPr>
              <a:t>giá</a:t>
            </a:r>
            <a:r>
              <a:rPr sz="1200" spc="-2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1B1B2D"/>
                </a:solidFill>
                <a:latin typeface="Tahoma"/>
                <a:cs typeface="Tahoma"/>
              </a:rPr>
              <a:t>và</a:t>
            </a:r>
            <a:r>
              <a:rPr sz="1200" spc="-2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60" dirty="0">
                <a:solidFill>
                  <a:srgbClr val="1B1B2D"/>
                </a:solidFill>
                <a:latin typeface="Tahoma"/>
                <a:cs typeface="Tahoma"/>
              </a:rPr>
              <a:t>so</a:t>
            </a:r>
            <a:r>
              <a:rPr sz="1200" spc="-2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75" dirty="0">
                <a:solidFill>
                  <a:srgbClr val="1B1B2D"/>
                </a:solidFill>
                <a:latin typeface="Tahoma"/>
                <a:cs typeface="Tahoma"/>
              </a:rPr>
              <a:t>sánh</a:t>
            </a:r>
            <a:r>
              <a:rPr sz="1200" spc="-2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60" dirty="0">
                <a:solidFill>
                  <a:srgbClr val="1B1B2D"/>
                </a:solidFill>
                <a:latin typeface="Tahoma"/>
                <a:cs typeface="Tahoma"/>
              </a:rPr>
              <a:t>hiệu</a:t>
            </a:r>
            <a:r>
              <a:rPr sz="1200" spc="-2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1B1B2D"/>
                </a:solidFill>
                <a:latin typeface="Tahoma"/>
                <a:cs typeface="Tahoma"/>
              </a:rPr>
              <a:t>suất</a:t>
            </a:r>
            <a:r>
              <a:rPr sz="1200" spc="-3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70" dirty="0">
                <a:solidFill>
                  <a:srgbClr val="1B1B2D"/>
                </a:solidFill>
                <a:latin typeface="Tahoma"/>
                <a:cs typeface="Tahoma"/>
              </a:rPr>
              <a:t>qua</a:t>
            </a:r>
            <a:r>
              <a:rPr sz="1200" spc="-20" dirty="0">
                <a:solidFill>
                  <a:srgbClr val="1B1B2D"/>
                </a:solidFill>
                <a:latin typeface="Tahoma"/>
                <a:cs typeface="Tahoma"/>
              </a:rPr>
              <a:t> MAE, </a:t>
            </a:r>
            <a:r>
              <a:rPr sz="1200" dirty="0">
                <a:solidFill>
                  <a:srgbClr val="1B1B2D"/>
                </a:solidFill>
                <a:latin typeface="Tahoma"/>
                <a:cs typeface="Tahoma"/>
              </a:rPr>
              <a:t>MSE,</a:t>
            </a:r>
            <a:r>
              <a:rPr sz="1200" spc="-2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1B1B2D"/>
                </a:solidFill>
                <a:latin typeface="Tahoma"/>
                <a:cs typeface="Tahoma"/>
              </a:rPr>
              <a:t>RMSE, </a:t>
            </a:r>
            <a:r>
              <a:rPr sz="1200" i="1" dirty="0">
                <a:solidFill>
                  <a:srgbClr val="1B1B2D"/>
                </a:solidFill>
                <a:latin typeface="Arial"/>
                <a:cs typeface="Arial"/>
              </a:rPr>
              <a:t>R</a:t>
            </a:r>
            <a:r>
              <a:rPr sz="1350" baseline="27777" dirty="0">
                <a:solidFill>
                  <a:srgbClr val="1B1B2D"/>
                </a:solidFill>
                <a:latin typeface="Calibri"/>
                <a:cs typeface="Calibri"/>
              </a:rPr>
              <a:t>2</a:t>
            </a:r>
            <a:r>
              <a:rPr sz="1350" spc="322" baseline="27777" dirty="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sz="1200" spc="-110" dirty="0">
                <a:solidFill>
                  <a:srgbClr val="1B1B2D"/>
                </a:solidFill>
                <a:latin typeface="Tahoma"/>
                <a:cs typeface="Tahoma"/>
              </a:rPr>
              <a:t>để</a:t>
            </a:r>
            <a:r>
              <a:rPr sz="1200" spc="1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rgbClr val="1B1B2D"/>
                </a:solidFill>
                <a:latin typeface="Tahoma"/>
                <a:cs typeface="Tahoma"/>
              </a:rPr>
              <a:t>xác</a:t>
            </a:r>
            <a:r>
              <a:rPr sz="1200" spc="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1B1B2D"/>
                </a:solidFill>
                <a:latin typeface="Tahoma"/>
                <a:cs typeface="Tahoma"/>
              </a:rPr>
              <a:t>định</a:t>
            </a:r>
            <a:r>
              <a:rPr sz="120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30" dirty="0">
                <a:solidFill>
                  <a:srgbClr val="1B1B2D"/>
                </a:solidFill>
                <a:latin typeface="Tahoma"/>
                <a:cs typeface="Tahoma"/>
              </a:rPr>
              <a:t>thuật</a:t>
            </a:r>
            <a:r>
              <a:rPr sz="1200" spc="-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1B1B2D"/>
                </a:solidFill>
                <a:latin typeface="Tahoma"/>
                <a:cs typeface="Tahoma"/>
              </a:rPr>
              <a:t>toán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953270" y="1460535"/>
            <a:ext cx="43180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1B1B2D"/>
                </a:solidFill>
                <a:latin typeface="Tahoma"/>
                <a:cs typeface="Tahoma"/>
              </a:rPr>
              <a:t>tối</a:t>
            </a:r>
            <a:r>
              <a:rPr sz="1200" spc="-4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1B1B2D"/>
                </a:solidFill>
                <a:latin typeface="Tahoma"/>
                <a:cs typeface="Tahoma"/>
              </a:rPr>
              <a:t>ưu.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915170" y="1929421"/>
            <a:ext cx="2724150" cy="269240"/>
          </a:xfrm>
          <a:custGeom>
            <a:avLst/>
            <a:gdLst/>
            <a:ahLst/>
            <a:cxnLst/>
            <a:rect l="l" t="t" r="r" b="b"/>
            <a:pathLst>
              <a:path w="2724150" h="269239">
                <a:moveTo>
                  <a:pt x="267292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68677"/>
                </a:lnTo>
                <a:lnTo>
                  <a:pt x="2723725" y="268677"/>
                </a:lnTo>
                <a:lnTo>
                  <a:pt x="2723725" y="50800"/>
                </a:lnTo>
                <a:lnTo>
                  <a:pt x="2719716" y="31075"/>
                </a:lnTo>
                <a:lnTo>
                  <a:pt x="2708802" y="14922"/>
                </a:lnTo>
                <a:lnTo>
                  <a:pt x="2692649" y="4008"/>
                </a:lnTo>
                <a:lnTo>
                  <a:pt x="2672924" y="0"/>
                </a:lnTo>
                <a:close/>
              </a:path>
            </a:pathLst>
          </a:custGeom>
          <a:solidFill>
            <a:srgbClr val="26AD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2965970" y="1978097"/>
            <a:ext cx="2310765" cy="205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35"/>
              </a:lnSpc>
            </a:pPr>
            <a:r>
              <a:rPr sz="1400" spc="-420" dirty="0">
                <a:solidFill>
                  <a:srgbClr val="FFFFFF"/>
                </a:solidFill>
                <a:latin typeface="Arial MT"/>
                <a:cs typeface="Arial MT"/>
              </a:rPr>
              <a:t></a:t>
            </a:r>
            <a:r>
              <a:rPr sz="1400" spc="4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/>
                <a:cs typeface="Tahoma"/>
              </a:rPr>
              <a:t>Mục</a:t>
            </a:r>
            <a:r>
              <a:rPr sz="1400" b="1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30" dirty="0">
                <a:solidFill>
                  <a:srgbClr val="FFFFFF"/>
                </a:solidFill>
                <a:latin typeface="Tahoma"/>
                <a:cs typeface="Tahoma"/>
              </a:rPr>
              <a:t>tiêu</a:t>
            </a:r>
            <a:r>
              <a:rPr sz="1400" b="1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r>
              <a:rPr sz="1400" b="1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/>
                <a:cs typeface="Tahoma"/>
              </a:rPr>
              <a:t>–</a:t>
            </a:r>
            <a:r>
              <a:rPr sz="1400" b="1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/>
                <a:cs typeface="Tahoma"/>
              </a:rPr>
              <a:t>Tối</a:t>
            </a:r>
            <a:r>
              <a:rPr sz="1400" b="1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Tahoma"/>
                <a:cs typeface="Tahoma"/>
              </a:rPr>
              <a:t>ưu</a:t>
            </a:r>
            <a:r>
              <a:rPr sz="1400" b="1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80" dirty="0">
                <a:solidFill>
                  <a:srgbClr val="FFFFFF"/>
                </a:solidFill>
                <a:latin typeface="Tahoma"/>
                <a:cs typeface="Tahoma"/>
              </a:rPr>
              <a:t>hóa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915170" y="2185441"/>
            <a:ext cx="2724150" cy="653881"/>
            <a:chOff x="2915170" y="2185441"/>
            <a:chExt cx="2724150" cy="653881"/>
          </a:xfrm>
        </p:grpSpPr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15170" y="2185441"/>
              <a:ext cx="2723725" cy="50609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915170" y="2229722"/>
              <a:ext cx="2724150" cy="609600"/>
            </a:xfrm>
            <a:custGeom>
              <a:avLst/>
              <a:gdLst/>
              <a:ahLst/>
              <a:cxnLst/>
              <a:rect l="l" t="t" r="r" b="b"/>
              <a:pathLst>
                <a:path w="2724150" h="609600">
                  <a:moveTo>
                    <a:pt x="2723725" y="0"/>
                  </a:moveTo>
                  <a:lnTo>
                    <a:pt x="0" y="0"/>
                  </a:lnTo>
                  <a:lnTo>
                    <a:pt x="0" y="558460"/>
                  </a:lnTo>
                  <a:lnTo>
                    <a:pt x="4008" y="578185"/>
                  </a:lnTo>
                  <a:lnTo>
                    <a:pt x="14922" y="594338"/>
                  </a:lnTo>
                  <a:lnTo>
                    <a:pt x="31075" y="605252"/>
                  </a:lnTo>
                  <a:lnTo>
                    <a:pt x="50800" y="609261"/>
                  </a:lnTo>
                  <a:lnTo>
                    <a:pt x="2672924" y="609261"/>
                  </a:lnTo>
                  <a:lnTo>
                    <a:pt x="2692649" y="605252"/>
                  </a:lnTo>
                  <a:lnTo>
                    <a:pt x="2708802" y="594338"/>
                  </a:lnTo>
                  <a:lnTo>
                    <a:pt x="2719716" y="578185"/>
                  </a:lnTo>
                  <a:lnTo>
                    <a:pt x="2723725" y="558460"/>
                  </a:lnTo>
                  <a:lnTo>
                    <a:pt x="2723725" y="0"/>
                  </a:lnTo>
                  <a:close/>
                </a:path>
              </a:pathLst>
            </a:custGeom>
            <a:solidFill>
              <a:srgbClr val="EA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2953270" y="2233584"/>
            <a:ext cx="2627630" cy="574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200" spc="-20" dirty="0">
                <a:solidFill>
                  <a:srgbClr val="1B1B2D"/>
                </a:solidFill>
                <a:latin typeface="Tahoma"/>
                <a:cs typeface="Tahoma"/>
              </a:rPr>
              <a:t>Đề</a:t>
            </a:r>
            <a:r>
              <a:rPr sz="1200" spc="-7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40" dirty="0">
                <a:solidFill>
                  <a:srgbClr val="1B1B2D"/>
                </a:solidFill>
                <a:latin typeface="Tahoma"/>
                <a:cs typeface="Tahoma"/>
              </a:rPr>
              <a:t>xuất</a:t>
            </a:r>
            <a:r>
              <a:rPr sz="1200" spc="-5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1B1B2D"/>
                </a:solidFill>
                <a:latin typeface="Tahoma"/>
                <a:cs typeface="Tahoma"/>
              </a:rPr>
              <a:t>giải</a:t>
            </a:r>
            <a:r>
              <a:rPr sz="1200" spc="-7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1B1B2D"/>
                </a:solidFill>
                <a:latin typeface="Tahoma"/>
                <a:cs typeface="Tahoma"/>
              </a:rPr>
              <a:t>pháp</a:t>
            </a:r>
            <a:r>
              <a:rPr sz="1200" spc="-2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1B1B2D"/>
                </a:solidFill>
                <a:latin typeface="Tahoma"/>
                <a:cs typeface="Tahoma"/>
              </a:rPr>
              <a:t>tối</a:t>
            </a:r>
            <a:r>
              <a:rPr sz="1200" spc="-4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105" dirty="0">
                <a:solidFill>
                  <a:srgbClr val="1B1B2D"/>
                </a:solidFill>
                <a:latin typeface="Tahoma"/>
                <a:cs typeface="Tahoma"/>
              </a:rPr>
              <a:t>ưu</a:t>
            </a:r>
            <a:r>
              <a:rPr sz="1200" spc="1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1B1B2D"/>
                </a:solidFill>
                <a:latin typeface="Tahoma"/>
                <a:cs typeface="Tahoma"/>
              </a:rPr>
              <a:t>chi</a:t>
            </a:r>
            <a:r>
              <a:rPr sz="1200" spc="-4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1B1B2D"/>
                </a:solidFill>
                <a:latin typeface="Tahoma"/>
                <a:cs typeface="Tahoma"/>
              </a:rPr>
              <a:t>phí</a:t>
            </a:r>
            <a:r>
              <a:rPr sz="1200" spc="-4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rgbClr val="1B1B2D"/>
                </a:solidFill>
                <a:latin typeface="Tahoma"/>
                <a:cs typeface="Tahoma"/>
              </a:rPr>
              <a:t>và</a:t>
            </a:r>
            <a:r>
              <a:rPr sz="1200" spc="-45" dirty="0">
                <a:solidFill>
                  <a:srgbClr val="1B1B2D"/>
                </a:solidFill>
                <a:latin typeface="Tahoma"/>
                <a:cs typeface="Tahoma"/>
              </a:rPr>
              <a:t> hỗ </a:t>
            </a:r>
            <a:r>
              <a:rPr sz="1200" spc="-25" dirty="0">
                <a:solidFill>
                  <a:srgbClr val="1B1B2D"/>
                </a:solidFill>
                <a:latin typeface="Tahoma"/>
                <a:cs typeface="Tahoma"/>
              </a:rPr>
              <a:t>trợ </a:t>
            </a:r>
            <a:r>
              <a:rPr sz="1200" spc="-10" dirty="0">
                <a:solidFill>
                  <a:srgbClr val="1B1B2D"/>
                </a:solidFill>
                <a:latin typeface="Tahoma"/>
                <a:cs typeface="Tahoma"/>
              </a:rPr>
              <a:t>ra</a:t>
            </a:r>
            <a:r>
              <a:rPr sz="1200" spc="-6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70" dirty="0">
                <a:solidFill>
                  <a:srgbClr val="1B1B2D"/>
                </a:solidFill>
                <a:latin typeface="Tahoma"/>
                <a:cs typeface="Tahoma"/>
              </a:rPr>
              <a:t>quyết</a:t>
            </a:r>
            <a:r>
              <a:rPr sz="1200" spc="-2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1B1B2D"/>
                </a:solidFill>
                <a:latin typeface="Tahoma"/>
                <a:cs typeface="Tahoma"/>
              </a:rPr>
              <a:t>định</a:t>
            </a:r>
            <a:r>
              <a:rPr sz="1200" spc="-2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1B1B2D"/>
                </a:solidFill>
                <a:latin typeface="Tahoma"/>
                <a:cs typeface="Tahoma"/>
              </a:rPr>
              <a:t>cho</a:t>
            </a:r>
            <a:r>
              <a:rPr sz="1200" spc="-2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1B1B2D"/>
                </a:solidFill>
                <a:latin typeface="Tahoma"/>
                <a:cs typeface="Tahoma"/>
              </a:rPr>
              <a:t>khách</a:t>
            </a:r>
            <a:r>
              <a:rPr sz="1200" spc="-2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1B1B2D"/>
                </a:solidFill>
                <a:latin typeface="Tahoma"/>
                <a:cs typeface="Tahoma"/>
              </a:rPr>
              <a:t>hàng,</a:t>
            </a:r>
            <a:r>
              <a:rPr sz="1200" spc="-3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1B1B2D"/>
                </a:solidFill>
                <a:latin typeface="Tahoma"/>
                <a:cs typeface="Tahoma"/>
              </a:rPr>
              <a:t>tài</a:t>
            </a:r>
            <a:r>
              <a:rPr sz="1200" spc="-2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90" dirty="0">
                <a:solidFill>
                  <a:srgbClr val="1B1B2D"/>
                </a:solidFill>
                <a:latin typeface="Tahoma"/>
                <a:cs typeface="Tahoma"/>
              </a:rPr>
              <a:t>xế</a:t>
            </a:r>
            <a:r>
              <a:rPr sz="1200" spc="-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1B1B2D"/>
                </a:solidFill>
                <a:latin typeface="Tahoma"/>
                <a:cs typeface="Tahoma"/>
              </a:rPr>
              <a:t>và </a:t>
            </a:r>
            <a:r>
              <a:rPr sz="1200" spc="-70" dirty="0">
                <a:solidFill>
                  <a:srgbClr val="1B1B2D"/>
                </a:solidFill>
                <a:latin typeface="Tahoma"/>
                <a:cs typeface="Tahoma"/>
              </a:rPr>
              <a:t>doanh</a:t>
            </a:r>
            <a:r>
              <a:rPr sz="120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1B1B2D"/>
                </a:solidFill>
                <a:latin typeface="Tahoma"/>
                <a:cs typeface="Tahoma"/>
              </a:rPr>
              <a:t>nghiệp.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-5" y="3130372"/>
            <a:ext cx="5760085" cy="109855"/>
            <a:chOff x="-5" y="3130372"/>
            <a:chExt cx="5760085" cy="109855"/>
          </a:xfrm>
        </p:grpSpPr>
        <p:sp>
          <p:nvSpPr>
            <p:cNvPr id="34" name="object 34"/>
            <p:cNvSpPr/>
            <p:nvPr/>
          </p:nvSpPr>
          <p:spPr>
            <a:xfrm>
              <a:off x="0" y="3130372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26"/>
                  </a:lnTo>
                  <a:lnTo>
                    <a:pt x="1919973" y="10962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7F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919960" y="3130372"/>
              <a:ext cx="3840479" cy="109855"/>
            </a:xfrm>
            <a:custGeom>
              <a:avLst/>
              <a:gdLst/>
              <a:ahLst/>
              <a:cxnLst/>
              <a:rect l="l" t="t" r="r" b="b"/>
              <a:pathLst>
                <a:path w="3840479" h="109855">
                  <a:moveTo>
                    <a:pt x="3839946" y="0"/>
                  </a:moveTo>
                  <a:lnTo>
                    <a:pt x="1919973" y="0"/>
                  </a:lnTo>
                  <a:lnTo>
                    <a:pt x="0" y="0"/>
                  </a:lnTo>
                  <a:lnTo>
                    <a:pt x="0" y="109626"/>
                  </a:lnTo>
                  <a:lnTo>
                    <a:pt x="1919973" y="109626"/>
                  </a:lnTo>
                  <a:lnTo>
                    <a:pt x="3839946" y="109626"/>
                  </a:lnTo>
                  <a:lnTo>
                    <a:pt x="3839946" y="0"/>
                  </a:lnTo>
                  <a:close/>
                </a:path>
              </a:pathLst>
            </a:custGeom>
            <a:solidFill>
              <a:srgbClr val="0C2B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-5" y="3214693"/>
              <a:ext cx="0" cy="25400"/>
            </a:xfrm>
            <a:custGeom>
              <a:avLst/>
              <a:gdLst/>
              <a:ahLst/>
              <a:cxnLst/>
              <a:rect l="l" t="t" r="r" b="b"/>
              <a:pathLst>
                <a:path h="25400">
                  <a:moveTo>
                    <a:pt x="0" y="25305"/>
                  </a:moveTo>
                  <a:lnTo>
                    <a:pt x="0" y="0"/>
                  </a:lnTo>
                  <a:lnTo>
                    <a:pt x="0" y="25305"/>
                  </a:lnTo>
                  <a:close/>
                </a:path>
                <a:path h="25400">
                  <a:moveTo>
                    <a:pt x="0" y="0"/>
                  </a:moveTo>
                </a:path>
              </a:pathLst>
            </a:custGeom>
            <a:solidFill>
              <a:srgbClr val="A3CB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20719" y="2656593"/>
            <a:ext cx="2395646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5"/>
              </a:lnSpc>
            </a:pPr>
            <a:r>
              <a:rPr sz="1200" spc="-45" dirty="0">
                <a:solidFill>
                  <a:srgbClr val="1B1B2D"/>
                </a:solidFill>
                <a:latin typeface="Tahoma"/>
                <a:cs typeface="Tahoma"/>
              </a:rPr>
              <a:t>Forest)</a:t>
            </a:r>
            <a:r>
              <a:rPr sz="1200" spc="-5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1B1B2D"/>
                </a:solidFill>
                <a:latin typeface="Tahoma"/>
                <a:cs typeface="Tahoma"/>
              </a:rPr>
              <a:t>tích</a:t>
            </a:r>
            <a:r>
              <a:rPr sz="1200" spc="-2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75" dirty="0">
                <a:solidFill>
                  <a:srgbClr val="1B1B2D"/>
                </a:solidFill>
                <a:latin typeface="Tahoma"/>
                <a:cs typeface="Tahoma"/>
              </a:rPr>
              <a:t>hợp</a:t>
            </a:r>
            <a:r>
              <a:rPr sz="1200" spc="-2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60" dirty="0">
                <a:solidFill>
                  <a:srgbClr val="1B1B2D"/>
                </a:solidFill>
                <a:latin typeface="Tahoma"/>
                <a:cs typeface="Tahoma"/>
              </a:rPr>
              <a:t>chuẩn</a:t>
            </a:r>
            <a:r>
              <a:rPr sz="1200" spc="-2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1B1B2D"/>
                </a:solidFill>
                <a:latin typeface="Tahoma"/>
                <a:cs typeface="Tahoma"/>
              </a:rPr>
              <a:t>hóa</a:t>
            </a:r>
            <a:r>
              <a:rPr sz="1200" spc="-2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90" dirty="0" err="1">
                <a:solidFill>
                  <a:srgbClr val="1B1B2D"/>
                </a:solidFill>
                <a:latin typeface="Tahoma"/>
                <a:cs typeface="Tahoma"/>
              </a:rPr>
              <a:t>dữ</a:t>
            </a:r>
            <a:r>
              <a:rPr sz="1200" spc="-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40" dirty="0" err="1">
                <a:solidFill>
                  <a:srgbClr val="1B1B2D"/>
                </a:solidFill>
                <a:latin typeface="Tahoma"/>
                <a:cs typeface="Tahoma"/>
              </a:rPr>
              <a:t>liệu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Hiếu</a:t>
            </a:r>
            <a:r>
              <a:rPr spc="35" dirty="0"/>
              <a:t> </a:t>
            </a:r>
            <a:r>
              <a:rPr dirty="0">
                <a:latin typeface="Cambria"/>
                <a:cs typeface="Cambria"/>
              </a:rPr>
              <a:t>·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dirty="0"/>
              <a:t>Trọng</a:t>
            </a:r>
            <a:r>
              <a:rPr spc="35" dirty="0"/>
              <a:t> </a:t>
            </a:r>
            <a:r>
              <a:rPr dirty="0">
                <a:latin typeface="Cambria"/>
                <a:cs typeface="Cambria"/>
              </a:rPr>
              <a:t>·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dirty="0"/>
              <a:t>Quang</a:t>
            </a:r>
            <a:r>
              <a:rPr spc="245" dirty="0"/>
              <a:t> </a:t>
            </a:r>
            <a:r>
              <a:rPr dirty="0"/>
              <a:t>(ĐH</a:t>
            </a:r>
            <a:r>
              <a:rPr spc="40" dirty="0"/>
              <a:t> </a:t>
            </a:r>
            <a:r>
              <a:rPr spc="-10" dirty="0"/>
              <a:t>Phenikaa)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2441397" y="3122434"/>
            <a:ext cx="877569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5" action="ppaction://hlinksldjump"/>
              </a:rPr>
              <a:t>Cước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5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5" action="ppaction://hlinksldjump"/>
              </a:rPr>
              <a:t>phí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5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5" action="ppaction://hlinksldjump"/>
              </a:rPr>
              <a:t>Taxi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5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·</a:t>
            </a:r>
            <a:r>
              <a:rPr sz="600" spc="5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Microsoft Sans Serif"/>
                <a:cs typeface="Microsoft Sans Serif"/>
                <a:hlinkClick r:id="rId5" action="ppaction://hlinksldjump"/>
              </a:rPr>
              <a:t>Phenikaa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20" dirty="0"/>
              <a:t>2026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spc="-30" dirty="0"/>
              <a:t>4</a:t>
            </a:fld>
            <a:r>
              <a:rPr spc="-50" dirty="0"/>
              <a:t> </a:t>
            </a:r>
            <a:r>
              <a:rPr spc="150" dirty="0"/>
              <a:t>/</a:t>
            </a:r>
            <a:r>
              <a:rPr spc="-50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7363"/>
            <a:ext cx="16941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Câu</a:t>
            </a:r>
            <a:r>
              <a:rPr spc="-30" dirty="0"/>
              <a:t> hỏi</a:t>
            </a:r>
            <a:r>
              <a:rPr spc="-25" dirty="0"/>
              <a:t> </a:t>
            </a:r>
            <a:r>
              <a:rPr spc="-45" dirty="0"/>
              <a:t>Nghiên</a:t>
            </a:r>
            <a:r>
              <a:rPr spc="-25" dirty="0"/>
              <a:t> </a:t>
            </a:r>
            <a:r>
              <a:rPr spc="-50" dirty="0"/>
              <a:t>cứu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083" y="471627"/>
            <a:ext cx="5513705" cy="233045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15900" indent="-203200">
              <a:lnSpc>
                <a:spcPct val="100000"/>
              </a:lnSpc>
              <a:spcBef>
                <a:spcPts val="220"/>
              </a:spcBef>
              <a:buAutoNum type="arabicPeriod"/>
              <a:tabLst>
                <a:tab pos="215900" algn="l"/>
              </a:tabLst>
            </a:pPr>
            <a:r>
              <a:rPr sz="1200" b="1" spc="-40" dirty="0">
                <a:solidFill>
                  <a:srgbClr val="0C2B54"/>
                </a:solidFill>
                <a:latin typeface="Tahoma"/>
                <a:cs typeface="Tahoma"/>
              </a:rPr>
              <a:t>Yếu </a:t>
            </a:r>
            <a:r>
              <a:rPr sz="1200" b="1" dirty="0">
                <a:solidFill>
                  <a:srgbClr val="0C2B54"/>
                </a:solidFill>
                <a:latin typeface="Tahoma"/>
                <a:cs typeface="Tahoma"/>
              </a:rPr>
              <a:t>tố</a:t>
            </a:r>
            <a:r>
              <a:rPr sz="1200" b="1" spc="-40" dirty="0">
                <a:solidFill>
                  <a:srgbClr val="0C2B54"/>
                </a:solidFill>
                <a:latin typeface="Tahoma"/>
                <a:cs typeface="Tahoma"/>
              </a:rPr>
              <a:t> </a:t>
            </a:r>
            <a:r>
              <a:rPr sz="1200" b="1" spc="-10" dirty="0">
                <a:solidFill>
                  <a:srgbClr val="0C2B54"/>
                </a:solidFill>
                <a:latin typeface="Tahoma"/>
                <a:cs typeface="Tahoma"/>
              </a:rPr>
              <a:t>tác</a:t>
            </a:r>
            <a:r>
              <a:rPr sz="1200" b="1" spc="-40" dirty="0">
                <a:solidFill>
                  <a:srgbClr val="0C2B54"/>
                </a:solidFill>
                <a:latin typeface="Tahoma"/>
                <a:cs typeface="Tahoma"/>
              </a:rPr>
              <a:t> </a:t>
            </a:r>
            <a:r>
              <a:rPr sz="1200" b="1" spc="-10" dirty="0">
                <a:solidFill>
                  <a:srgbClr val="0C2B54"/>
                </a:solidFill>
                <a:latin typeface="Tahoma"/>
                <a:cs typeface="Tahoma"/>
              </a:rPr>
              <a:t>động:</a:t>
            </a:r>
            <a:endParaRPr sz="1200">
              <a:latin typeface="Tahoma"/>
              <a:cs typeface="Tahoma"/>
            </a:endParaRPr>
          </a:p>
          <a:p>
            <a:pPr marL="216535" marR="31750">
              <a:lnSpc>
                <a:spcPts val="1440"/>
              </a:lnSpc>
              <a:spcBef>
                <a:spcPts val="50"/>
              </a:spcBef>
            </a:pPr>
            <a:r>
              <a:rPr sz="1100" spc="-30" dirty="0">
                <a:solidFill>
                  <a:srgbClr val="1B1B2D"/>
                </a:solidFill>
                <a:latin typeface="Microsoft Sans Serif"/>
                <a:cs typeface="Microsoft Sans Serif"/>
              </a:rPr>
              <a:t>Những</a:t>
            </a:r>
            <a:r>
              <a:rPr sz="1100" spc="-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65" dirty="0">
                <a:solidFill>
                  <a:srgbClr val="1B1B2D"/>
                </a:solidFill>
                <a:latin typeface="Microsoft Sans Serif"/>
                <a:cs typeface="Microsoft Sans Serif"/>
              </a:rPr>
              <a:t>yếu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tố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45" dirty="0">
                <a:solidFill>
                  <a:srgbClr val="1B1B2D"/>
                </a:solidFill>
                <a:latin typeface="Microsoft Sans Serif"/>
                <a:cs typeface="Microsoft Sans Serif"/>
              </a:rPr>
              <a:t>nào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45" dirty="0">
                <a:solidFill>
                  <a:srgbClr val="1B1B2D"/>
                </a:solidFill>
                <a:latin typeface="Microsoft Sans Serif"/>
                <a:cs typeface="Microsoft Sans Serif"/>
              </a:rPr>
              <a:t>ảnh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40" dirty="0">
                <a:solidFill>
                  <a:srgbClr val="1B1B2D"/>
                </a:solidFill>
                <a:latin typeface="Microsoft Sans Serif"/>
                <a:cs typeface="Microsoft Sans Serif"/>
              </a:rPr>
              <a:t>hưởng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55" dirty="0">
                <a:solidFill>
                  <a:srgbClr val="1B1B2D"/>
                </a:solidFill>
                <a:latin typeface="Microsoft Sans Serif"/>
                <a:cs typeface="Microsoft Sans Serif"/>
              </a:rPr>
              <a:t>đáng</a:t>
            </a:r>
            <a:r>
              <a:rPr sz="1100" spc="-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45" dirty="0">
                <a:solidFill>
                  <a:srgbClr val="1B1B2D"/>
                </a:solidFill>
                <a:latin typeface="Microsoft Sans Serif"/>
                <a:cs typeface="Microsoft Sans Serif"/>
              </a:rPr>
              <a:t>kể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60" dirty="0">
                <a:solidFill>
                  <a:srgbClr val="1B1B2D"/>
                </a:solidFill>
                <a:latin typeface="Microsoft Sans Serif"/>
                <a:cs typeface="Microsoft Sans Serif"/>
              </a:rPr>
              <a:t>đến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30" dirty="0">
                <a:solidFill>
                  <a:srgbClr val="1B1B2D"/>
                </a:solidFill>
                <a:latin typeface="Microsoft Sans Serif"/>
                <a:cs typeface="Microsoft Sans Serif"/>
              </a:rPr>
              <a:t>cước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phí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taxi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 và mức</a:t>
            </a:r>
            <a:r>
              <a:rPr sz="1100" spc="-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độ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tác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40" dirty="0">
                <a:solidFill>
                  <a:srgbClr val="1B1B2D"/>
                </a:solidFill>
                <a:latin typeface="Microsoft Sans Serif"/>
                <a:cs typeface="Microsoft Sans Serif"/>
              </a:rPr>
              <a:t>động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45" dirty="0">
                <a:solidFill>
                  <a:srgbClr val="1B1B2D"/>
                </a:solidFill>
                <a:latin typeface="Microsoft Sans Serif"/>
                <a:cs typeface="Microsoft Sans Serif"/>
              </a:rPr>
              <a:t>của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từng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yếu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tố</a:t>
            </a:r>
            <a:r>
              <a:rPr sz="1100" spc="1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là</a:t>
            </a:r>
            <a:r>
              <a:rPr sz="1100" spc="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45" dirty="0">
                <a:solidFill>
                  <a:srgbClr val="1B1B2D"/>
                </a:solidFill>
                <a:latin typeface="Microsoft Sans Serif"/>
                <a:cs typeface="Microsoft Sans Serif"/>
              </a:rPr>
              <a:t>bao</a:t>
            </a:r>
            <a:r>
              <a:rPr sz="1100" spc="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nhiêu?</a:t>
            </a:r>
            <a:endParaRPr sz="1100">
              <a:latin typeface="Microsoft Sans Serif"/>
              <a:cs typeface="Microsoft Sans Serif"/>
            </a:endParaRPr>
          </a:p>
          <a:p>
            <a:pPr marL="215900" indent="-203200">
              <a:lnSpc>
                <a:spcPct val="100000"/>
              </a:lnSpc>
              <a:spcBef>
                <a:spcPts val="1160"/>
              </a:spcBef>
              <a:buAutoNum type="arabicPeriod" startAt="2"/>
              <a:tabLst>
                <a:tab pos="215900" algn="l"/>
              </a:tabLst>
            </a:pPr>
            <a:r>
              <a:rPr sz="1200" b="1" dirty="0">
                <a:solidFill>
                  <a:srgbClr val="0C2B54"/>
                </a:solidFill>
                <a:latin typeface="Tahoma"/>
                <a:cs typeface="Tahoma"/>
              </a:rPr>
              <a:t>Mô</a:t>
            </a:r>
            <a:r>
              <a:rPr sz="1200" b="1" spc="10" dirty="0">
                <a:solidFill>
                  <a:srgbClr val="0C2B54"/>
                </a:solidFill>
                <a:latin typeface="Tahoma"/>
                <a:cs typeface="Tahoma"/>
              </a:rPr>
              <a:t> </a:t>
            </a:r>
            <a:r>
              <a:rPr sz="1200" b="1" spc="-65" dirty="0">
                <a:solidFill>
                  <a:srgbClr val="0C2B54"/>
                </a:solidFill>
                <a:latin typeface="Tahoma"/>
                <a:cs typeface="Tahoma"/>
              </a:rPr>
              <a:t>hình</a:t>
            </a:r>
            <a:r>
              <a:rPr sz="1200" b="1" spc="15" dirty="0">
                <a:solidFill>
                  <a:srgbClr val="0C2B54"/>
                </a:solidFill>
                <a:latin typeface="Tahoma"/>
                <a:cs typeface="Tahoma"/>
              </a:rPr>
              <a:t> </a:t>
            </a:r>
            <a:r>
              <a:rPr sz="1200" b="1" dirty="0">
                <a:solidFill>
                  <a:srgbClr val="0C2B54"/>
                </a:solidFill>
                <a:latin typeface="Tahoma"/>
                <a:cs typeface="Tahoma"/>
              </a:rPr>
              <a:t>tốt</a:t>
            </a:r>
            <a:r>
              <a:rPr sz="1200" b="1" spc="15" dirty="0">
                <a:solidFill>
                  <a:srgbClr val="0C2B54"/>
                </a:solidFill>
                <a:latin typeface="Tahoma"/>
                <a:cs typeface="Tahoma"/>
              </a:rPr>
              <a:t> </a:t>
            </a:r>
            <a:r>
              <a:rPr sz="1200" b="1" spc="-10" dirty="0">
                <a:solidFill>
                  <a:srgbClr val="0C2B54"/>
                </a:solidFill>
                <a:latin typeface="Tahoma"/>
                <a:cs typeface="Tahoma"/>
              </a:rPr>
              <a:t>nhất:</a:t>
            </a:r>
            <a:endParaRPr sz="1200">
              <a:latin typeface="Tahoma"/>
              <a:cs typeface="Tahoma"/>
            </a:endParaRPr>
          </a:p>
          <a:p>
            <a:pPr marL="216535" marR="5080">
              <a:lnSpc>
                <a:spcPts val="1440"/>
              </a:lnSpc>
              <a:spcBef>
                <a:spcPts val="50"/>
              </a:spcBef>
            </a:pPr>
            <a:r>
              <a:rPr sz="1100" spc="-30" dirty="0">
                <a:solidFill>
                  <a:srgbClr val="1B1B2D"/>
                </a:solidFill>
                <a:latin typeface="Microsoft Sans Serif"/>
                <a:cs typeface="Microsoft Sans Serif"/>
              </a:rPr>
              <a:t>Trong</a:t>
            </a:r>
            <a:r>
              <a:rPr sz="1100" spc="-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LR, </a:t>
            </a:r>
            <a:r>
              <a:rPr sz="1100" spc="-55" dirty="0">
                <a:solidFill>
                  <a:srgbClr val="1B1B2D"/>
                </a:solidFill>
                <a:latin typeface="Microsoft Sans Serif"/>
                <a:cs typeface="Microsoft Sans Serif"/>
              </a:rPr>
              <a:t>Decision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40" dirty="0">
                <a:solidFill>
                  <a:srgbClr val="1B1B2D"/>
                </a:solidFill>
                <a:latin typeface="Microsoft Sans Serif"/>
                <a:cs typeface="Microsoft Sans Serif"/>
              </a:rPr>
              <a:t>Tree,</a:t>
            </a:r>
            <a:r>
              <a:rPr sz="1100" spc="-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65" dirty="0">
                <a:solidFill>
                  <a:srgbClr val="1B1B2D"/>
                </a:solidFill>
                <a:latin typeface="Microsoft Sans Serif"/>
                <a:cs typeface="Microsoft Sans Serif"/>
              </a:rPr>
              <a:t>Random</a:t>
            </a:r>
            <a:r>
              <a:rPr sz="1100" spc="-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55" dirty="0">
                <a:solidFill>
                  <a:srgbClr val="1B1B2D"/>
                </a:solidFill>
                <a:latin typeface="Microsoft Sans Serif"/>
                <a:cs typeface="Microsoft Sans Serif"/>
              </a:rPr>
              <a:t>Forest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434" dirty="0">
                <a:solidFill>
                  <a:srgbClr val="1B1B2D"/>
                </a:solidFill>
                <a:latin typeface="Microsoft Sans Serif"/>
                <a:cs typeface="Microsoft Sans Serif"/>
              </a:rPr>
              <a:t>—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 mô hình </a:t>
            </a:r>
            <a:r>
              <a:rPr sz="1100" spc="-55" dirty="0">
                <a:solidFill>
                  <a:srgbClr val="1B1B2D"/>
                </a:solidFill>
                <a:latin typeface="Microsoft Sans Serif"/>
                <a:cs typeface="Microsoft Sans Serif"/>
              </a:rPr>
              <a:t>nào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dự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50" dirty="0">
                <a:solidFill>
                  <a:srgbClr val="1B1B2D"/>
                </a:solidFill>
                <a:latin typeface="Microsoft Sans Serif"/>
                <a:cs typeface="Microsoft Sans Serif"/>
              </a:rPr>
              <a:t>đoán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30" dirty="0">
                <a:solidFill>
                  <a:srgbClr val="1B1B2D"/>
                </a:solidFill>
                <a:latin typeface="Microsoft Sans Serif"/>
                <a:cs typeface="Microsoft Sans Serif"/>
              </a:rPr>
              <a:t>cước</a:t>
            </a:r>
            <a:r>
              <a:rPr sz="1100" spc="-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phí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30" dirty="0">
                <a:solidFill>
                  <a:srgbClr val="1B1B2D"/>
                </a:solidFill>
                <a:latin typeface="Microsoft Sans Serif"/>
                <a:cs typeface="Microsoft Sans Serif"/>
              </a:rPr>
              <a:t>chính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35" dirty="0">
                <a:solidFill>
                  <a:srgbClr val="1B1B2D"/>
                </a:solidFill>
                <a:latin typeface="Microsoft Sans Serif"/>
                <a:cs typeface="Microsoft Sans Serif"/>
              </a:rPr>
              <a:t>xác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nhất 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và</a:t>
            </a:r>
            <a:r>
              <a:rPr sz="1100" spc="1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tại</a:t>
            </a:r>
            <a:r>
              <a:rPr sz="1100" spc="1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sao?</a:t>
            </a:r>
            <a:endParaRPr sz="1100">
              <a:latin typeface="Microsoft Sans Serif"/>
              <a:cs typeface="Microsoft Sans Serif"/>
            </a:endParaRPr>
          </a:p>
          <a:p>
            <a:pPr marL="215900" indent="-203200">
              <a:lnSpc>
                <a:spcPct val="100000"/>
              </a:lnSpc>
              <a:spcBef>
                <a:spcPts val="1160"/>
              </a:spcBef>
              <a:buAutoNum type="arabicPeriod" startAt="3"/>
              <a:tabLst>
                <a:tab pos="215900" algn="l"/>
              </a:tabLst>
            </a:pPr>
            <a:r>
              <a:rPr sz="1200" b="1" dirty="0">
                <a:solidFill>
                  <a:srgbClr val="0C2B54"/>
                </a:solidFill>
                <a:latin typeface="Tahoma"/>
                <a:cs typeface="Tahoma"/>
              </a:rPr>
              <a:t>Tối</a:t>
            </a:r>
            <a:r>
              <a:rPr sz="1200" b="1" spc="-40" dirty="0">
                <a:solidFill>
                  <a:srgbClr val="0C2B54"/>
                </a:solidFill>
                <a:latin typeface="Tahoma"/>
                <a:cs typeface="Tahoma"/>
              </a:rPr>
              <a:t> </a:t>
            </a:r>
            <a:r>
              <a:rPr sz="1200" b="1" spc="-45" dirty="0">
                <a:solidFill>
                  <a:srgbClr val="0C2B54"/>
                </a:solidFill>
                <a:latin typeface="Tahoma"/>
                <a:cs typeface="Tahoma"/>
              </a:rPr>
              <a:t>ưu</a:t>
            </a:r>
            <a:r>
              <a:rPr sz="1200" b="1" spc="-30" dirty="0">
                <a:solidFill>
                  <a:srgbClr val="0C2B54"/>
                </a:solidFill>
                <a:latin typeface="Tahoma"/>
                <a:cs typeface="Tahoma"/>
              </a:rPr>
              <a:t> </a:t>
            </a:r>
            <a:r>
              <a:rPr sz="1200" b="1" spc="-60" dirty="0">
                <a:solidFill>
                  <a:srgbClr val="0C2B54"/>
                </a:solidFill>
                <a:latin typeface="Tahoma"/>
                <a:cs typeface="Tahoma"/>
              </a:rPr>
              <a:t>hóa</a:t>
            </a:r>
            <a:r>
              <a:rPr sz="1200" b="1" spc="-30" dirty="0">
                <a:solidFill>
                  <a:srgbClr val="0C2B54"/>
                </a:solidFill>
                <a:latin typeface="Tahoma"/>
                <a:cs typeface="Tahoma"/>
              </a:rPr>
              <a:t> </a:t>
            </a:r>
            <a:r>
              <a:rPr sz="1200" b="1" spc="-25" dirty="0">
                <a:solidFill>
                  <a:srgbClr val="0C2B54"/>
                </a:solidFill>
                <a:latin typeface="Tahoma"/>
                <a:cs typeface="Tahoma"/>
              </a:rPr>
              <a:t>chi</a:t>
            </a:r>
            <a:r>
              <a:rPr sz="1200" b="1" spc="-30" dirty="0">
                <a:solidFill>
                  <a:srgbClr val="0C2B54"/>
                </a:solidFill>
                <a:latin typeface="Tahoma"/>
                <a:cs typeface="Tahoma"/>
              </a:rPr>
              <a:t> </a:t>
            </a:r>
            <a:r>
              <a:rPr sz="1200" b="1" spc="-20" dirty="0">
                <a:solidFill>
                  <a:srgbClr val="0C2B54"/>
                </a:solidFill>
                <a:latin typeface="Tahoma"/>
                <a:cs typeface="Tahoma"/>
              </a:rPr>
              <a:t>phí:</a:t>
            </a:r>
            <a:endParaRPr sz="1200">
              <a:latin typeface="Tahoma"/>
              <a:cs typeface="Tahoma"/>
            </a:endParaRPr>
          </a:p>
          <a:p>
            <a:pPr marL="216535" marR="99060">
              <a:lnSpc>
                <a:spcPts val="1440"/>
              </a:lnSpc>
              <a:spcBef>
                <a:spcPts val="50"/>
              </a:spcBef>
            </a:pPr>
            <a:r>
              <a:rPr sz="11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Làm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thế</a:t>
            </a:r>
            <a:r>
              <a:rPr sz="1100" spc="-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45" dirty="0">
                <a:solidFill>
                  <a:srgbClr val="1B1B2D"/>
                </a:solidFill>
                <a:latin typeface="Microsoft Sans Serif"/>
                <a:cs typeface="Microsoft Sans Serif"/>
              </a:rPr>
              <a:t>nào</a:t>
            </a:r>
            <a:r>
              <a:rPr sz="1100" spc="-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45" dirty="0">
                <a:solidFill>
                  <a:srgbClr val="1B1B2D"/>
                </a:solidFill>
                <a:latin typeface="Microsoft Sans Serif"/>
                <a:cs typeface="Microsoft Sans Serif"/>
              </a:rPr>
              <a:t>để</a:t>
            </a:r>
            <a:r>
              <a:rPr sz="1100" spc="-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tối</a:t>
            </a:r>
            <a:r>
              <a:rPr sz="1100" spc="-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ưu</a:t>
            </a:r>
            <a:r>
              <a:rPr sz="1100" spc="-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40" dirty="0">
                <a:solidFill>
                  <a:srgbClr val="1B1B2D"/>
                </a:solidFill>
                <a:latin typeface="Microsoft Sans Serif"/>
                <a:cs typeface="Microsoft Sans Serif"/>
              </a:rPr>
              <a:t>hóa</a:t>
            </a:r>
            <a:r>
              <a:rPr sz="1100" spc="-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chi</a:t>
            </a:r>
            <a:r>
              <a:rPr sz="1100" spc="-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phí</a:t>
            </a:r>
            <a:r>
              <a:rPr sz="1100" spc="-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65" dirty="0">
                <a:solidFill>
                  <a:srgbClr val="1B1B2D"/>
                </a:solidFill>
                <a:latin typeface="Microsoft Sans Serif"/>
                <a:cs typeface="Microsoft Sans Serif"/>
              </a:rPr>
              <a:t>chuyến</a:t>
            </a:r>
            <a:r>
              <a:rPr sz="1100" spc="-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đi?</a:t>
            </a:r>
            <a:r>
              <a:rPr sz="1100" spc="7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Lợi</a:t>
            </a:r>
            <a:r>
              <a:rPr sz="1100" spc="-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ích</a:t>
            </a:r>
            <a:r>
              <a:rPr sz="1100" spc="-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50" dirty="0">
                <a:solidFill>
                  <a:srgbClr val="1B1B2D"/>
                </a:solidFill>
                <a:latin typeface="Microsoft Sans Serif"/>
                <a:cs typeface="Microsoft Sans Serif"/>
              </a:rPr>
              <a:t>mang</a:t>
            </a:r>
            <a:r>
              <a:rPr sz="1100" spc="-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lại</a:t>
            </a:r>
            <a:r>
              <a:rPr sz="1100" spc="-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35" dirty="0">
                <a:solidFill>
                  <a:srgbClr val="1B1B2D"/>
                </a:solidFill>
                <a:latin typeface="Microsoft Sans Serif"/>
                <a:cs typeface="Microsoft Sans Serif"/>
              </a:rPr>
              <a:t>cho</a:t>
            </a:r>
            <a:r>
              <a:rPr sz="1100" spc="-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40" dirty="0">
                <a:solidFill>
                  <a:srgbClr val="1B1B2D"/>
                </a:solidFill>
                <a:latin typeface="Microsoft Sans Serif"/>
                <a:cs typeface="Microsoft Sans Serif"/>
              </a:rPr>
              <a:t>khách</a:t>
            </a:r>
            <a:r>
              <a:rPr sz="1100" spc="-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40" dirty="0">
                <a:solidFill>
                  <a:srgbClr val="1B1B2D"/>
                </a:solidFill>
                <a:latin typeface="Microsoft Sans Serif"/>
                <a:cs typeface="Microsoft Sans Serif"/>
              </a:rPr>
              <a:t>hàng,</a:t>
            </a:r>
            <a:r>
              <a:rPr sz="1100" spc="-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tài</a:t>
            </a:r>
            <a:r>
              <a:rPr sz="1100" spc="-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50" dirty="0">
                <a:solidFill>
                  <a:srgbClr val="1B1B2D"/>
                </a:solidFill>
                <a:latin typeface="Microsoft Sans Serif"/>
                <a:cs typeface="Microsoft Sans Serif"/>
              </a:rPr>
              <a:t>xế</a:t>
            </a:r>
            <a:r>
              <a:rPr sz="1100" spc="-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và </a:t>
            </a:r>
            <a:r>
              <a:rPr sz="1100" spc="-50" dirty="0">
                <a:solidFill>
                  <a:srgbClr val="1B1B2D"/>
                </a:solidFill>
                <a:latin typeface="Microsoft Sans Serif"/>
                <a:cs typeface="Microsoft Sans Serif"/>
              </a:rPr>
              <a:t>doanh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45" dirty="0">
                <a:solidFill>
                  <a:srgbClr val="1B1B2D"/>
                </a:solidFill>
                <a:latin typeface="Microsoft Sans Serif"/>
                <a:cs typeface="Microsoft Sans Serif"/>
              </a:rPr>
              <a:t>nghiệp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là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gì?</a:t>
            </a:r>
            <a:endParaRPr sz="1100">
              <a:latin typeface="Microsoft Sans Serif"/>
              <a:cs typeface="Microsoft Sans Serif"/>
            </a:endParaRPr>
          </a:p>
          <a:p>
            <a:pPr marL="215900" indent="-203200">
              <a:lnSpc>
                <a:spcPct val="100000"/>
              </a:lnSpc>
              <a:spcBef>
                <a:spcPts val="1155"/>
              </a:spcBef>
              <a:buAutoNum type="arabicPeriod" startAt="4"/>
              <a:tabLst>
                <a:tab pos="215900" algn="l"/>
              </a:tabLst>
            </a:pPr>
            <a:r>
              <a:rPr sz="1200" b="1" spc="-40" dirty="0">
                <a:solidFill>
                  <a:srgbClr val="0C2B54"/>
                </a:solidFill>
                <a:latin typeface="Tahoma"/>
                <a:cs typeface="Tahoma"/>
              </a:rPr>
              <a:t>Triển </a:t>
            </a:r>
            <a:r>
              <a:rPr sz="1200" b="1" spc="-55" dirty="0">
                <a:solidFill>
                  <a:srgbClr val="0C2B54"/>
                </a:solidFill>
                <a:latin typeface="Tahoma"/>
                <a:cs typeface="Tahoma"/>
              </a:rPr>
              <a:t>khai</a:t>
            </a:r>
            <a:r>
              <a:rPr sz="1200" b="1" spc="-35" dirty="0">
                <a:solidFill>
                  <a:srgbClr val="0C2B54"/>
                </a:solidFill>
                <a:latin typeface="Tahoma"/>
                <a:cs typeface="Tahoma"/>
              </a:rPr>
              <a:t> </a:t>
            </a:r>
            <a:r>
              <a:rPr sz="1200" b="1" spc="-40" dirty="0">
                <a:solidFill>
                  <a:srgbClr val="0C2B54"/>
                </a:solidFill>
                <a:latin typeface="Tahoma"/>
                <a:cs typeface="Tahoma"/>
              </a:rPr>
              <a:t>thực</a:t>
            </a:r>
            <a:r>
              <a:rPr sz="1200" b="1" spc="-35" dirty="0">
                <a:solidFill>
                  <a:srgbClr val="0C2B54"/>
                </a:solidFill>
                <a:latin typeface="Tahoma"/>
                <a:cs typeface="Tahoma"/>
              </a:rPr>
              <a:t> </a:t>
            </a:r>
            <a:r>
              <a:rPr sz="1200" b="1" spc="-25" dirty="0">
                <a:solidFill>
                  <a:srgbClr val="0C2B54"/>
                </a:solidFill>
                <a:latin typeface="Tahoma"/>
                <a:cs typeface="Tahoma"/>
              </a:rPr>
              <a:t>tế: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5" y="3130372"/>
            <a:ext cx="5760085" cy="109855"/>
            <a:chOff x="-5" y="3130372"/>
            <a:chExt cx="576008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130372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26"/>
                  </a:lnTo>
                  <a:lnTo>
                    <a:pt x="1919973" y="10962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7F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19973" y="3130372"/>
              <a:ext cx="3840479" cy="109855"/>
            </a:xfrm>
            <a:custGeom>
              <a:avLst/>
              <a:gdLst/>
              <a:ahLst/>
              <a:cxnLst/>
              <a:rect l="l" t="t" r="r" b="b"/>
              <a:pathLst>
                <a:path w="3840479" h="109855">
                  <a:moveTo>
                    <a:pt x="3839946" y="0"/>
                  </a:moveTo>
                  <a:lnTo>
                    <a:pt x="1919973" y="0"/>
                  </a:lnTo>
                  <a:lnTo>
                    <a:pt x="0" y="0"/>
                  </a:lnTo>
                  <a:lnTo>
                    <a:pt x="0" y="109626"/>
                  </a:lnTo>
                  <a:lnTo>
                    <a:pt x="1919973" y="109626"/>
                  </a:lnTo>
                  <a:lnTo>
                    <a:pt x="3839946" y="109626"/>
                  </a:lnTo>
                  <a:lnTo>
                    <a:pt x="3839946" y="0"/>
                  </a:lnTo>
                  <a:close/>
                </a:path>
              </a:pathLst>
            </a:custGeom>
            <a:solidFill>
              <a:srgbClr val="0C2B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-5" y="3214693"/>
              <a:ext cx="0" cy="25400"/>
            </a:xfrm>
            <a:custGeom>
              <a:avLst/>
              <a:gdLst/>
              <a:ahLst/>
              <a:cxnLst/>
              <a:rect l="l" t="t" r="r" b="b"/>
              <a:pathLst>
                <a:path h="25400">
                  <a:moveTo>
                    <a:pt x="0" y="25305"/>
                  </a:moveTo>
                  <a:lnTo>
                    <a:pt x="0" y="0"/>
                  </a:lnTo>
                  <a:lnTo>
                    <a:pt x="0" y="25305"/>
                  </a:lnTo>
                  <a:close/>
                </a:path>
                <a:path h="25400">
                  <a:moveTo>
                    <a:pt x="0" y="0"/>
                  </a:moveTo>
                </a:path>
              </a:pathLst>
            </a:custGeom>
            <a:solidFill>
              <a:srgbClr val="A3CB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14286" y="2824365"/>
            <a:ext cx="4844415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z="11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Làm</a:t>
            </a:r>
            <a:r>
              <a:rPr sz="1100" spc="-3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thế</a:t>
            </a:r>
            <a:r>
              <a:rPr sz="11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45" dirty="0">
                <a:solidFill>
                  <a:srgbClr val="1B1B2D"/>
                </a:solidFill>
                <a:latin typeface="Microsoft Sans Serif"/>
                <a:cs typeface="Microsoft Sans Serif"/>
              </a:rPr>
              <a:t>nào</a:t>
            </a:r>
            <a:r>
              <a:rPr sz="11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45" dirty="0">
                <a:solidFill>
                  <a:srgbClr val="1B1B2D"/>
                </a:solidFill>
                <a:latin typeface="Microsoft Sans Serif"/>
                <a:cs typeface="Microsoft Sans Serif"/>
              </a:rPr>
              <a:t>để</a:t>
            </a:r>
            <a:r>
              <a:rPr sz="11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cải</a:t>
            </a:r>
            <a:r>
              <a:rPr sz="11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thiện</a:t>
            </a:r>
            <a:r>
              <a:rPr sz="11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độ</a:t>
            </a:r>
            <a:r>
              <a:rPr sz="11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30" dirty="0">
                <a:solidFill>
                  <a:srgbClr val="1B1B2D"/>
                </a:solidFill>
                <a:latin typeface="Microsoft Sans Serif"/>
                <a:cs typeface="Microsoft Sans Serif"/>
              </a:rPr>
              <a:t>chính</a:t>
            </a:r>
            <a:r>
              <a:rPr sz="11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35" dirty="0">
                <a:solidFill>
                  <a:srgbClr val="1B1B2D"/>
                </a:solidFill>
                <a:latin typeface="Microsoft Sans Serif"/>
                <a:cs typeface="Microsoft Sans Serif"/>
              </a:rPr>
              <a:t>xác</a:t>
            </a:r>
            <a:r>
              <a:rPr sz="11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mô</a:t>
            </a:r>
            <a:r>
              <a:rPr sz="11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hình</a:t>
            </a:r>
            <a:r>
              <a:rPr sz="11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và</a:t>
            </a:r>
            <a:r>
              <a:rPr sz="11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tích</a:t>
            </a:r>
            <a:r>
              <a:rPr sz="11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 hợp </a:t>
            </a:r>
            <a:r>
              <a:rPr sz="1100" spc="-50" dirty="0">
                <a:solidFill>
                  <a:srgbClr val="1B1B2D"/>
                </a:solidFill>
                <a:latin typeface="Microsoft Sans Serif"/>
                <a:cs typeface="Microsoft Sans Serif"/>
              </a:rPr>
              <a:t>vào</a:t>
            </a:r>
            <a:r>
              <a:rPr sz="11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 ứng</a:t>
            </a:r>
            <a:r>
              <a:rPr sz="11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35" dirty="0">
                <a:solidFill>
                  <a:srgbClr val="1B1B2D"/>
                </a:solidFill>
                <a:latin typeface="Microsoft Sans Serif"/>
                <a:cs typeface="Microsoft Sans Serif"/>
              </a:rPr>
              <a:t>dụng</a:t>
            </a:r>
            <a:r>
              <a:rPr sz="11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thực</a:t>
            </a:r>
            <a:r>
              <a:rPr sz="11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 tế?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Hiếu</a:t>
            </a:r>
            <a:r>
              <a:rPr spc="35" dirty="0"/>
              <a:t> </a:t>
            </a:r>
            <a:r>
              <a:rPr dirty="0">
                <a:latin typeface="Cambria"/>
                <a:cs typeface="Cambria"/>
              </a:rPr>
              <a:t>·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dirty="0"/>
              <a:t>Trọng</a:t>
            </a:r>
            <a:r>
              <a:rPr spc="35" dirty="0"/>
              <a:t> </a:t>
            </a:r>
            <a:r>
              <a:rPr dirty="0">
                <a:latin typeface="Cambria"/>
                <a:cs typeface="Cambria"/>
              </a:rPr>
              <a:t>·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dirty="0"/>
              <a:t>Quang</a:t>
            </a:r>
            <a:r>
              <a:rPr spc="245" dirty="0"/>
              <a:t> </a:t>
            </a:r>
            <a:r>
              <a:rPr dirty="0"/>
              <a:t>(ĐH</a:t>
            </a:r>
            <a:r>
              <a:rPr spc="40" dirty="0"/>
              <a:t> </a:t>
            </a:r>
            <a:r>
              <a:rPr spc="-10" dirty="0"/>
              <a:t>Phenikaa)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441397" y="3122434"/>
            <a:ext cx="877569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Cước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phí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Taxi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·</a:t>
            </a:r>
            <a:r>
              <a:rPr sz="600" spc="55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Phenikaa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20" dirty="0"/>
              <a:t>2026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spc="-30" dirty="0"/>
              <a:t>5</a:t>
            </a:fld>
            <a:r>
              <a:rPr spc="-50" dirty="0"/>
              <a:t> </a:t>
            </a:r>
            <a:r>
              <a:rPr spc="150" dirty="0"/>
              <a:t>/</a:t>
            </a:r>
            <a:r>
              <a:rPr spc="-50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7363"/>
            <a:ext cx="12547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Nguồn</a:t>
            </a:r>
            <a:r>
              <a:rPr spc="20" dirty="0"/>
              <a:t> </a:t>
            </a:r>
            <a:r>
              <a:rPr dirty="0"/>
              <a:t>Dữ</a:t>
            </a:r>
            <a:r>
              <a:rPr spc="20" dirty="0"/>
              <a:t> </a:t>
            </a:r>
            <a:r>
              <a:rPr spc="-65" dirty="0"/>
              <a:t>liệu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5483" y="760493"/>
            <a:ext cx="2076450" cy="1615440"/>
            <a:chOff x="135483" y="760493"/>
            <a:chExt cx="2076450" cy="1615440"/>
          </a:xfrm>
        </p:grpSpPr>
        <p:sp>
          <p:nvSpPr>
            <p:cNvPr id="4" name="object 4"/>
            <p:cNvSpPr/>
            <p:nvPr/>
          </p:nvSpPr>
          <p:spPr>
            <a:xfrm>
              <a:off x="135483" y="760493"/>
              <a:ext cx="2076450" cy="1615440"/>
            </a:xfrm>
            <a:custGeom>
              <a:avLst/>
              <a:gdLst/>
              <a:ahLst/>
              <a:cxnLst/>
              <a:rect l="l" t="t" r="r" b="b"/>
              <a:pathLst>
                <a:path w="2076450" h="1615439">
                  <a:moveTo>
                    <a:pt x="1999977" y="0"/>
                  </a:moveTo>
                  <a:lnTo>
                    <a:pt x="75916" y="0"/>
                  </a:lnTo>
                  <a:lnTo>
                    <a:pt x="46365" y="5965"/>
                  </a:lnTo>
                  <a:lnTo>
                    <a:pt x="22235" y="22235"/>
                  </a:lnTo>
                  <a:lnTo>
                    <a:pt x="5965" y="46366"/>
                  </a:lnTo>
                  <a:lnTo>
                    <a:pt x="0" y="75916"/>
                  </a:lnTo>
                  <a:lnTo>
                    <a:pt x="0" y="1539480"/>
                  </a:lnTo>
                  <a:lnTo>
                    <a:pt x="5965" y="1569030"/>
                  </a:lnTo>
                  <a:lnTo>
                    <a:pt x="22235" y="1593161"/>
                  </a:lnTo>
                  <a:lnTo>
                    <a:pt x="46365" y="1609430"/>
                  </a:lnTo>
                  <a:lnTo>
                    <a:pt x="75916" y="1615396"/>
                  </a:lnTo>
                  <a:lnTo>
                    <a:pt x="1999977" y="1615396"/>
                  </a:lnTo>
                  <a:lnTo>
                    <a:pt x="2029527" y="1609430"/>
                  </a:lnTo>
                  <a:lnTo>
                    <a:pt x="2053658" y="1593161"/>
                  </a:lnTo>
                  <a:lnTo>
                    <a:pt x="2069927" y="1569030"/>
                  </a:lnTo>
                  <a:lnTo>
                    <a:pt x="2075893" y="1539480"/>
                  </a:lnTo>
                  <a:lnTo>
                    <a:pt x="2075893" y="75916"/>
                  </a:lnTo>
                  <a:lnTo>
                    <a:pt x="2069927" y="46366"/>
                  </a:lnTo>
                  <a:lnTo>
                    <a:pt x="2053658" y="22235"/>
                  </a:lnTo>
                  <a:lnTo>
                    <a:pt x="2029527" y="5965"/>
                  </a:lnTo>
                  <a:lnTo>
                    <a:pt x="1999977" y="0"/>
                  </a:lnTo>
                  <a:close/>
                </a:path>
              </a:pathLst>
            </a:custGeom>
            <a:solidFill>
              <a:srgbClr val="197F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8136" y="773146"/>
              <a:ext cx="2051050" cy="1590675"/>
            </a:xfrm>
            <a:custGeom>
              <a:avLst/>
              <a:gdLst/>
              <a:ahLst/>
              <a:cxnLst/>
              <a:rect l="l" t="t" r="r" b="b"/>
              <a:pathLst>
                <a:path w="2051050" h="1590675">
                  <a:moveTo>
                    <a:pt x="1987324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1526827"/>
                  </a:lnTo>
                  <a:lnTo>
                    <a:pt x="4971" y="1551452"/>
                  </a:lnTo>
                  <a:lnTo>
                    <a:pt x="18529" y="1571561"/>
                  </a:lnTo>
                  <a:lnTo>
                    <a:pt x="38638" y="1585119"/>
                  </a:lnTo>
                  <a:lnTo>
                    <a:pt x="63263" y="1590091"/>
                  </a:lnTo>
                  <a:lnTo>
                    <a:pt x="1987324" y="1590091"/>
                  </a:lnTo>
                  <a:lnTo>
                    <a:pt x="2011949" y="1585119"/>
                  </a:lnTo>
                  <a:lnTo>
                    <a:pt x="2032058" y="1571561"/>
                  </a:lnTo>
                  <a:lnTo>
                    <a:pt x="2045616" y="1551452"/>
                  </a:lnTo>
                  <a:lnTo>
                    <a:pt x="2050587" y="1526827"/>
                  </a:lnTo>
                  <a:lnTo>
                    <a:pt x="2050587" y="63263"/>
                  </a:lnTo>
                  <a:lnTo>
                    <a:pt x="2045616" y="38638"/>
                  </a:lnTo>
                  <a:lnTo>
                    <a:pt x="2032058" y="18529"/>
                  </a:lnTo>
                  <a:lnTo>
                    <a:pt x="2011949" y="4971"/>
                  </a:lnTo>
                  <a:lnTo>
                    <a:pt x="1987324" y="0"/>
                  </a:lnTo>
                  <a:close/>
                </a:path>
              </a:pathLst>
            </a:custGeom>
            <a:solidFill>
              <a:srgbClr val="E3E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2122" y="871473"/>
              <a:ext cx="133350" cy="1524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38397" y="1358233"/>
              <a:ext cx="670560" cy="670560"/>
            </a:xfrm>
            <a:custGeom>
              <a:avLst/>
              <a:gdLst/>
              <a:ahLst/>
              <a:cxnLst/>
              <a:rect l="l" t="t" r="r" b="b"/>
              <a:pathLst>
                <a:path w="670560" h="670560">
                  <a:moveTo>
                    <a:pt x="335018" y="0"/>
                  </a:moveTo>
                  <a:lnTo>
                    <a:pt x="285511" y="3632"/>
                  </a:lnTo>
                  <a:lnTo>
                    <a:pt x="238260" y="14184"/>
                  </a:lnTo>
                  <a:lnTo>
                    <a:pt x="193782" y="31137"/>
                  </a:lnTo>
                  <a:lnTo>
                    <a:pt x="152596" y="53973"/>
                  </a:lnTo>
                  <a:lnTo>
                    <a:pt x="115220" y="82173"/>
                  </a:lnTo>
                  <a:lnTo>
                    <a:pt x="82173" y="115220"/>
                  </a:lnTo>
                  <a:lnTo>
                    <a:pt x="53973" y="152596"/>
                  </a:lnTo>
                  <a:lnTo>
                    <a:pt x="31137" y="193782"/>
                  </a:lnTo>
                  <a:lnTo>
                    <a:pt x="14184" y="238260"/>
                  </a:lnTo>
                  <a:lnTo>
                    <a:pt x="3632" y="285511"/>
                  </a:lnTo>
                  <a:lnTo>
                    <a:pt x="0" y="335018"/>
                  </a:lnTo>
                  <a:lnTo>
                    <a:pt x="3632" y="384526"/>
                  </a:lnTo>
                  <a:lnTo>
                    <a:pt x="14184" y="431777"/>
                  </a:lnTo>
                  <a:lnTo>
                    <a:pt x="31137" y="476255"/>
                  </a:lnTo>
                  <a:lnTo>
                    <a:pt x="53973" y="517441"/>
                  </a:lnTo>
                  <a:lnTo>
                    <a:pt x="82173" y="554816"/>
                  </a:lnTo>
                  <a:lnTo>
                    <a:pt x="115220" y="587864"/>
                  </a:lnTo>
                  <a:lnTo>
                    <a:pt x="152596" y="616064"/>
                  </a:lnTo>
                  <a:lnTo>
                    <a:pt x="193782" y="638900"/>
                  </a:lnTo>
                  <a:lnTo>
                    <a:pt x="238260" y="655853"/>
                  </a:lnTo>
                  <a:lnTo>
                    <a:pt x="285511" y="666405"/>
                  </a:lnTo>
                  <a:lnTo>
                    <a:pt x="335018" y="670037"/>
                  </a:lnTo>
                  <a:lnTo>
                    <a:pt x="384526" y="666405"/>
                  </a:lnTo>
                  <a:lnTo>
                    <a:pt x="431777" y="655853"/>
                  </a:lnTo>
                  <a:lnTo>
                    <a:pt x="476255" y="638900"/>
                  </a:lnTo>
                  <a:lnTo>
                    <a:pt x="517441" y="616064"/>
                  </a:lnTo>
                  <a:lnTo>
                    <a:pt x="554816" y="587864"/>
                  </a:lnTo>
                  <a:lnTo>
                    <a:pt x="587864" y="554816"/>
                  </a:lnTo>
                  <a:lnTo>
                    <a:pt x="616064" y="517441"/>
                  </a:lnTo>
                  <a:lnTo>
                    <a:pt x="638900" y="476255"/>
                  </a:lnTo>
                  <a:lnTo>
                    <a:pt x="655853" y="431777"/>
                  </a:lnTo>
                  <a:lnTo>
                    <a:pt x="666405" y="384526"/>
                  </a:lnTo>
                  <a:lnTo>
                    <a:pt x="670037" y="335018"/>
                  </a:lnTo>
                  <a:lnTo>
                    <a:pt x="666405" y="285511"/>
                  </a:lnTo>
                  <a:lnTo>
                    <a:pt x="655853" y="238260"/>
                  </a:lnTo>
                  <a:lnTo>
                    <a:pt x="638900" y="193782"/>
                  </a:lnTo>
                  <a:lnTo>
                    <a:pt x="616064" y="152596"/>
                  </a:lnTo>
                  <a:lnTo>
                    <a:pt x="587864" y="115220"/>
                  </a:lnTo>
                  <a:lnTo>
                    <a:pt x="554816" y="82173"/>
                  </a:lnTo>
                  <a:lnTo>
                    <a:pt x="517441" y="53973"/>
                  </a:lnTo>
                  <a:lnTo>
                    <a:pt x="476255" y="31137"/>
                  </a:lnTo>
                  <a:lnTo>
                    <a:pt x="431777" y="14184"/>
                  </a:lnTo>
                  <a:lnTo>
                    <a:pt x="384526" y="3632"/>
                  </a:lnTo>
                  <a:lnTo>
                    <a:pt x="335018" y="0"/>
                  </a:lnTo>
                  <a:close/>
                </a:path>
              </a:pathLst>
            </a:custGeom>
            <a:solidFill>
              <a:srgbClr val="F0A5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22783" y="768882"/>
            <a:ext cx="2113915" cy="208454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622935">
              <a:lnSpc>
                <a:spcPct val="100000"/>
              </a:lnSpc>
              <a:spcBef>
                <a:spcPts val="655"/>
              </a:spcBef>
            </a:pPr>
            <a:r>
              <a:rPr sz="1200" b="1" spc="-45" dirty="0">
                <a:solidFill>
                  <a:srgbClr val="0C2B54"/>
                </a:solidFill>
                <a:latin typeface="Tahoma"/>
                <a:cs typeface="Tahoma"/>
              </a:rPr>
              <a:t>Kaggle</a:t>
            </a:r>
            <a:r>
              <a:rPr sz="1200" b="1" spc="-20" dirty="0">
                <a:solidFill>
                  <a:srgbClr val="0C2B54"/>
                </a:solidFill>
                <a:latin typeface="Tahoma"/>
                <a:cs typeface="Tahoma"/>
              </a:rPr>
              <a:t> </a:t>
            </a:r>
            <a:r>
              <a:rPr sz="1200" b="1" spc="-10" dirty="0">
                <a:solidFill>
                  <a:srgbClr val="0C2B54"/>
                </a:solidFill>
                <a:latin typeface="Tahoma"/>
                <a:cs typeface="Tahoma"/>
              </a:rPr>
              <a:t>Dataset</a:t>
            </a:r>
            <a:endParaRPr sz="1200" dirty="0">
              <a:latin typeface="Tahoma"/>
              <a:cs typeface="Tahoma"/>
            </a:endParaRPr>
          </a:p>
          <a:p>
            <a:pPr marL="137160">
              <a:lnSpc>
                <a:spcPct val="100000"/>
              </a:lnSpc>
              <a:spcBef>
                <a:spcPts val="505"/>
              </a:spcBef>
            </a:pPr>
            <a:r>
              <a:rPr sz="1100" spc="60" dirty="0">
                <a:latin typeface="Calibri"/>
                <a:cs typeface="Calibri"/>
              </a:rPr>
              <a:t>Taxi_Trip_Data_preprocessed</a:t>
            </a:r>
            <a:endParaRPr sz="1100" dirty="0">
              <a:latin typeface="Calibri"/>
              <a:cs typeface="Calibri"/>
            </a:endParaRPr>
          </a:p>
          <a:p>
            <a:pPr marR="4445" algn="ctr">
              <a:lnSpc>
                <a:spcPct val="100000"/>
              </a:lnSpc>
            </a:pPr>
            <a:endParaRPr lang="vi-VN" sz="1400" b="1" spc="-10" dirty="0">
              <a:solidFill>
                <a:srgbClr val="FFFFFF"/>
              </a:solidFill>
              <a:latin typeface="Tahoma"/>
              <a:cs typeface="Tahoma"/>
            </a:endParaRPr>
          </a:p>
          <a:p>
            <a:pPr marR="4445" algn="ctr">
              <a:lnSpc>
                <a:spcPct val="100000"/>
              </a:lnSpc>
            </a:pPr>
            <a:endParaRPr lang="vi-VN" sz="1100" spc="-20" dirty="0">
              <a:latin typeface="Microsoft Sans Serif"/>
              <a:cs typeface="Microsoft Sans Serif"/>
            </a:endParaRPr>
          </a:p>
          <a:p>
            <a:pPr marR="4445" algn="ctr">
              <a:lnSpc>
                <a:spcPct val="100000"/>
              </a:lnSpc>
            </a:pPr>
            <a:endParaRPr lang="vi-VN" sz="1100" spc="-20" dirty="0">
              <a:latin typeface="Microsoft Sans Serif"/>
              <a:cs typeface="Microsoft Sans Serif"/>
            </a:endParaRPr>
          </a:p>
          <a:p>
            <a:pPr marR="4445" algn="ctr">
              <a:lnSpc>
                <a:spcPct val="100000"/>
              </a:lnSpc>
            </a:pPr>
            <a:endParaRPr lang="vi-VN" sz="1100" spc="-20" dirty="0">
              <a:latin typeface="Microsoft Sans Serif"/>
              <a:cs typeface="Microsoft Sans Serif"/>
            </a:endParaRPr>
          </a:p>
          <a:p>
            <a:pPr marR="4445" algn="ctr">
              <a:lnSpc>
                <a:spcPct val="100000"/>
              </a:lnSpc>
            </a:pPr>
            <a:endParaRPr lang="vi-VN" sz="1100" spc="-20" dirty="0">
              <a:latin typeface="Microsoft Sans Serif"/>
              <a:cs typeface="Microsoft Sans Serif"/>
            </a:endParaRPr>
          </a:p>
          <a:p>
            <a:pPr marR="4445" algn="ctr">
              <a:lnSpc>
                <a:spcPct val="100000"/>
              </a:lnSpc>
            </a:pPr>
            <a:endParaRPr lang="vi-VN" sz="1100" spc="-20" dirty="0">
              <a:latin typeface="Microsoft Sans Serif"/>
              <a:cs typeface="Microsoft Sans Serif"/>
            </a:endParaRPr>
          </a:p>
          <a:p>
            <a:pPr marR="4445" algn="ctr">
              <a:lnSpc>
                <a:spcPct val="100000"/>
              </a:lnSpc>
            </a:pPr>
            <a:endParaRPr lang="vi-VN" sz="1100" spc="-20" dirty="0">
              <a:latin typeface="Microsoft Sans Serif"/>
              <a:cs typeface="Microsoft Sans Serif"/>
            </a:endParaRPr>
          </a:p>
          <a:p>
            <a:pPr marR="4445" algn="ctr">
              <a:lnSpc>
                <a:spcPct val="100000"/>
              </a:lnSpc>
            </a:pPr>
            <a:r>
              <a:rPr lang="en-US" sz="1100" spc="-20" dirty="0">
                <a:latin typeface="Microsoft Sans Serif"/>
                <a:cs typeface="Microsoft Sans Serif"/>
              </a:rPr>
              <a:t>taxi </a:t>
            </a:r>
            <a:r>
              <a:rPr lang="en-US" sz="1100" dirty="0" err="1">
                <a:solidFill>
                  <a:srgbClr val="6C747D"/>
                </a:solidFill>
                <a:latin typeface="Microsoft Sans Serif"/>
                <a:cs typeface="Microsoft Sans Serif"/>
              </a:rPr>
              <a:t>Thời</a:t>
            </a:r>
            <a:r>
              <a:rPr lang="en-US" sz="1100" spc="5" dirty="0">
                <a:solidFill>
                  <a:srgbClr val="6C747D"/>
                </a:solidFill>
                <a:latin typeface="Microsoft Sans Serif"/>
                <a:cs typeface="Microsoft Sans Serif"/>
              </a:rPr>
              <a:t> </a:t>
            </a:r>
            <a:r>
              <a:rPr lang="en-US" sz="1100" spc="-10" dirty="0" err="1">
                <a:solidFill>
                  <a:srgbClr val="6C747D"/>
                </a:solidFill>
                <a:latin typeface="Microsoft Sans Serif"/>
                <a:cs typeface="Microsoft Sans Serif"/>
              </a:rPr>
              <a:t>gian</a:t>
            </a:r>
            <a:r>
              <a:rPr lang="en-US" sz="1100" spc="-10" dirty="0">
                <a:solidFill>
                  <a:srgbClr val="6C747D"/>
                </a:solidFill>
                <a:latin typeface="Microsoft Sans Serif"/>
                <a:cs typeface="Microsoft Sans Serif"/>
              </a:rPr>
              <a:t>:</a:t>
            </a:r>
            <a:r>
              <a:rPr lang="en-US" sz="1100" spc="95" dirty="0">
                <a:solidFill>
                  <a:srgbClr val="6C747D"/>
                </a:solidFill>
                <a:latin typeface="Microsoft Sans Serif"/>
                <a:cs typeface="Microsoft Sans Serif"/>
              </a:rPr>
              <a:t> </a:t>
            </a:r>
            <a:r>
              <a:rPr lang="en-US" sz="1100" spc="-55" dirty="0">
                <a:solidFill>
                  <a:srgbClr val="6C747D"/>
                </a:solidFill>
                <a:latin typeface="Microsoft Sans Serif"/>
                <a:cs typeface="Microsoft Sans Serif"/>
              </a:rPr>
              <a:t>2009</a:t>
            </a:r>
            <a:r>
              <a:rPr lang="en-US" sz="1100" spc="5" dirty="0">
                <a:solidFill>
                  <a:srgbClr val="6C747D"/>
                </a:solidFill>
                <a:latin typeface="Microsoft Sans Serif"/>
                <a:cs typeface="Microsoft Sans Serif"/>
              </a:rPr>
              <a:t> </a:t>
            </a:r>
            <a:r>
              <a:rPr lang="en-US" sz="1100" spc="215" dirty="0">
                <a:solidFill>
                  <a:srgbClr val="6C747D"/>
                </a:solidFill>
                <a:latin typeface="Microsoft Sans Serif"/>
                <a:cs typeface="Microsoft Sans Serif"/>
              </a:rPr>
              <a:t>–</a:t>
            </a:r>
            <a:r>
              <a:rPr lang="en-US" sz="1100" spc="5" dirty="0">
                <a:solidFill>
                  <a:srgbClr val="6C747D"/>
                </a:solidFill>
                <a:latin typeface="Microsoft Sans Serif"/>
                <a:cs typeface="Microsoft Sans Serif"/>
              </a:rPr>
              <a:t> </a:t>
            </a:r>
            <a:r>
              <a:rPr lang="en-US" sz="1100" spc="-20" dirty="0">
                <a:solidFill>
                  <a:srgbClr val="6C747D"/>
                </a:solidFill>
                <a:latin typeface="Microsoft Sans Serif"/>
                <a:cs typeface="Microsoft Sans Serif"/>
              </a:rPr>
              <a:t>2015</a:t>
            </a:r>
            <a:endParaRPr lang="en-US" sz="11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 err="1">
                <a:solidFill>
                  <a:srgbClr val="6C747D"/>
                </a:solidFill>
                <a:latin typeface="Microsoft Sans Serif"/>
                <a:cs typeface="Microsoft Sans Serif"/>
              </a:rPr>
              <a:t>Địa</a:t>
            </a:r>
            <a:r>
              <a:rPr sz="1100" spc="-30" dirty="0">
                <a:solidFill>
                  <a:srgbClr val="6C747D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6C747D"/>
                </a:solidFill>
                <a:latin typeface="Microsoft Sans Serif"/>
                <a:cs typeface="Microsoft Sans Serif"/>
              </a:rPr>
              <a:t>điểm:</a:t>
            </a:r>
            <a:r>
              <a:rPr sz="1100" spc="60" dirty="0">
                <a:solidFill>
                  <a:srgbClr val="6C747D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6C747D"/>
                </a:solidFill>
                <a:latin typeface="Microsoft Sans Serif"/>
                <a:cs typeface="Microsoft Sans Serif"/>
              </a:rPr>
              <a:t>Thành</a:t>
            </a:r>
            <a:r>
              <a:rPr sz="1100" spc="-30" dirty="0">
                <a:solidFill>
                  <a:srgbClr val="6C747D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6C747D"/>
                </a:solidFill>
                <a:latin typeface="Microsoft Sans Serif"/>
                <a:cs typeface="Microsoft Sans Serif"/>
              </a:rPr>
              <a:t>phố </a:t>
            </a:r>
            <a:r>
              <a:rPr sz="1100" spc="-10" dirty="0">
                <a:solidFill>
                  <a:srgbClr val="6C747D"/>
                </a:solidFill>
                <a:latin typeface="Microsoft Sans Serif"/>
                <a:cs typeface="Microsoft Sans Serif"/>
              </a:rPr>
              <a:t>lớn</a:t>
            </a:r>
            <a:r>
              <a:rPr sz="1100" spc="-30" dirty="0">
                <a:solidFill>
                  <a:srgbClr val="6C747D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6C747D"/>
                </a:solidFill>
                <a:latin typeface="Microsoft Sans Serif"/>
                <a:cs typeface="Microsoft Sans Serif"/>
              </a:rPr>
              <a:t>(NYC)</a:t>
            </a:r>
            <a:endParaRPr sz="1100" dirty="0">
              <a:latin typeface="Microsoft Sans Serif"/>
              <a:cs typeface="Microsoft Sans Serif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346832" y="607275"/>
          <a:ext cx="3052444" cy="1585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8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0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000" b="1" spc="45" dirty="0">
                          <a:solidFill>
                            <a:srgbClr val="1B1B2D"/>
                          </a:solidFill>
                          <a:latin typeface="Tahoma"/>
                          <a:cs typeface="Tahoma"/>
                        </a:rPr>
                        <a:t>#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40640" marB="0">
                    <a:lnT w="12700">
                      <a:solidFill>
                        <a:srgbClr val="1B1B2D"/>
                      </a:solidFill>
                      <a:prstDash val="solid"/>
                    </a:lnT>
                    <a:lnB w="9525">
                      <a:solidFill>
                        <a:srgbClr val="1B1B2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000" b="1" spc="-10" dirty="0">
                          <a:solidFill>
                            <a:srgbClr val="1B1B2D"/>
                          </a:solidFill>
                          <a:latin typeface="Tahoma"/>
                          <a:cs typeface="Tahoma"/>
                        </a:rPr>
                        <a:t>Thuộc</a:t>
                      </a:r>
                      <a:r>
                        <a:rPr sz="1000" b="1" spc="-35" dirty="0">
                          <a:solidFill>
                            <a:srgbClr val="1B1B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b="1" spc="-20" dirty="0">
                          <a:solidFill>
                            <a:srgbClr val="1B1B2D"/>
                          </a:solidFill>
                          <a:latin typeface="Tahoma"/>
                          <a:cs typeface="Tahoma"/>
                        </a:rPr>
                        <a:t>tính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40640" marB="0">
                    <a:lnT w="12700">
                      <a:solidFill>
                        <a:srgbClr val="1B1B2D"/>
                      </a:solidFill>
                      <a:prstDash val="solid"/>
                    </a:lnT>
                    <a:lnB w="9525">
                      <a:solidFill>
                        <a:srgbClr val="1B1B2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000" b="1" spc="-20" dirty="0">
                          <a:solidFill>
                            <a:srgbClr val="1B1B2D"/>
                          </a:solidFill>
                          <a:latin typeface="Tahoma"/>
                          <a:cs typeface="Tahoma"/>
                        </a:rPr>
                        <a:t>Kiểu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40640" marB="0">
                    <a:lnT w="12700">
                      <a:solidFill>
                        <a:srgbClr val="1B1B2D"/>
                      </a:solidFill>
                      <a:prstDash val="solid"/>
                    </a:lnT>
                    <a:lnB w="9525">
                      <a:solidFill>
                        <a:srgbClr val="1B1B2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000" b="1" dirty="0">
                          <a:solidFill>
                            <a:srgbClr val="1B1B2D"/>
                          </a:solidFill>
                          <a:latin typeface="Tahoma"/>
                          <a:cs typeface="Tahoma"/>
                        </a:rPr>
                        <a:t>Mô</a:t>
                      </a:r>
                      <a:r>
                        <a:rPr sz="1000" b="1" spc="80" dirty="0">
                          <a:solidFill>
                            <a:srgbClr val="1B1B2D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1B1B2D"/>
                          </a:solidFill>
                          <a:latin typeface="Tahoma"/>
                          <a:cs typeface="Tahoma"/>
                        </a:rPr>
                        <a:t>tả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40640" marB="0">
                    <a:lnT w="12700">
                      <a:solidFill>
                        <a:srgbClr val="1B1B2D"/>
                      </a:solidFill>
                      <a:prstDash val="solid"/>
                    </a:lnT>
                    <a:lnB w="9525">
                      <a:solidFill>
                        <a:srgbClr val="1B1B2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915"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spc="-50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1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9370" marB="0">
                    <a:lnT w="9525">
                      <a:solidFill>
                        <a:srgbClr val="1B1B2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spc="25" dirty="0">
                          <a:solidFill>
                            <a:srgbClr val="1B1B2D"/>
                          </a:solidFill>
                          <a:latin typeface="Calibri"/>
                          <a:cs typeface="Calibri"/>
                        </a:rPr>
                        <a:t>key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39370" marB="0">
                    <a:lnT w="9525">
                      <a:solidFill>
                        <a:srgbClr val="1B1B2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spc="-10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String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9370" marB="0">
                    <a:lnT w="9525">
                      <a:solidFill>
                        <a:srgbClr val="1B1B2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000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ID</a:t>
                      </a:r>
                      <a:r>
                        <a:rPr sz="1000" spc="25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50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chuyến</a:t>
                      </a:r>
                      <a:r>
                        <a:rPr sz="1000" spc="25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5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đi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9370" marB="0">
                    <a:lnT w="9525">
                      <a:solidFill>
                        <a:srgbClr val="1B1B2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marL="26034">
                        <a:lnSpc>
                          <a:spcPts val="1080"/>
                        </a:lnSpc>
                      </a:pPr>
                      <a:r>
                        <a:rPr sz="1000" spc="-50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2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80"/>
                        </a:lnSpc>
                      </a:pPr>
                      <a:r>
                        <a:rPr sz="1000" spc="-10" dirty="0">
                          <a:solidFill>
                            <a:srgbClr val="1B1B2D"/>
                          </a:solidFill>
                          <a:latin typeface="Calibri"/>
                          <a:cs typeface="Calibri"/>
                        </a:rPr>
                        <a:t>fare_amount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80"/>
                        </a:lnSpc>
                      </a:pPr>
                      <a:r>
                        <a:rPr sz="1000" spc="-10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Float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80"/>
                        </a:lnSpc>
                      </a:pPr>
                      <a:r>
                        <a:rPr sz="1000" spc="-30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Cước</a:t>
                      </a:r>
                      <a:r>
                        <a:rPr sz="1000" spc="-20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phí</a:t>
                      </a:r>
                      <a:r>
                        <a:rPr sz="1000" spc="-20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(USD)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marL="26034">
                        <a:lnSpc>
                          <a:spcPts val="1120"/>
                        </a:lnSpc>
                      </a:pPr>
                      <a:r>
                        <a:rPr sz="1000" spc="-50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3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20"/>
                        </a:lnSpc>
                      </a:pPr>
                      <a:r>
                        <a:rPr sz="1000" spc="45" dirty="0">
                          <a:solidFill>
                            <a:srgbClr val="1B1B2D"/>
                          </a:solidFill>
                          <a:latin typeface="Calibri"/>
                          <a:cs typeface="Calibri"/>
                        </a:rPr>
                        <a:t>pickup_datetime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20"/>
                        </a:lnSpc>
                      </a:pPr>
                      <a:r>
                        <a:rPr sz="1000" spc="-10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Datetime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20"/>
                        </a:lnSpc>
                      </a:pPr>
                      <a:r>
                        <a:rPr sz="1000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Thời</a:t>
                      </a:r>
                      <a:r>
                        <a:rPr sz="1000" spc="10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30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điểm</a:t>
                      </a:r>
                      <a:r>
                        <a:rPr sz="1000" spc="10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5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đón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26034">
                        <a:lnSpc>
                          <a:spcPts val="1080"/>
                        </a:lnSpc>
                      </a:pPr>
                      <a:r>
                        <a:rPr sz="1000" spc="-50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4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80"/>
                        </a:lnSpc>
                      </a:pPr>
                      <a:r>
                        <a:rPr sz="1000" spc="60" dirty="0">
                          <a:solidFill>
                            <a:srgbClr val="1B1B2D"/>
                          </a:solidFill>
                          <a:latin typeface="Calibri"/>
                          <a:cs typeface="Calibri"/>
                        </a:rPr>
                        <a:t>pickup_longitude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80"/>
                        </a:lnSpc>
                      </a:pPr>
                      <a:r>
                        <a:rPr sz="1000" spc="-10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Float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80"/>
                        </a:lnSpc>
                      </a:pPr>
                      <a:r>
                        <a:rPr sz="1000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Kinh</a:t>
                      </a:r>
                      <a:r>
                        <a:rPr sz="1000" spc="-10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độ</a:t>
                      </a:r>
                      <a:r>
                        <a:rPr sz="1000" spc="-10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5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đón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26034">
                        <a:lnSpc>
                          <a:spcPts val="1080"/>
                        </a:lnSpc>
                      </a:pPr>
                      <a:r>
                        <a:rPr sz="1000" spc="-50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5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80"/>
                        </a:lnSpc>
                      </a:pPr>
                      <a:r>
                        <a:rPr sz="1000" spc="85" dirty="0">
                          <a:solidFill>
                            <a:srgbClr val="1B1B2D"/>
                          </a:solidFill>
                          <a:latin typeface="Calibri"/>
                          <a:cs typeface="Calibri"/>
                        </a:rPr>
                        <a:t>pickup_latitude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80"/>
                        </a:lnSpc>
                      </a:pPr>
                      <a:r>
                        <a:rPr sz="1000" spc="-10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Float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80"/>
                        </a:lnSpc>
                      </a:pPr>
                      <a:r>
                        <a:rPr sz="1000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Vĩ</a:t>
                      </a:r>
                      <a:r>
                        <a:rPr sz="1000" spc="20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độ</a:t>
                      </a:r>
                      <a:r>
                        <a:rPr sz="1000" spc="20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5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đón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26034">
                        <a:lnSpc>
                          <a:spcPts val="1080"/>
                        </a:lnSpc>
                      </a:pPr>
                      <a:r>
                        <a:rPr sz="1000" spc="-50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6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80"/>
                        </a:lnSpc>
                      </a:pPr>
                      <a:r>
                        <a:rPr sz="1000" spc="65" dirty="0">
                          <a:solidFill>
                            <a:srgbClr val="1B1B2D"/>
                          </a:solidFill>
                          <a:latin typeface="Calibri"/>
                          <a:cs typeface="Calibri"/>
                        </a:rPr>
                        <a:t>dropoff_longitude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80"/>
                        </a:lnSpc>
                      </a:pPr>
                      <a:r>
                        <a:rPr sz="1000" spc="-10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Float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80"/>
                        </a:lnSpc>
                      </a:pPr>
                      <a:r>
                        <a:rPr sz="1000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Kinh</a:t>
                      </a:r>
                      <a:r>
                        <a:rPr sz="1000" spc="-10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độ</a:t>
                      </a:r>
                      <a:r>
                        <a:rPr sz="1000" spc="-10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5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trả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marL="26034">
                        <a:lnSpc>
                          <a:spcPts val="1080"/>
                        </a:lnSpc>
                      </a:pPr>
                      <a:r>
                        <a:rPr sz="1000" spc="-50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7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80"/>
                        </a:lnSpc>
                      </a:pPr>
                      <a:r>
                        <a:rPr sz="1000" spc="85" dirty="0">
                          <a:solidFill>
                            <a:srgbClr val="1B1B2D"/>
                          </a:solidFill>
                          <a:latin typeface="Calibri"/>
                          <a:cs typeface="Calibri"/>
                        </a:rPr>
                        <a:t>dropoff_latitude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80"/>
                        </a:lnSpc>
                      </a:pPr>
                      <a:r>
                        <a:rPr sz="1000" spc="-10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Float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80"/>
                        </a:lnSpc>
                      </a:pPr>
                      <a:r>
                        <a:rPr sz="1000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Vĩ</a:t>
                      </a:r>
                      <a:r>
                        <a:rPr sz="1000" spc="20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độ</a:t>
                      </a:r>
                      <a:r>
                        <a:rPr sz="1000" spc="20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5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trả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marL="26034">
                        <a:lnSpc>
                          <a:spcPts val="1120"/>
                        </a:lnSpc>
                      </a:pPr>
                      <a:r>
                        <a:rPr sz="1000" spc="-50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8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B w="12700">
                      <a:solidFill>
                        <a:srgbClr val="1B1B2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20"/>
                        </a:lnSpc>
                      </a:pPr>
                      <a:r>
                        <a:rPr sz="1000" spc="40" dirty="0">
                          <a:solidFill>
                            <a:srgbClr val="1B1B2D"/>
                          </a:solidFill>
                          <a:latin typeface="Calibri"/>
                          <a:cs typeface="Calibri"/>
                        </a:rPr>
                        <a:t>passenger_count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12700">
                      <a:solidFill>
                        <a:srgbClr val="1B1B2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20"/>
                        </a:lnSpc>
                      </a:pPr>
                      <a:r>
                        <a:rPr sz="1000" spc="-10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Integer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B w="12700">
                      <a:solidFill>
                        <a:srgbClr val="1B1B2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20"/>
                        </a:lnSpc>
                      </a:pPr>
                      <a:r>
                        <a:rPr sz="1000" spc="-50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Số</a:t>
                      </a:r>
                      <a:r>
                        <a:rPr sz="1000" spc="-20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30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hành</a:t>
                      </a:r>
                      <a:r>
                        <a:rPr sz="1000" spc="-20" dirty="0">
                          <a:solidFill>
                            <a:srgbClr val="1B1B2D"/>
                          </a:solidFill>
                          <a:latin typeface="Microsoft Sans Serif"/>
                          <a:cs typeface="Microsoft Sans Serif"/>
                        </a:rPr>
                        <a:t> khách</a:t>
                      </a:r>
                      <a:endParaRPr sz="10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B w="12700">
                      <a:solidFill>
                        <a:srgbClr val="1B1B2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10" name="object 10"/>
          <p:cNvGrpSpPr/>
          <p:nvPr/>
        </p:nvGrpSpPr>
        <p:grpSpPr>
          <a:xfrm>
            <a:off x="-5" y="3130372"/>
            <a:ext cx="5760085" cy="109855"/>
            <a:chOff x="-5" y="3130372"/>
            <a:chExt cx="576008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130372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12"/>
                  </a:moveTo>
                  <a:lnTo>
                    <a:pt x="0" y="12"/>
                  </a:lnTo>
                  <a:lnTo>
                    <a:pt x="0" y="109639"/>
                  </a:lnTo>
                  <a:lnTo>
                    <a:pt x="1919973" y="109639"/>
                  </a:lnTo>
                  <a:lnTo>
                    <a:pt x="1919973" y="12"/>
                  </a:lnTo>
                  <a:close/>
                </a:path>
              </a:pathLst>
            </a:custGeom>
            <a:solidFill>
              <a:srgbClr val="197F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19973" y="3130397"/>
              <a:ext cx="3840479" cy="109855"/>
            </a:xfrm>
            <a:custGeom>
              <a:avLst/>
              <a:gdLst/>
              <a:ahLst/>
              <a:cxnLst/>
              <a:rect l="l" t="t" r="r" b="b"/>
              <a:pathLst>
                <a:path w="3840479" h="109855">
                  <a:moveTo>
                    <a:pt x="3839946" y="0"/>
                  </a:moveTo>
                  <a:lnTo>
                    <a:pt x="1919973" y="0"/>
                  </a:lnTo>
                  <a:lnTo>
                    <a:pt x="0" y="0"/>
                  </a:lnTo>
                  <a:lnTo>
                    <a:pt x="0" y="109613"/>
                  </a:lnTo>
                  <a:lnTo>
                    <a:pt x="1919973" y="109613"/>
                  </a:lnTo>
                  <a:lnTo>
                    <a:pt x="3839946" y="109613"/>
                  </a:lnTo>
                  <a:lnTo>
                    <a:pt x="3839946" y="0"/>
                  </a:lnTo>
                  <a:close/>
                </a:path>
              </a:pathLst>
            </a:custGeom>
            <a:solidFill>
              <a:srgbClr val="0C2B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-5" y="3214705"/>
              <a:ext cx="0" cy="25400"/>
            </a:xfrm>
            <a:custGeom>
              <a:avLst/>
              <a:gdLst/>
              <a:ahLst/>
              <a:cxnLst/>
              <a:rect l="l" t="t" r="r" b="b"/>
              <a:pathLst>
                <a:path h="25400">
                  <a:moveTo>
                    <a:pt x="0" y="25305"/>
                  </a:moveTo>
                  <a:lnTo>
                    <a:pt x="0" y="0"/>
                  </a:lnTo>
                  <a:lnTo>
                    <a:pt x="0" y="25305"/>
                  </a:lnTo>
                  <a:close/>
                </a:path>
                <a:path h="25400">
                  <a:moveTo>
                    <a:pt x="0" y="0"/>
                  </a:moveTo>
                </a:path>
              </a:pathLst>
            </a:custGeom>
            <a:solidFill>
              <a:srgbClr val="A3CB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Hiếu</a:t>
            </a:r>
            <a:r>
              <a:rPr spc="35" dirty="0"/>
              <a:t> </a:t>
            </a:r>
            <a:r>
              <a:rPr dirty="0">
                <a:latin typeface="Cambria"/>
                <a:cs typeface="Cambria"/>
              </a:rPr>
              <a:t>·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dirty="0"/>
              <a:t>Trọng</a:t>
            </a:r>
            <a:r>
              <a:rPr spc="35" dirty="0"/>
              <a:t> </a:t>
            </a:r>
            <a:r>
              <a:rPr dirty="0">
                <a:latin typeface="Cambria"/>
                <a:cs typeface="Cambria"/>
              </a:rPr>
              <a:t>·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dirty="0"/>
              <a:t>Quang</a:t>
            </a:r>
            <a:r>
              <a:rPr spc="245" dirty="0"/>
              <a:t> </a:t>
            </a:r>
            <a:r>
              <a:rPr dirty="0"/>
              <a:t>(ĐH</a:t>
            </a:r>
            <a:r>
              <a:rPr spc="40" dirty="0"/>
              <a:t> </a:t>
            </a:r>
            <a:r>
              <a:rPr spc="-10" dirty="0"/>
              <a:t>Phenikaa)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441397" y="3122447"/>
            <a:ext cx="877569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3" action="ppaction://hlinksldjump"/>
              </a:rPr>
              <a:t>Cước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3" action="ppaction://hlinksldjump"/>
              </a:rPr>
              <a:t>phí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3" action="ppaction://hlinksldjump"/>
              </a:rPr>
              <a:t>Taxi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·</a:t>
            </a:r>
            <a:r>
              <a:rPr sz="600" spc="5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Microsoft Sans Serif"/>
                <a:cs typeface="Microsoft Sans Serif"/>
                <a:hlinkClick r:id="rId3" action="ppaction://hlinksldjump"/>
              </a:rPr>
              <a:t>Phenikaa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20" dirty="0"/>
              <a:t>2026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491595" y="3135808"/>
            <a:ext cx="21399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6</a:t>
            </a:r>
            <a:r>
              <a:rPr sz="6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00" spc="150" dirty="0">
                <a:solidFill>
                  <a:srgbClr val="FFFFFF"/>
                </a:solidFill>
                <a:latin typeface="Microsoft Sans Serif"/>
                <a:cs typeface="Microsoft Sans Serif"/>
              </a:rPr>
              <a:t>/</a:t>
            </a:r>
            <a:r>
              <a:rPr sz="6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19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19" name="Hộp Văn bản 18">
            <a:extLst>
              <a:ext uri="{FF2B5EF4-FFF2-40B4-BE49-F238E27FC236}">
                <a16:creationId xmlns:a16="http://schemas.microsoft.com/office/drawing/2014/main" id="{D884E536-1104-ED80-48A0-88745F00C680}"/>
              </a:ext>
            </a:extLst>
          </p:cNvPr>
          <p:cNvSpPr txBox="1"/>
          <p:nvPr/>
        </p:nvSpPr>
        <p:spPr>
          <a:xfrm>
            <a:off x="2329422" y="2521990"/>
            <a:ext cx="29156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vi-VN" sz="1000" spc="80" dirty="0" err="1">
                <a:solidFill>
                  <a:srgbClr val="1B1B2D"/>
                </a:solidFill>
                <a:latin typeface="Calibri"/>
                <a:cs typeface="Calibri"/>
              </a:rPr>
              <a:t>fare_per_mile</a:t>
            </a:r>
            <a:r>
              <a:rPr lang="vi-VN" sz="1000" spc="120" dirty="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lang="vi-VN" sz="1000" dirty="0">
                <a:solidFill>
                  <a:srgbClr val="1B1B2D"/>
                </a:solidFill>
                <a:latin typeface="Tahoma"/>
                <a:cs typeface="Tahoma"/>
              </a:rPr>
              <a:t>=</a:t>
            </a:r>
            <a:r>
              <a:rPr lang="vi-VN" sz="1000" spc="2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lang="vi-VN" sz="1000" spc="-55" dirty="0">
                <a:solidFill>
                  <a:srgbClr val="1B1B2D"/>
                </a:solidFill>
                <a:latin typeface="Tahoma"/>
                <a:cs typeface="Tahoma"/>
              </a:rPr>
              <a:t>cước</a:t>
            </a:r>
            <a:r>
              <a:rPr lang="vi-VN" sz="1000" spc="1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lang="vi-VN" sz="1000" spc="120" dirty="0">
                <a:solidFill>
                  <a:srgbClr val="1B1B2D"/>
                </a:solidFill>
                <a:latin typeface="Tahoma"/>
                <a:cs typeface="Tahoma"/>
              </a:rPr>
              <a:t>/</a:t>
            </a:r>
            <a:r>
              <a:rPr lang="vi-VN" sz="1000" spc="2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lang="vi-VN" sz="1000" spc="-70" dirty="0">
                <a:solidFill>
                  <a:srgbClr val="1B1B2D"/>
                </a:solidFill>
                <a:latin typeface="Tahoma"/>
                <a:cs typeface="Tahoma"/>
              </a:rPr>
              <a:t>quãng</a:t>
            </a:r>
            <a:r>
              <a:rPr lang="vi-VN" sz="1000" spc="2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lang="vi-VN" sz="1000" spc="-10" dirty="0">
                <a:solidFill>
                  <a:srgbClr val="1B1B2D"/>
                </a:solidFill>
                <a:latin typeface="Tahoma"/>
                <a:cs typeface="Tahoma"/>
              </a:rPr>
              <a:t>đường</a:t>
            </a:r>
            <a:endParaRPr lang="vi-VN" sz="10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lang="vi-VN" sz="1000" spc="85" dirty="0" err="1">
                <a:solidFill>
                  <a:srgbClr val="1B1B2D"/>
                </a:solidFill>
                <a:latin typeface="Calibri"/>
                <a:cs typeface="Calibri"/>
              </a:rPr>
              <a:t>duration_bin</a:t>
            </a:r>
            <a:r>
              <a:rPr lang="vi-VN" sz="1000" spc="120" dirty="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lang="vi-VN" sz="1000" dirty="0">
                <a:solidFill>
                  <a:srgbClr val="1B1B2D"/>
                </a:solidFill>
                <a:latin typeface="Tahoma"/>
                <a:cs typeface="Tahoma"/>
              </a:rPr>
              <a:t>=</a:t>
            </a:r>
            <a:r>
              <a:rPr lang="vi-VN" sz="1000" spc="2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lang="vi-VN" sz="1000" spc="-45" dirty="0">
                <a:solidFill>
                  <a:srgbClr val="1B1B2D"/>
                </a:solidFill>
                <a:latin typeface="Tahoma"/>
                <a:cs typeface="Tahoma"/>
              </a:rPr>
              <a:t>Ngắn</a:t>
            </a:r>
            <a:r>
              <a:rPr lang="vi-VN" sz="1000" spc="2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lang="vi-VN" sz="1000" spc="120" dirty="0">
                <a:solidFill>
                  <a:srgbClr val="1B1B2D"/>
                </a:solidFill>
                <a:latin typeface="Tahoma"/>
                <a:cs typeface="Tahoma"/>
              </a:rPr>
              <a:t>/</a:t>
            </a:r>
            <a:r>
              <a:rPr lang="vi-VN" sz="1000" spc="2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lang="vi-VN" sz="1000" spc="75" dirty="0">
                <a:solidFill>
                  <a:srgbClr val="1B1B2D"/>
                </a:solidFill>
                <a:latin typeface="Tahoma"/>
                <a:cs typeface="Tahoma"/>
              </a:rPr>
              <a:t>TB</a:t>
            </a:r>
            <a:r>
              <a:rPr lang="vi-VN" sz="1000" spc="2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lang="vi-VN" sz="1000" spc="120" dirty="0">
                <a:solidFill>
                  <a:srgbClr val="1B1B2D"/>
                </a:solidFill>
                <a:latin typeface="Tahoma"/>
                <a:cs typeface="Tahoma"/>
              </a:rPr>
              <a:t>/</a:t>
            </a:r>
            <a:r>
              <a:rPr lang="vi-VN" sz="1000" spc="2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lang="vi-VN" sz="1000" spc="-25" dirty="0">
                <a:solidFill>
                  <a:srgbClr val="1B1B2D"/>
                </a:solidFill>
                <a:latin typeface="Tahoma"/>
                <a:cs typeface="Tahoma"/>
              </a:rPr>
              <a:t>Dài</a:t>
            </a:r>
            <a:endParaRPr lang="vi-VN" sz="1000" dirty="0">
              <a:latin typeface="Tahoma"/>
              <a:cs typeface="Tahoma"/>
            </a:endParaRPr>
          </a:p>
        </p:txBody>
      </p:sp>
      <p:sp>
        <p:nvSpPr>
          <p:cNvPr id="20" name="object 14">
            <a:extLst>
              <a:ext uri="{FF2B5EF4-FFF2-40B4-BE49-F238E27FC236}">
                <a16:creationId xmlns:a16="http://schemas.microsoft.com/office/drawing/2014/main" id="{34B0564C-E98A-49E0-FE1D-4D526605E7B1}"/>
              </a:ext>
            </a:extLst>
          </p:cNvPr>
          <p:cNvSpPr/>
          <p:nvPr/>
        </p:nvSpPr>
        <p:spPr>
          <a:xfrm>
            <a:off x="2349500" y="2227255"/>
            <a:ext cx="2724150" cy="260350"/>
          </a:xfrm>
          <a:custGeom>
            <a:avLst/>
            <a:gdLst/>
            <a:ahLst/>
            <a:cxnLst/>
            <a:rect l="l" t="t" r="r" b="b"/>
            <a:pathLst>
              <a:path w="2724150" h="260350">
                <a:moveTo>
                  <a:pt x="267292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59955"/>
                </a:lnTo>
                <a:lnTo>
                  <a:pt x="2723725" y="259955"/>
                </a:lnTo>
                <a:lnTo>
                  <a:pt x="2723725" y="50800"/>
                </a:lnTo>
                <a:lnTo>
                  <a:pt x="2719716" y="31075"/>
                </a:lnTo>
                <a:lnTo>
                  <a:pt x="2708802" y="14922"/>
                </a:lnTo>
                <a:lnTo>
                  <a:pt x="2692649" y="4008"/>
                </a:lnTo>
                <a:lnTo>
                  <a:pt x="2672924" y="0"/>
                </a:lnTo>
                <a:close/>
              </a:path>
            </a:pathLst>
          </a:custGeom>
          <a:solidFill>
            <a:srgbClr val="197F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Hộp Văn bản 21">
            <a:extLst>
              <a:ext uri="{FF2B5EF4-FFF2-40B4-BE49-F238E27FC236}">
                <a16:creationId xmlns:a16="http://schemas.microsoft.com/office/drawing/2014/main" id="{88E103F3-B8CA-24D3-C92E-302DED0A5D6F}"/>
              </a:ext>
            </a:extLst>
          </p:cNvPr>
          <p:cNvSpPr txBox="1"/>
          <p:nvPr/>
        </p:nvSpPr>
        <p:spPr>
          <a:xfrm>
            <a:off x="2311988" y="2227255"/>
            <a:ext cx="2704512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</a:pPr>
            <a:r>
              <a:rPr lang="en-US" sz="1400" b="1" spc="-50" dirty="0">
                <a:solidFill>
                  <a:srgbClr val="FFFFFF"/>
                </a:solidFill>
                <a:latin typeface="Tahoma"/>
                <a:cs typeface="Tahoma"/>
              </a:rPr>
              <a:t>Feature</a:t>
            </a:r>
            <a:r>
              <a:rPr lang="en-US" sz="14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1400" b="1" spc="-70" dirty="0">
                <a:solidFill>
                  <a:srgbClr val="FFFFFF"/>
                </a:solidFill>
                <a:latin typeface="Tahoma"/>
                <a:cs typeface="Tahoma"/>
              </a:rPr>
              <a:t>Engineering</a:t>
            </a:r>
            <a:r>
              <a:rPr lang="en-US" sz="1400" b="1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1400" b="1" spc="-10" dirty="0" err="1">
                <a:solidFill>
                  <a:srgbClr val="FFFFFF"/>
                </a:solidFill>
                <a:latin typeface="Tahoma"/>
                <a:cs typeface="Tahoma"/>
              </a:rPr>
              <a:t>tạo</a:t>
            </a:r>
            <a:r>
              <a:rPr lang="en-US" sz="1400" b="1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1400" b="1" spc="-55" dirty="0" err="1">
                <a:solidFill>
                  <a:srgbClr val="FFFFFF"/>
                </a:solidFill>
                <a:latin typeface="Tahoma"/>
                <a:cs typeface="Tahoma"/>
              </a:rPr>
              <a:t>thêm</a:t>
            </a:r>
            <a:endParaRPr lang="en-US" sz="14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7363"/>
            <a:ext cx="43002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Thống</a:t>
            </a:r>
            <a:r>
              <a:rPr spc="-15" dirty="0"/>
              <a:t> </a:t>
            </a:r>
            <a:r>
              <a:rPr spc="-35" dirty="0"/>
              <a:t>kê</a:t>
            </a:r>
            <a:r>
              <a:rPr spc="-10" dirty="0"/>
              <a:t> </a:t>
            </a:r>
            <a:r>
              <a:rPr dirty="0"/>
              <a:t>Mô</a:t>
            </a:r>
            <a:r>
              <a:rPr spc="-10" dirty="0"/>
              <a:t> </a:t>
            </a:r>
            <a:r>
              <a:rPr dirty="0"/>
              <a:t>tả</a:t>
            </a:r>
            <a:r>
              <a:rPr spc="-5" dirty="0"/>
              <a:t> </a:t>
            </a:r>
            <a:r>
              <a:rPr dirty="0"/>
              <a:t>–</a:t>
            </a:r>
            <a:r>
              <a:rPr spc="-10" dirty="0"/>
              <a:t> Chân </a:t>
            </a:r>
            <a:r>
              <a:rPr spc="-55" dirty="0"/>
              <a:t>dung</a:t>
            </a:r>
            <a:r>
              <a:rPr spc="-10" dirty="0"/>
              <a:t> </a:t>
            </a:r>
            <a:r>
              <a:rPr spc="-55" dirty="0"/>
              <a:t>Chuyến</a:t>
            </a:r>
            <a:r>
              <a:rPr spc="-10" dirty="0"/>
              <a:t> </a:t>
            </a:r>
            <a:r>
              <a:rPr dirty="0"/>
              <a:t>đi</a:t>
            </a:r>
            <a:r>
              <a:rPr spc="-5" dirty="0"/>
              <a:t> </a:t>
            </a:r>
            <a:r>
              <a:rPr spc="-20" dirty="0"/>
              <a:t>Điển</a:t>
            </a:r>
            <a:r>
              <a:rPr spc="-10" dirty="0"/>
              <a:t> </a:t>
            </a:r>
            <a:r>
              <a:rPr spc="-35" dirty="0"/>
              <a:t>hình</a:t>
            </a:r>
          </a:p>
        </p:txBody>
      </p:sp>
      <p:sp>
        <p:nvSpPr>
          <p:cNvPr id="3" name="object 3"/>
          <p:cNvSpPr/>
          <p:nvPr/>
        </p:nvSpPr>
        <p:spPr>
          <a:xfrm>
            <a:off x="418285" y="650987"/>
            <a:ext cx="648335" cy="648335"/>
          </a:xfrm>
          <a:custGeom>
            <a:avLst/>
            <a:gdLst/>
            <a:ahLst/>
            <a:cxnLst/>
            <a:rect l="l" t="t" r="r" b="b"/>
            <a:pathLst>
              <a:path w="648335" h="648335">
                <a:moveTo>
                  <a:pt x="324004" y="0"/>
                </a:moveTo>
                <a:lnTo>
                  <a:pt x="276124" y="3512"/>
                </a:lnTo>
                <a:lnTo>
                  <a:pt x="230426" y="13717"/>
                </a:lnTo>
                <a:lnTo>
                  <a:pt x="187411" y="30113"/>
                </a:lnTo>
                <a:lnTo>
                  <a:pt x="147579" y="52198"/>
                </a:lnTo>
                <a:lnTo>
                  <a:pt x="111432" y="79472"/>
                </a:lnTo>
                <a:lnTo>
                  <a:pt x="79472" y="111432"/>
                </a:lnTo>
                <a:lnTo>
                  <a:pt x="52198" y="147579"/>
                </a:lnTo>
                <a:lnTo>
                  <a:pt x="30113" y="187411"/>
                </a:lnTo>
                <a:lnTo>
                  <a:pt x="13717" y="230426"/>
                </a:lnTo>
                <a:lnTo>
                  <a:pt x="3512" y="276124"/>
                </a:lnTo>
                <a:lnTo>
                  <a:pt x="0" y="324004"/>
                </a:lnTo>
                <a:lnTo>
                  <a:pt x="3512" y="371883"/>
                </a:lnTo>
                <a:lnTo>
                  <a:pt x="13717" y="417581"/>
                </a:lnTo>
                <a:lnTo>
                  <a:pt x="30113" y="460597"/>
                </a:lnTo>
                <a:lnTo>
                  <a:pt x="52198" y="500429"/>
                </a:lnTo>
                <a:lnTo>
                  <a:pt x="79472" y="536576"/>
                </a:lnTo>
                <a:lnTo>
                  <a:pt x="111432" y="568536"/>
                </a:lnTo>
                <a:lnTo>
                  <a:pt x="147579" y="595810"/>
                </a:lnTo>
                <a:lnTo>
                  <a:pt x="187411" y="617895"/>
                </a:lnTo>
                <a:lnTo>
                  <a:pt x="230426" y="634291"/>
                </a:lnTo>
                <a:lnTo>
                  <a:pt x="276124" y="644495"/>
                </a:lnTo>
                <a:lnTo>
                  <a:pt x="324004" y="648008"/>
                </a:lnTo>
                <a:lnTo>
                  <a:pt x="371883" y="644495"/>
                </a:lnTo>
                <a:lnTo>
                  <a:pt x="417581" y="634291"/>
                </a:lnTo>
                <a:lnTo>
                  <a:pt x="460597" y="617895"/>
                </a:lnTo>
                <a:lnTo>
                  <a:pt x="500429" y="595810"/>
                </a:lnTo>
                <a:lnTo>
                  <a:pt x="536576" y="568536"/>
                </a:lnTo>
                <a:lnTo>
                  <a:pt x="568536" y="536576"/>
                </a:lnTo>
                <a:lnTo>
                  <a:pt x="595810" y="500429"/>
                </a:lnTo>
                <a:lnTo>
                  <a:pt x="617895" y="460597"/>
                </a:lnTo>
                <a:lnTo>
                  <a:pt x="634291" y="417581"/>
                </a:lnTo>
                <a:lnTo>
                  <a:pt x="644495" y="371883"/>
                </a:lnTo>
                <a:lnTo>
                  <a:pt x="648008" y="324004"/>
                </a:lnTo>
                <a:lnTo>
                  <a:pt x="644495" y="276124"/>
                </a:lnTo>
                <a:lnTo>
                  <a:pt x="634291" y="230426"/>
                </a:lnTo>
                <a:lnTo>
                  <a:pt x="617895" y="187411"/>
                </a:lnTo>
                <a:lnTo>
                  <a:pt x="595810" y="147579"/>
                </a:lnTo>
                <a:lnTo>
                  <a:pt x="568536" y="111432"/>
                </a:lnTo>
                <a:lnTo>
                  <a:pt x="536576" y="79472"/>
                </a:lnTo>
                <a:lnTo>
                  <a:pt x="500429" y="52198"/>
                </a:lnTo>
                <a:lnTo>
                  <a:pt x="460597" y="30113"/>
                </a:lnTo>
                <a:lnTo>
                  <a:pt x="417581" y="13717"/>
                </a:lnTo>
                <a:lnTo>
                  <a:pt x="371883" y="3512"/>
                </a:lnTo>
                <a:lnTo>
                  <a:pt x="324004" y="0"/>
                </a:lnTo>
                <a:close/>
              </a:path>
            </a:pathLst>
          </a:custGeom>
          <a:solidFill>
            <a:srgbClr val="197F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01395" y="846376"/>
            <a:ext cx="48196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75" dirty="0">
                <a:solidFill>
                  <a:srgbClr val="FFFFFF"/>
                </a:solidFill>
                <a:latin typeface="Tahoma"/>
                <a:cs typeface="Tahoma"/>
              </a:rPr>
              <a:t>$11.5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5988" y="1356510"/>
            <a:ext cx="8528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25" dirty="0">
                <a:solidFill>
                  <a:srgbClr val="1B1B2D"/>
                </a:solidFill>
                <a:latin typeface="Tahoma"/>
                <a:cs typeface="Tahoma"/>
              </a:rPr>
              <a:t>Cước</a:t>
            </a:r>
            <a:r>
              <a:rPr sz="1100" b="1" spc="-4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100" b="1" spc="-35" dirty="0">
                <a:solidFill>
                  <a:srgbClr val="1B1B2D"/>
                </a:solidFill>
                <a:latin typeface="Tahoma"/>
                <a:cs typeface="Tahoma"/>
              </a:rPr>
              <a:t>phí </a:t>
            </a:r>
            <a:r>
              <a:rPr sz="1100" b="1" spc="45" dirty="0">
                <a:solidFill>
                  <a:srgbClr val="1B1B2D"/>
                </a:solidFill>
                <a:latin typeface="Tahoma"/>
                <a:cs typeface="Tahoma"/>
              </a:rPr>
              <a:t>TB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43428" y="651114"/>
            <a:ext cx="648335" cy="648335"/>
          </a:xfrm>
          <a:custGeom>
            <a:avLst/>
            <a:gdLst/>
            <a:ahLst/>
            <a:cxnLst/>
            <a:rect l="l" t="t" r="r" b="b"/>
            <a:pathLst>
              <a:path w="648335" h="648335">
                <a:moveTo>
                  <a:pt x="324004" y="0"/>
                </a:moveTo>
                <a:lnTo>
                  <a:pt x="276124" y="3512"/>
                </a:lnTo>
                <a:lnTo>
                  <a:pt x="230426" y="13717"/>
                </a:lnTo>
                <a:lnTo>
                  <a:pt x="187411" y="30113"/>
                </a:lnTo>
                <a:lnTo>
                  <a:pt x="147579" y="52198"/>
                </a:lnTo>
                <a:lnTo>
                  <a:pt x="111432" y="79472"/>
                </a:lnTo>
                <a:lnTo>
                  <a:pt x="79472" y="111432"/>
                </a:lnTo>
                <a:lnTo>
                  <a:pt x="52198" y="147579"/>
                </a:lnTo>
                <a:lnTo>
                  <a:pt x="30113" y="187411"/>
                </a:lnTo>
                <a:lnTo>
                  <a:pt x="13717" y="230426"/>
                </a:lnTo>
                <a:lnTo>
                  <a:pt x="3512" y="276124"/>
                </a:lnTo>
                <a:lnTo>
                  <a:pt x="0" y="324004"/>
                </a:lnTo>
                <a:lnTo>
                  <a:pt x="3512" y="371883"/>
                </a:lnTo>
                <a:lnTo>
                  <a:pt x="13717" y="417581"/>
                </a:lnTo>
                <a:lnTo>
                  <a:pt x="30113" y="460597"/>
                </a:lnTo>
                <a:lnTo>
                  <a:pt x="52198" y="500429"/>
                </a:lnTo>
                <a:lnTo>
                  <a:pt x="79472" y="536576"/>
                </a:lnTo>
                <a:lnTo>
                  <a:pt x="111432" y="568536"/>
                </a:lnTo>
                <a:lnTo>
                  <a:pt x="147579" y="595810"/>
                </a:lnTo>
                <a:lnTo>
                  <a:pt x="187411" y="617895"/>
                </a:lnTo>
                <a:lnTo>
                  <a:pt x="230426" y="634291"/>
                </a:lnTo>
                <a:lnTo>
                  <a:pt x="276124" y="644495"/>
                </a:lnTo>
                <a:lnTo>
                  <a:pt x="324004" y="648008"/>
                </a:lnTo>
                <a:lnTo>
                  <a:pt x="371883" y="644495"/>
                </a:lnTo>
                <a:lnTo>
                  <a:pt x="417581" y="634291"/>
                </a:lnTo>
                <a:lnTo>
                  <a:pt x="460597" y="617895"/>
                </a:lnTo>
                <a:lnTo>
                  <a:pt x="500429" y="595810"/>
                </a:lnTo>
                <a:lnTo>
                  <a:pt x="536576" y="568536"/>
                </a:lnTo>
                <a:lnTo>
                  <a:pt x="568536" y="536576"/>
                </a:lnTo>
                <a:lnTo>
                  <a:pt x="595810" y="500429"/>
                </a:lnTo>
                <a:lnTo>
                  <a:pt x="617895" y="460597"/>
                </a:lnTo>
                <a:lnTo>
                  <a:pt x="634291" y="417581"/>
                </a:lnTo>
                <a:lnTo>
                  <a:pt x="644495" y="371883"/>
                </a:lnTo>
                <a:lnTo>
                  <a:pt x="648008" y="324004"/>
                </a:lnTo>
                <a:lnTo>
                  <a:pt x="644495" y="276124"/>
                </a:lnTo>
                <a:lnTo>
                  <a:pt x="634291" y="230426"/>
                </a:lnTo>
                <a:lnTo>
                  <a:pt x="617895" y="187411"/>
                </a:lnTo>
                <a:lnTo>
                  <a:pt x="595810" y="147579"/>
                </a:lnTo>
                <a:lnTo>
                  <a:pt x="568536" y="111432"/>
                </a:lnTo>
                <a:lnTo>
                  <a:pt x="536576" y="79472"/>
                </a:lnTo>
                <a:lnTo>
                  <a:pt x="500429" y="52198"/>
                </a:lnTo>
                <a:lnTo>
                  <a:pt x="460597" y="30113"/>
                </a:lnTo>
                <a:lnTo>
                  <a:pt x="417581" y="13717"/>
                </a:lnTo>
                <a:lnTo>
                  <a:pt x="371883" y="3512"/>
                </a:lnTo>
                <a:lnTo>
                  <a:pt x="324004" y="0"/>
                </a:lnTo>
                <a:close/>
              </a:path>
            </a:pathLst>
          </a:custGeom>
          <a:solidFill>
            <a:srgbClr val="0C2B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976627" y="843467"/>
            <a:ext cx="3816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70" dirty="0">
                <a:solidFill>
                  <a:srgbClr val="FFFFFF"/>
                </a:solidFill>
                <a:latin typeface="Tahoma"/>
                <a:cs typeface="Tahoma"/>
              </a:rPr>
              <a:t>1.66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76361" y="1356638"/>
            <a:ext cx="5822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20" dirty="0">
                <a:solidFill>
                  <a:srgbClr val="1B1B2D"/>
                </a:solidFill>
                <a:latin typeface="Tahoma"/>
                <a:cs typeface="Tahoma"/>
              </a:rPr>
              <a:t>Dặm</a:t>
            </a:r>
            <a:r>
              <a:rPr sz="1100" b="1" spc="-4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100" b="1" spc="60" dirty="0">
                <a:solidFill>
                  <a:srgbClr val="1B1B2D"/>
                </a:solidFill>
                <a:latin typeface="Tahoma"/>
                <a:cs typeface="Tahoma"/>
              </a:rPr>
              <a:t>TB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68559" y="664461"/>
            <a:ext cx="648335" cy="648335"/>
          </a:xfrm>
          <a:custGeom>
            <a:avLst/>
            <a:gdLst/>
            <a:ahLst/>
            <a:cxnLst/>
            <a:rect l="l" t="t" r="r" b="b"/>
            <a:pathLst>
              <a:path w="648335" h="648335">
                <a:moveTo>
                  <a:pt x="324004" y="0"/>
                </a:moveTo>
                <a:lnTo>
                  <a:pt x="276124" y="3512"/>
                </a:lnTo>
                <a:lnTo>
                  <a:pt x="230426" y="13717"/>
                </a:lnTo>
                <a:lnTo>
                  <a:pt x="187411" y="30113"/>
                </a:lnTo>
                <a:lnTo>
                  <a:pt x="147579" y="52198"/>
                </a:lnTo>
                <a:lnTo>
                  <a:pt x="111432" y="79472"/>
                </a:lnTo>
                <a:lnTo>
                  <a:pt x="79472" y="111432"/>
                </a:lnTo>
                <a:lnTo>
                  <a:pt x="52198" y="147579"/>
                </a:lnTo>
                <a:lnTo>
                  <a:pt x="30113" y="187411"/>
                </a:lnTo>
                <a:lnTo>
                  <a:pt x="13717" y="230426"/>
                </a:lnTo>
                <a:lnTo>
                  <a:pt x="3512" y="276124"/>
                </a:lnTo>
                <a:lnTo>
                  <a:pt x="0" y="324004"/>
                </a:lnTo>
                <a:lnTo>
                  <a:pt x="3512" y="371883"/>
                </a:lnTo>
                <a:lnTo>
                  <a:pt x="13717" y="417581"/>
                </a:lnTo>
                <a:lnTo>
                  <a:pt x="30113" y="460597"/>
                </a:lnTo>
                <a:lnTo>
                  <a:pt x="52198" y="500429"/>
                </a:lnTo>
                <a:lnTo>
                  <a:pt x="79472" y="536576"/>
                </a:lnTo>
                <a:lnTo>
                  <a:pt x="111432" y="568536"/>
                </a:lnTo>
                <a:lnTo>
                  <a:pt x="147579" y="595810"/>
                </a:lnTo>
                <a:lnTo>
                  <a:pt x="187411" y="617895"/>
                </a:lnTo>
                <a:lnTo>
                  <a:pt x="230426" y="634291"/>
                </a:lnTo>
                <a:lnTo>
                  <a:pt x="276124" y="644495"/>
                </a:lnTo>
                <a:lnTo>
                  <a:pt x="324004" y="648008"/>
                </a:lnTo>
                <a:lnTo>
                  <a:pt x="371883" y="644495"/>
                </a:lnTo>
                <a:lnTo>
                  <a:pt x="417581" y="634291"/>
                </a:lnTo>
                <a:lnTo>
                  <a:pt x="460597" y="617895"/>
                </a:lnTo>
                <a:lnTo>
                  <a:pt x="500429" y="595810"/>
                </a:lnTo>
                <a:lnTo>
                  <a:pt x="536576" y="568536"/>
                </a:lnTo>
                <a:lnTo>
                  <a:pt x="568536" y="536576"/>
                </a:lnTo>
                <a:lnTo>
                  <a:pt x="595810" y="500429"/>
                </a:lnTo>
                <a:lnTo>
                  <a:pt x="617895" y="460597"/>
                </a:lnTo>
                <a:lnTo>
                  <a:pt x="634291" y="417581"/>
                </a:lnTo>
                <a:lnTo>
                  <a:pt x="644495" y="371883"/>
                </a:lnTo>
                <a:lnTo>
                  <a:pt x="648008" y="324004"/>
                </a:lnTo>
                <a:lnTo>
                  <a:pt x="644495" y="276124"/>
                </a:lnTo>
                <a:lnTo>
                  <a:pt x="634291" y="230426"/>
                </a:lnTo>
                <a:lnTo>
                  <a:pt x="617895" y="187411"/>
                </a:lnTo>
                <a:lnTo>
                  <a:pt x="595810" y="147579"/>
                </a:lnTo>
                <a:lnTo>
                  <a:pt x="568536" y="111432"/>
                </a:lnTo>
                <a:lnTo>
                  <a:pt x="536576" y="79472"/>
                </a:lnTo>
                <a:lnTo>
                  <a:pt x="500429" y="52198"/>
                </a:lnTo>
                <a:lnTo>
                  <a:pt x="460597" y="30113"/>
                </a:lnTo>
                <a:lnTo>
                  <a:pt x="417581" y="13717"/>
                </a:lnTo>
                <a:lnTo>
                  <a:pt x="371883" y="3512"/>
                </a:lnTo>
                <a:lnTo>
                  <a:pt x="324004" y="0"/>
                </a:lnTo>
                <a:close/>
              </a:path>
            </a:pathLst>
          </a:custGeom>
          <a:solidFill>
            <a:srgbClr val="F0A5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373932" y="858847"/>
            <a:ext cx="4381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45" dirty="0">
                <a:solidFill>
                  <a:srgbClr val="FFFFFF"/>
                </a:solidFill>
                <a:latin typeface="Tahoma"/>
                <a:cs typeface="Tahoma"/>
              </a:rPr>
              <a:t>10.5’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98520" y="1369985"/>
            <a:ext cx="5886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20" dirty="0">
                <a:solidFill>
                  <a:srgbClr val="1B1B2D"/>
                </a:solidFill>
                <a:latin typeface="Tahoma"/>
                <a:cs typeface="Tahoma"/>
              </a:rPr>
              <a:t>Phút</a:t>
            </a:r>
            <a:r>
              <a:rPr sz="1100" b="1" spc="-3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100" b="1" spc="60" dirty="0">
                <a:solidFill>
                  <a:srgbClr val="1B1B2D"/>
                </a:solidFill>
                <a:latin typeface="Tahoma"/>
                <a:cs typeface="Tahoma"/>
              </a:rPr>
              <a:t>TB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693702" y="664461"/>
            <a:ext cx="648335" cy="648335"/>
          </a:xfrm>
          <a:custGeom>
            <a:avLst/>
            <a:gdLst/>
            <a:ahLst/>
            <a:cxnLst/>
            <a:rect l="l" t="t" r="r" b="b"/>
            <a:pathLst>
              <a:path w="648335" h="648335">
                <a:moveTo>
                  <a:pt x="324004" y="0"/>
                </a:moveTo>
                <a:lnTo>
                  <a:pt x="276124" y="3512"/>
                </a:lnTo>
                <a:lnTo>
                  <a:pt x="230426" y="13717"/>
                </a:lnTo>
                <a:lnTo>
                  <a:pt x="187411" y="30113"/>
                </a:lnTo>
                <a:lnTo>
                  <a:pt x="147579" y="52198"/>
                </a:lnTo>
                <a:lnTo>
                  <a:pt x="111432" y="79472"/>
                </a:lnTo>
                <a:lnTo>
                  <a:pt x="79472" y="111432"/>
                </a:lnTo>
                <a:lnTo>
                  <a:pt x="52198" y="147579"/>
                </a:lnTo>
                <a:lnTo>
                  <a:pt x="30113" y="187411"/>
                </a:lnTo>
                <a:lnTo>
                  <a:pt x="13717" y="230426"/>
                </a:lnTo>
                <a:lnTo>
                  <a:pt x="3512" y="276124"/>
                </a:lnTo>
                <a:lnTo>
                  <a:pt x="0" y="324004"/>
                </a:lnTo>
                <a:lnTo>
                  <a:pt x="3512" y="371883"/>
                </a:lnTo>
                <a:lnTo>
                  <a:pt x="13717" y="417581"/>
                </a:lnTo>
                <a:lnTo>
                  <a:pt x="30113" y="460597"/>
                </a:lnTo>
                <a:lnTo>
                  <a:pt x="52198" y="500429"/>
                </a:lnTo>
                <a:lnTo>
                  <a:pt x="79472" y="536576"/>
                </a:lnTo>
                <a:lnTo>
                  <a:pt x="111432" y="568536"/>
                </a:lnTo>
                <a:lnTo>
                  <a:pt x="147579" y="595810"/>
                </a:lnTo>
                <a:lnTo>
                  <a:pt x="187411" y="617895"/>
                </a:lnTo>
                <a:lnTo>
                  <a:pt x="230426" y="634291"/>
                </a:lnTo>
                <a:lnTo>
                  <a:pt x="276124" y="644495"/>
                </a:lnTo>
                <a:lnTo>
                  <a:pt x="324004" y="648008"/>
                </a:lnTo>
                <a:lnTo>
                  <a:pt x="371883" y="644495"/>
                </a:lnTo>
                <a:lnTo>
                  <a:pt x="417581" y="634291"/>
                </a:lnTo>
                <a:lnTo>
                  <a:pt x="460597" y="617895"/>
                </a:lnTo>
                <a:lnTo>
                  <a:pt x="500429" y="595810"/>
                </a:lnTo>
                <a:lnTo>
                  <a:pt x="536576" y="568536"/>
                </a:lnTo>
                <a:lnTo>
                  <a:pt x="568536" y="536576"/>
                </a:lnTo>
                <a:lnTo>
                  <a:pt x="595810" y="500429"/>
                </a:lnTo>
                <a:lnTo>
                  <a:pt x="617895" y="460597"/>
                </a:lnTo>
                <a:lnTo>
                  <a:pt x="634291" y="417581"/>
                </a:lnTo>
                <a:lnTo>
                  <a:pt x="644495" y="371883"/>
                </a:lnTo>
                <a:lnTo>
                  <a:pt x="648008" y="324004"/>
                </a:lnTo>
                <a:lnTo>
                  <a:pt x="644495" y="276124"/>
                </a:lnTo>
                <a:lnTo>
                  <a:pt x="634291" y="230426"/>
                </a:lnTo>
                <a:lnTo>
                  <a:pt x="617895" y="187411"/>
                </a:lnTo>
                <a:lnTo>
                  <a:pt x="595810" y="147579"/>
                </a:lnTo>
                <a:lnTo>
                  <a:pt x="568536" y="111432"/>
                </a:lnTo>
                <a:lnTo>
                  <a:pt x="536576" y="79472"/>
                </a:lnTo>
                <a:lnTo>
                  <a:pt x="500429" y="52198"/>
                </a:lnTo>
                <a:lnTo>
                  <a:pt x="460597" y="30113"/>
                </a:lnTo>
                <a:lnTo>
                  <a:pt x="417581" y="13717"/>
                </a:lnTo>
                <a:lnTo>
                  <a:pt x="371883" y="3512"/>
                </a:lnTo>
                <a:lnTo>
                  <a:pt x="324004" y="0"/>
                </a:lnTo>
                <a:close/>
              </a:path>
            </a:pathLst>
          </a:custGeom>
          <a:solidFill>
            <a:srgbClr val="26AD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811090" y="859850"/>
            <a:ext cx="41338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114" dirty="0">
                <a:solidFill>
                  <a:srgbClr val="FFFFFF"/>
                </a:solidFill>
                <a:latin typeface="Tahoma"/>
                <a:cs typeface="Tahoma"/>
              </a:rPr>
              <a:t>83%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84141" y="1369985"/>
            <a:ext cx="10674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30" dirty="0">
                <a:solidFill>
                  <a:srgbClr val="1B1B2D"/>
                </a:solidFill>
                <a:latin typeface="Tahoma"/>
                <a:cs typeface="Tahoma"/>
              </a:rPr>
              <a:t>Thanh </a:t>
            </a:r>
            <a:r>
              <a:rPr sz="1100" b="1" spc="-40" dirty="0">
                <a:solidFill>
                  <a:srgbClr val="1B1B2D"/>
                </a:solidFill>
                <a:latin typeface="Tahoma"/>
                <a:cs typeface="Tahoma"/>
              </a:rPr>
              <a:t>toán</a:t>
            </a:r>
            <a:r>
              <a:rPr sz="1100" b="1" spc="-3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100" b="1" spc="-25" dirty="0">
                <a:solidFill>
                  <a:srgbClr val="1B1B2D"/>
                </a:solidFill>
                <a:latin typeface="Tahoma"/>
                <a:cs typeface="Tahoma"/>
              </a:rPr>
              <a:t>Thẻ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21144" y="1748497"/>
            <a:ext cx="2724150" cy="279400"/>
          </a:xfrm>
          <a:custGeom>
            <a:avLst/>
            <a:gdLst/>
            <a:ahLst/>
            <a:cxnLst/>
            <a:rect l="l" t="t" r="r" b="b"/>
            <a:pathLst>
              <a:path w="2724150" h="279400">
                <a:moveTo>
                  <a:pt x="267292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79120"/>
                </a:lnTo>
                <a:lnTo>
                  <a:pt x="2723725" y="279120"/>
                </a:lnTo>
                <a:lnTo>
                  <a:pt x="2723725" y="50800"/>
                </a:lnTo>
                <a:lnTo>
                  <a:pt x="2719716" y="31075"/>
                </a:lnTo>
                <a:lnTo>
                  <a:pt x="2708802" y="14922"/>
                </a:lnTo>
                <a:lnTo>
                  <a:pt x="2692649" y="4008"/>
                </a:lnTo>
                <a:lnTo>
                  <a:pt x="2672924" y="0"/>
                </a:lnTo>
                <a:close/>
              </a:path>
            </a:pathLst>
          </a:custGeom>
          <a:solidFill>
            <a:srgbClr val="197F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71945" y="1814664"/>
            <a:ext cx="2183130" cy="187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b="1" spc="-10" dirty="0">
                <a:solidFill>
                  <a:srgbClr val="FFFFFF"/>
                </a:solidFill>
                <a:latin typeface="Tahoma"/>
                <a:cs typeface="Tahoma"/>
              </a:rPr>
              <a:t>Phân</a:t>
            </a:r>
            <a:r>
              <a:rPr sz="1400" b="1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40" dirty="0">
                <a:solidFill>
                  <a:srgbClr val="FFFFFF"/>
                </a:solidFill>
                <a:latin typeface="Tahoma"/>
                <a:cs typeface="Tahoma"/>
              </a:rPr>
              <a:t>phối</a:t>
            </a:r>
            <a:r>
              <a:rPr sz="1400" b="1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Tahoma"/>
                <a:cs typeface="Tahoma"/>
              </a:rPr>
              <a:t>cước</a:t>
            </a:r>
            <a:r>
              <a:rPr sz="1400" b="1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Tahoma"/>
                <a:cs typeface="Tahoma"/>
              </a:rPr>
              <a:t>phí</a:t>
            </a:r>
            <a:r>
              <a:rPr sz="1400" b="1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40" dirty="0">
                <a:solidFill>
                  <a:srgbClr val="FFFFFF"/>
                </a:solidFill>
                <a:latin typeface="Tahoma"/>
                <a:cs typeface="Tahoma"/>
              </a:rPr>
              <a:t>(IQR)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21144" y="2014969"/>
            <a:ext cx="2724150" cy="668471"/>
            <a:chOff x="121144" y="2014969"/>
            <a:chExt cx="2724150" cy="668471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144" y="2014969"/>
              <a:ext cx="2723725" cy="5060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21144" y="2059235"/>
              <a:ext cx="2724150" cy="624205"/>
            </a:xfrm>
            <a:custGeom>
              <a:avLst/>
              <a:gdLst/>
              <a:ahLst/>
              <a:cxnLst/>
              <a:rect l="l" t="t" r="r" b="b"/>
              <a:pathLst>
                <a:path w="2724150" h="624205">
                  <a:moveTo>
                    <a:pt x="2723725" y="0"/>
                  </a:moveTo>
                  <a:lnTo>
                    <a:pt x="0" y="0"/>
                  </a:lnTo>
                  <a:lnTo>
                    <a:pt x="0" y="572889"/>
                  </a:lnTo>
                  <a:lnTo>
                    <a:pt x="4008" y="592614"/>
                  </a:lnTo>
                  <a:lnTo>
                    <a:pt x="14922" y="608767"/>
                  </a:lnTo>
                  <a:lnTo>
                    <a:pt x="31075" y="619681"/>
                  </a:lnTo>
                  <a:lnTo>
                    <a:pt x="50800" y="623690"/>
                  </a:lnTo>
                  <a:lnTo>
                    <a:pt x="2672924" y="623690"/>
                  </a:lnTo>
                  <a:lnTo>
                    <a:pt x="2692649" y="619681"/>
                  </a:lnTo>
                  <a:lnTo>
                    <a:pt x="2708802" y="608767"/>
                  </a:lnTo>
                  <a:lnTo>
                    <a:pt x="2719716" y="592614"/>
                  </a:lnTo>
                  <a:lnTo>
                    <a:pt x="2723725" y="572889"/>
                  </a:lnTo>
                  <a:lnTo>
                    <a:pt x="2723725" y="0"/>
                  </a:lnTo>
                  <a:close/>
                </a:path>
              </a:pathLst>
            </a:custGeom>
            <a:solidFill>
              <a:srgbClr val="D6E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71945" y="2050221"/>
            <a:ext cx="2724150" cy="5765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75565" marR="854710">
              <a:lnSpc>
                <a:spcPct val="100800"/>
              </a:lnSpc>
              <a:spcBef>
                <a:spcPts val="85"/>
              </a:spcBef>
              <a:tabLst>
                <a:tab pos="1181735" algn="l"/>
              </a:tabLst>
            </a:pPr>
            <a:r>
              <a:rPr sz="1200" dirty="0">
                <a:solidFill>
                  <a:srgbClr val="1B1B2D"/>
                </a:solidFill>
                <a:latin typeface="Tahoma"/>
                <a:cs typeface="Tahoma"/>
              </a:rPr>
              <a:t>Tứ</a:t>
            </a:r>
            <a:r>
              <a:rPr sz="1200" spc="-3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1B1B2D"/>
                </a:solidFill>
                <a:latin typeface="Tahoma"/>
                <a:cs typeface="Tahoma"/>
              </a:rPr>
              <a:t>phân</a:t>
            </a:r>
            <a:r>
              <a:rPr sz="1200" spc="-3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1B1B2D"/>
                </a:solidFill>
                <a:latin typeface="Tahoma"/>
                <a:cs typeface="Tahoma"/>
              </a:rPr>
              <a:t>vị</a:t>
            </a:r>
            <a:r>
              <a:rPr sz="1200" spc="-25" dirty="0">
                <a:solidFill>
                  <a:srgbClr val="1B1B2D"/>
                </a:solidFill>
                <a:latin typeface="Tahoma"/>
                <a:cs typeface="Tahoma"/>
              </a:rPr>
              <a:t> Q1:</a:t>
            </a:r>
            <a:r>
              <a:rPr sz="1200" dirty="0">
                <a:solidFill>
                  <a:srgbClr val="1B1B2D"/>
                </a:solidFill>
                <a:latin typeface="Tahoma"/>
                <a:cs typeface="Tahoma"/>
              </a:rPr>
              <a:t>	</a:t>
            </a:r>
            <a:r>
              <a:rPr sz="1200" spc="-55" dirty="0">
                <a:solidFill>
                  <a:srgbClr val="1B1B2D"/>
                </a:solidFill>
                <a:latin typeface="Tahoma"/>
                <a:cs typeface="Tahoma"/>
              </a:rPr>
              <a:t>8,20</a:t>
            </a:r>
            <a:r>
              <a:rPr sz="1200" spc="-2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1B1B2D"/>
                </a:solidFill>
                <a:latin typeface="Tahoma"/>
                <a:cs typeface="Tahoma"/>
              </a:rPr>
              <a:t>USD </a:t>
            </a:r>
            <a:r>
              <a:rPr sz="1200" spc="-50" dirty="0">
                <a:solidFill>
                  <a:srgbClr val="1B1B2D"/>
                </a:solidFill>
                <a:latin typeface="Tahoma"/>
                <a:cs typeface="Tahoma"/>
              </a:rPr>
              <a:t>Trung</a:t>
            </a:r>
            <a:r>
              <a:rPr sz="1200" spc="-1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1B1B2D"/>
                </a:solidFill>
                <a:latin typeface="Tahoma"/>
                <a:cs typeface="Tahoma"/>
              </a:rPr>
              <a:t>vị:</a:t>
            </a:r>
            <a:r>
              <a:rPr sz="1200" dirty="0">
                <a:solidFill>
                  <a:srgbClr val="1B1B2D"/>
                </a:solidFill>
                <a:latin typeface="Tahoma"/>
                <a:cs typeface="Tahoma"/>
              </a:rPr>
              <a:t>	</a:t>
            </a:r>
            <a:r>
              <a:rPr sz="1200" spc="-60" dirty="0">
                <a:solidFill>
                  <a:srgbClr val="1B1B2D"/>
                </a:solidFill>
                <a:latin typeface="Tahoma"/>
                <a:cs typeface="Tahoma"/>
              </a:rPr>
              <a:t>10,89</a:t>
            </a:r>
            <a:r>
              <a:rPr sz="1200" spc="-1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1B1B2D"/>
                </a:solidFill>
                <a:latin typeface="Tahoma"/>
                <a:cs typeface="Tahoma"/>
              </a:rPr>
              <a:t>USD </a:t>
            </a:r>
            <a:r>
              <a:rPr sz="1200" dirty="0">
                <a:solidFill>
                  <a:srgbClr val="1B1B2D"/>
                </a:solidFill>
                <a:latin typeface="Tahoma"/>
                <a:cs typeface="Tahoma"/>
              </a:rPr>
              <a:t>Tứ</a:t>
            </a:r>
            <a:r>
              <a:rPr sz="1200" spc="-3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1B1B2D"/>
                </a:solidFill>
                <a:latin typeface="Tahoma"/>
                <a:cs typeface="Tahoma"/>
              </a:rPr>
              <a:t>phân</a:t>
            </a:r>
            <a:r>
              <a:rPr sz="1200" spc="-3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1B1B2D"/>
                </a:solidFill>
                <a:latin typeface="Tahoma"/>
                <a:cs typeface="Tahoma"/>
              </a:rPr>
              <a:t>vị</a:t>
            </a:r>
            <a:r>
              <a:rPr sz="1200" spc="-25" dirty="0">
                <a:solidFill>
                  <a:srgbClr val="1B1B2D"/>
                </a:solidFill>
                <a:latin typeface="Tahoma"/>
                <a:cs typeface="Tahoma"/>
              </a:rPr>
              <a:t> Q3:</a:t>
            </a:r>
            <a:r>
              <a:rPr sz="1200" dirty="0">
                <a:solidFill>
                  <a:srgbClr val="1B1B2D"/>
                </a:solidFill>
                <a:latin typeface="Tahoma"/>
                <a:cs typeface="Tahoma"/>
              </a:rPr>
              <a:t>	</a:t>
            </a:r>
            <a:r>
              <a:rPr sz="1200" spc="-60" dirty="0">
                <a:solidFill>
                  <a:srgbClr val="1B1B2D"/>
                </a:solidFill>
                <a:latin typeface="Tahoma"/>
                <a:cs typeface="Tahoma"/>
              </a:rPr>
              <a:t>14,23</a:t>
            </a:r>
            <a:r>
              <a:rPr sz="1200" spc="-1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1B1B2D"/>
                </a:solidFill>
                <a:latin typeface="Tahoma"/>
                <a:cs typeface="Tahoma"/>
              </a:rPr>
              <a:t>USD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915170" y="1748497"/>
            <a:ext cx="2724150" cy="269240"/>
          </a:xfrm>
          <a:custGeom>
            <a:avLst/>
            <a:gdLst/>
            <a:ahLst/>
            <a:cxnLst/>
            <a:rect l="l" t="t" r="r" b="b"/>
            <a:pathLst>
              <a:path w="2724150" h="269239">
                <a:moveTo>
                  <a:pt x="267292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69001"/>
                </a:lnTo>
                <a:lnTo>
                  <a:pt x="2723725" y="269001"/>
                </a:lnTo>
                <a:lnTo>
                  <a:pt x="2723725" y="50800"/>
                </a:lnTo>
                <a:lnTo>
                  <a:pt x="2719716" y="31075"/>
                </a:lnTo>
                <a:lnTo>
                  <a:pt x="2708802" y="14922"/>
                </a:lnTo>
                <a:lnTo>
                  <a:pt x="2692649" y="4008"/>
                </a:lnTo>
                <a:lnTo>
                  <a:pt x="2672924" y="0"/>
                </a:lnTo>
                <a:close/>
              </a:path>
            </a:pathLst>
          </a:custGeom>
          <a:solidFill>
            <a:srgbClr val="197F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965970" y="1814664"/>
            <a:ext cx="1506220" cy="187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b="1" spc="-10" dirty="0">
                <a:solidFill>
                  <a:srgbClr val="FFFFFF"/>
                </a:solidFill>
                <a:latin typeface="Tahoma"/>
                <a:cs typeface="Tahoma"/>
              </a:rPr>
              <a:t>Hành</a:t>
            </a:r>
            <a:r>
              <a:rPr sz="1400" b="1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/>
                <a:cs typeface="Tahoma"/>
              </a:rPr>
              <a:t>vi</a:t>
            </a:r>
            <a:r>
              <a:rPr sz="1400" b="1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/>
                <a:cs typeface="Tahoma"/>
              </a:rPr>
              <a:t>di</a:t>
            </a:r>
            <a:r>
              <a:rPr sz="1400" b="1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105" dirty="0">
                <a:solidFill>
                  <a:srgbClr val="FFFFFF"/>
                </a:solidFill>
                <a:latin typeface="Tahoma"/>
                <a:cs typeface="Tahoma"/>
              </a:rPr>
              <a:t>chuyển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965970" y="2052990"/>
            <a:ext cx="2724150" cy="574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479425">
              <a:lnSpc>
                <a:spcPct val="100000"/>
              </a:lnSpc>
              <a:spcBef>
                <a:spcPts val="95"/>
              </a:spcBef>
            </a:pPr>
            <a:r>
              <a:rPr sz="1200" i="1" spc="-114" dirty="0">
                <a:solidFill>
                  <a:srgbClr val="1B1B2D"/>
                </a:solidFill>
                <a:latin typeface="Verdana"/>
                <a:cs typeface="Verdana"/>
              </a:rPr>
              <a:t>&gt;</a:t>
            </a:r>
            <a:r>
              <a:rPr sz="1200" spc="-114" dirty="0">
                <a:solidFill>
                  <a:srgbClr val="1B1B2D"/>
                </a:solidFill>
                <a:latin typeface="Tahoma"/>
                <a:cs typeface="Tahoma"/>
              </a:rPr>
              <a:t>80%</a:t>
            </a:r>
            <a:r>
              <a:rPr sz="1200" spc="1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80" dirty="0">
                <a:solidFill>
                  <a:srgbClr val="1B1B2D"/>
                </a:solidFill>
                <a:latin typeface="Tahoma"/>
                <a:cs typeface="Tahoma"/>
              </a:rPr>
              <a:t>chuyến</a:t>
            </a:r>
            <a:r>
              <a:rPr sz="1200" spc="-1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1B1B2D"/>
                </a:solidFill>
                <a:latin typeface="Tahoma"/>
                <a:cs typeface="Tahoma"/>
              </a:rPr>
              <a:t>đi</a:t>
            </a:r>
            <a:r>
              <a:rPr sz="1200" spc="-9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1B1B2D"/>
                </a:solidFill>
                <a:latin typeface="Tahoma"/>
                <a:cs typeface="Tahoma"/>
              </a:rPr>
              <a:t>chỉ</a:t>
            </a:r>
            <a:r>
              <a:rPr sz="1200" spc="-9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dirty="0">
                <a:solidFill>
                  <a:srgbClr val="1B1B2D"/>
                </a:solidFill>
                <a:latin typeface="Tahoma"/>
                <a:cs typeface="Tahoma"/>
              </a:rPr>
              <a:t>1</a:t>
            </a:r>
            <a:r>
              <a:rPr sz="1200" b="1" spc="2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spc="-75" dirty="0">
                <a:solidFill>
                  <a:srgbClr val="1B1B2D"/>
                </a:solidFill>
                <a:latin typeface="Tahoma"/>
                <a:cs typeface="Tahoma"/>
              </a:rPr>
              <a:t>hành</a:t>
            </a:r>
            <a:r>
              <a:rPr sz="1200" b="1" spc="1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spc="-75" dirty="0">
                <a:solidFill>
                  <a:srgbClr val="1B1B2D"/>
                </a:solidFill>
                <a:latin typeface="Tahoma"/>
                <a:cs typeface="Tahoma"/>
              </a:rPr>
              <a:t>khách </a:t>
            </a:r>
            <a:r>
              <a:rPr sz="1200" spc="-10" dirty="0">
                <a:solidFill>
                  <a:srgbClr val="1B1B2D"/>
                </a:solidFill>
                <a:latin typeface="Tahoma"/>
                <a:cs typeface="Tahoma"/>
              </a:rPr>
              <a:t>Phần</a:t>
            </a:r>
            <a:r>
              <a:rPr sz="1200" spc="-8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40" dirty="0">
                <a:solidFill>
                  <a:srgbClr val="1B1B2D"/>
                </a:solidFill>
                <a:latin typeface="Tahoma"/>
                <a:cs typeface="Tahoma"/>
              </a:rPr>
              <a:t>lớn </a:t>
            </a:r>
            <a:r>
              <a:rPr sz="1200" dirty="0">
                <a:solidFill>
                  <a:srgbClr val="1B1B2D"/>
                </a:solidFill>
                <a:latin typeface="Tahoma"/>
                <a:cs typeface="Tahoma"/>
              </a:rPr>
              <a:t>là</a:t>
            </a:r>
            <a:r>
              <a:rPr sz="1200" spc="-4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1B1B2D"/>
                </a:solidFill>
                <a:latin typeface="Tahoma"/>
                <a:cs typeface="Tahoma"/>
              </a:rPr>
              <a:t>chặng</a:t>
            </a:r>
            <a:r>
              <a:rPr sz="1200" spc="-3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70" dirty="0">
                <a:solidFill>
                  <a:srgbClr val="1B1B2D"/>
                </a:solidFill>
                <a:latin typeface="Tahoma"/>
                <a:cs typeface="Tahoma"/>
              </a:rPr>
              <a:t>ngắn</a:t>
            </a:r>
            <a:r>
              <a:rPr sz="1200" spc="-2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1B1B2D"/>
                </a:solidFill>
                <a:latin typeface="Tahoma"/>
                <a:cs typeface="Tahoma"/>
              </a:rPr>
              <a:t>đô</a:t>
            </a:r>
            <a:r>
              <a:rPr sz="1200" spc="-4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1B1B2D"/>
                </a:solidFill>
                <a:latin typeface="Tahoma"/>
                <a:cs typeface="Tahoma"/>
              </a:rPr>
              <a:t>thị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200" dirty="0">
                <a:solidFill>
                  <a:srgbClr val="1B1B2D"/>
                </a:solidFill>
                <a:latin typeface="Tahoma"/>
                <a:cs typeface="Tahoma"/>
              </a:rPr>
              <a:t>Giá</a:t>
            </a:r>
            <a:r>
              <a:rPr sz="1200" spc="-9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85" dirty="0">
                <a:solidFill>
                  <a:srgbClr val="1B1B2D"/>
                </a:solidFill>
                <a:latin typeface="Tahoma"/>
                <a:cs typeface="Tahoma"/>
              </a:rPr>
              <a:t>mở</a:t>
            </a:r>
            <a:r>
              <a:rPr sz="1200" spc="-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75" dirty="0">
                <a:solidFill>
                  <a:srgbClr val="1B1B2D"/>
                </a:solidFill>
                <a:latin typeface="Tahoma"/>
                <a:cs typeface="Tahoma"/>
              </a:rPr>
              <a:t>cửa</a:t>
            </a:r>
            <a:r>
              <a:rPr sz="1200" spc="-2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1B1B2D"/>
                </a:solidFill>
                <a:latin typeface="Tahoma"/>
                <a:cs typeface="Tahoma"/>
              </a:rPr>
              <a:t>cố</a:t>
            </a:r>
            <a:r>
              <a:rPr sz="1200" spc="-3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1B1B2D"/>
                </a:solidFill>
                <a:latin typeface="Tahoma"/>
                <a:cs typeface="Tahoma"/>
              </a:rPr>
              <a:t>định</a:t>
            </a:r>
            <a:r>
              <a:rPr sz="1200" spc="-3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1B1B2D"/>
                </a:solidFill>
                <a:latin typeface="Lucida Sans Unicode"/>
                <a:cs typeface="Lucida Sans Unicode"/>
              </a:rPr>
              <a:t>≥</a:t>
            </a:r>
            <a:r>
              <a:rPr sz="1200" spc="-40" dirty="0">
                <a:solidFill>
                  <a:srgbClr val="1B1B2D"/>
                </a:solidFill>
                <a:latin typeface="Lucida Sans Unicode"/>
                <a:cs typeface="Lucida Sans Unicode"/>
              </a:rPr>
              <a:t> </a:t>
            </a:r>
            <a:r>
              <a:rPr sz="1200" spc="-40" dirty="0">
                <a:solidFill>
                  <a:srgbClr val="1B1B2D"/>
                </a:solidFill>
                <a:latin typeface="Tahoma"/>
                <a:cs typeface="Tahoma"/>
              </a:rPr>
              <a:t>2,5</a:t>
            </a:r>
            <a:r>
              <a:rPr sz="1200" spc="-3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1B1B2D"/>
                </a:solidFill>
                <a:latin typeface="Tahoma"/>
                <a:cs typeface="Tahoma"/>
              </a:rPr>
              <a:t>USD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-5" y="3130372"/>
            <a:ext cx="5760085" cy="109855"/>
            <a:chOff x="-5" y="3130372"/>
            <a:chExt cx="5760085" cy="109855"/>
          </a:xfrm>
        </p:grpSpPr>
        <p:sp>
          <p:nvSpPr>
            <p:cNvPr id="30" name="object 30"/>
            <p:cNvSpPr/>
            <p:nvPr/>
          </p:nvSpPr>
          <p:spPr>
            <a:xfrm>
              <a:off x="0" y="3130372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26"/>
                  </a:lnTo>
                  <a:lnTo>
                    <a:pt x="1919973" y="10962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7F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919960" y="3130372"/>
              <a:ext cx="3840479" cy="109855"/>
            </a:xfrm>
            <a:custGeom>
              <a:avLst/>
              <a:gdLst/>
              <a:ahLst/>
              <a:cxnLst/>
              <a:rect l="l" t="t" r="r" b="b"/>
              <a:pathLst>
                <a:path w="3840479" h="109855">
                  <a:moveTo>
                    <a:pt x="3839946" y="0"/>
                  </a:moveTo>
                  <a:lnTo>
                    <a:pt x="1919973" y="0"/>
                  </a:lnTo>
                  <a:lnTo>
                    <a:pt x="0" y="0"/>
                  </a:lnTo>
                  <a:lnTo>
                    <a:pt x="0" y="109626"/>
                  </a:lnTo>
                  <a:lnTo>
                    <a:pt x="1919973" y="109626"/>
                  </a:lnTo>
                  <a:lnTo>
                    <a:pt x="3839946" y="109626"/>
                  </a:lnTo>
                  <a:lnTo>
                    <a:pt x="3839946" y="0"/>
                  </a:lnTo>
                  <a:close/>
                </a:path>
              </a:pathLst>
            </a:custGeom>
            <a:solidFill>
              <a:srgbClr val="0C2B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-5" y="3214693"/>
              <a:ext cx="0" cy="25400"/>
            </a:xfrm>
            <a:custGeom>
              <a:avLst/>
              <a:gdLst/>
              <a:ahLst/>
              <a:cxnLst/>
              <a:rect l="l" t="t" r="r" b="b"/>
              <a:pathLst>
                <a:path h="25400">
                  <a:moveTo>
                    <a:pt x="0" y="25305"/>
                  </a:moveTo>
                  <a:lnTo>
                    <a:pt x="0" y="0"/>
                  </a:lnTo>
                  <a:lnTo>
                    <a:pt x="0" y="25305"/>
                  </a:lnTo>
                  <a:close/>
                </a:path>
                <a:path h="25400">
                  <a:moveTo>
                    <a:pt x="0" y="0"/>
                  </a:moveTo>
                </a:path>
              </a:pathLst>
            </a:custGeom>
            <a:solidFill>
              <a:srgbClr val="A3CB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Hiếu</a:t>
            </a:r>
            <a:r>
              <a:rPr spc="35" dirty="0"/>
              <a:t> </a:t>
            </a:r>
            <a:r>
              <a:rPr dirty="0">
                <a:latin typeface="Cambria"/>
                <a:cs typeface="Cambria"/>
              </a:rPr>
              <a:t>·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dirty="0"/>
              <a:t>Trọng</a:t>
            </a:r>
            <a:r>
              <a:rPr spc="35" dirty="0"/>
              <a:t> </a:t>
            </a:r>
            <a:r>
              <a:rPr dirty="0">
                <a:latin typeface="Cambria"/>
                <a:cs typeface="Cambria"/>
              </a:rPr>
              <a:t>·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dirty="0"/>
              <a:t>Quang</a:t>
            </a:r>
            <a:r>
              <a:rPr spc="245" dirty="0"/>
              <a:t> </a:t>
            </a:r>
            <a:r>
              <a:rPr dirty="0"/>
              <a:t>(ĐH</a:t>
            </a:r>
            <a:r>
              <a:rPr spc="40" dirty="0"/>
              <a:t> </a:t>
            </a:r>
            <a:r>
              <a:rPr spc="-10" dirty="0"/>
              <a:t>Phenikaa)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2441397" y="3122434"/>
            <a:ext cx="877569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3" action="ppaction://hlinksldjump"/>
              </a:rPr>
              <a:t>Cước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3" action="ppaction://hlinksldjump"/>
              </a:rPr>
              <a:t>phí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3" action="ppaction://hlinksldjump"/>
              </a:rPr>
              <a:t>Taxi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·</a:t>
            </a:r>
            <a:r>
              <a:rPr sz="600" spc="55" dirty="0">
                <a:solidFill>
                  <a:srgbClr val="FFFFFF"/>
                </a:solidFill>
                <a:latin typeface="Cambria"/>
                <a:cs typeface="Cambria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Microsoft Sans Serif"/>
                <a:cs typeface="Microsoft Sans Serif"/>
                <a:hlinkClick r:id="rId3" action="ppaction://hlinksldjump"/>
              </a:rPr>
              <a:t>Phenikaa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20" dirty="0"/>
              <a:t>2026</a:t>
            </a: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7</a:t>
            </a:fld>
            <a:r>
              <a:rPr spc="-45" dirty="0"/>
              <a:t> </a:t>
            </a:r>
            <a:r>
              <a:rPr spc="150" dirty="0"/>
              <a:t>/</a:t>
            </a:r>
            <a:r>
              <a:rPr spc="-4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EDA</a:t>
            </a:r>
            <a:r>
              <a:rPr spc="5" dirty="0"/>
              <a:t> </a:t>
            </a:r>
            <a:r>
              <a:rPr dirty="0"/>
              <a:t>–</a:t>
            </a:r>
            <a:r>
              <a:rPr spc="5" dirty="0"/>
              <a:t> </a:t>
            </a:r>
            <a:r>
              <a:rPr spc="-10" dirty="0"/>
              <a:t>Phân</a:t>
            </a:r>
            <a:r>
              <a:rPr spc="5" dirty="0"/>
              <a:t> </a:t>
            </a:r>
            <a:r>
              <a:rPr spc="-40" dirty="0"/>
              <a:t>phối</a:t>
            </a:r>
            <a:r>
              <a:rPr spc="5" dirty="0"/>
              <a:t> </a:t>
            </a:r>
            <a:r>
              <a:rPr dirty="0"/>
              <a:t>Đặc</a:t>
            </a:r>
            <a:r>
              <a:rPr spc="5" dirty="0"/>
              <a:t> </a:t>
            </a:r>
            <a:r>
              <a:rPr spc="-55" dirty="0"/>
              <a:t>trưng</a:t>
            </a:r>
            <a:r>
              <a:rPr spc="5" dirty="0"/>
              <a:t> </a:t>
            </a:r>
            <a:r>
              <a:rPr spc="-25" dirty="0"/>
              <a:t>Số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3935" y="999272"/>
            <a:ext cx="126809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411480" marR="5080" indent="-399415">
              <a:lnSpc>
                <a:spcPct val="102600"/>
              </a:lnSpc>
              <a:spcBef>
                <a:spcPts val="55"/>
              </a:spcBef>
            </a:pPr>
            <a:r>
              <a:rPr sz="1100" i="1" spc="-25" dirty="0">
                <a:solidFill>
                  <a:srgbClr val="6C747D"/>
                </a:solidFill>
                <a:latin typeface="Arial"/>
                <a:cs typeface="Arial"/>
              </a:rPr>
              <a:t>Biểu</a:t>
            </a:r>
            <a:r>
              <a:rPr sz="1100" i="1" spc="-50" dirty="0">
                <a:solidFill>
                  <a:srgbClr val="6C747D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6C747D"/>
                </a:solidFill>
                <a:latin typeface="Arial"/>
                <a:cs typeface="Arial"/>
              </a:rPr>
              <a:t>đồ</a:t>
            </a:r>
            <a:r>
              <a:rPr sz="1100" i="1" spc="-30" dirty="0">
                <a:solidFill>
                  <a:srgbClr val="6C747D"/>
                </a:solidFill>
                <a:latin typeface="Arial"/>
                <a:cs typeface="Arial"/>
              </a:rPr>
              <a:t> </a:t>
            </a:r>
            <a:r>
              <a:rPr sz="1100" i="1" spc="-135" dirty="0">
                <a:solidFill>
                  <a:srgbClr val="6C747D"/>
                </a:solidFill>
                <a:latin typeface="Arial"/>
                <a:cs typeface="Arial"/>
              </a:rPr>
              <a:t>sẽ</a:t>
            </a:r>
            <a:r>
              <a:rPr sz="1100" i="1" spc="55" dirty="0">
                <a:solidFill>
                  <a:srgbClr val="6C747D"/>
                </a:solidFill>
                <a:latin typeface="Arial"/>
                <a:cs typeface="Arial"/>
              </a:rPr>
              <a:t> </a:t>
            </a:r>
            <a:r>
              <a:rPr sz="1100" i="1" spc="-80" dirty="0">
                <a:solidFill>
                  <a:srgbClr val="6C747D"/>
                </a:solidFill>
                <a:latin typeface="Arial"/>
                <a:cs typeface="Arial"/>
              </a:rPr>
              <a:t>được</a:t>
            </a:r>
            <a:r>
              <a:rPr sz="1100" i="1" spc="5" dirty="0">
                <a:solidFill>
                  <a:srgbClr val="6C747D"/>
                </a:solidFill>
                <a:latin typeface="Arial"/>
                <a:cs typeface="Arial"/>
              </a:rPr>
              <a:t> </a:t>
            </a:r>
            <a:r>
              <a:rPr sz="1100" i="1" spc="-65" dirty="0">
                <a:solidFill>
                  <a:srgbClr val="6C747D"/>
                </a:solidFill>
                <a:latin typeface="Arial"/>
                <a:cs typeface="Arial"/>
              </a:rPr>
              <a:t>chèn </a:t>
            </a:r>
            <a:r>
              <a:rPr sz="1100" i="1" spc="-50" dirty="0">
                <a:solidFill>
                  <a:srgbClr val="6C747D"/>
                </a:solidFill>
                <a:latin typeface="Arial"/>
                <a:cs typeface="Arial"/>
              </a:rPr>
              <a:t>vào</a:t>
            </a:r>
            <a:r>
              <a:rPr sz="1100" i="1" spc="-20" dirty="0">
                <a:solidFill>
                  <a:srgbClr val="6C747D"/>
                </a:solidFill>
                <a:latin typeface="Arial"/>
                <a:cs typeface="Arial"/>
              </a:rPr>
              <a:t> </a:t>
            </a:r>
            <a:r>
              <a:rPr sz="1100" i="1" spc="-25" dirty="0">
                <a:solidFill>
                  <a:srgbClr val="6C747D"/>
                </a:solidFill>
                <a:latin typeface="Arial"/>
                <a:cs typeface="Arial"/>
              </a:rPr>
              <a:t>đây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2783" y="1966168"/>
            <a:ext cx="24885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dirty="0">
                <a:solidFill>
                  <a:srgbClr val="6C747D"/>
                </a:solidFill>
                <a:latin typeface="Arial"/>
                <a:cs typeface="Arial"/>
              </a:rPr>
              <a:t>Biểu</a:t>
            </a:r>
            <a:r>
              <a:rPr sz="600" i="1" spc="15" dirty="0">
                <a:solidFill>
                  <a:srgbClr val="6C747D"/>
                </a:solidFill>
                <a:latin typeface="Arial"/>
                <a:cs typeface="Arial"/>
              </a:rPr>
              <a:t> </a:t>
            </a:r>
            <a:r>
              <a:rPr sz="600" i="1" dirty="0">
                <a:solidFill>
                  <a:srgbClr val="6C747D"/>
                </a:solidFill>
                <a:latin typeface="Arial"/>
                <a:cs typeface="Arial"/>
              </a:rPr>
              <a:t>đồ</a:t>
            </a:r>
            <a:r>
              <a:rPr sz="600" i="1" spc="20" dirty="0">
                <a:solidFill>
                  <a:srgbClr val="6C747D"/>
                </a:solidFill>
                <a:latin typeface="Arial"/>
                <a:cs typeface="Arial"/>
              </a:rPr>
              <a:t> </a:t>
            </a:r>
            <a:r>
              <a:rPr sz="600" i="1" dirty="0">
                <a:solidFill>
                  <a:srgbClr val="6C747D"/>
                </a:solidFill>
                <a:latin typeface="Arial"/>
                <a:cs typeface="Arial"/>
              </a:rPr>
              <a:t>3.3</a:t>
            </a:r>
            <a:r>
              <a:rPr sz="600" i="1" spc="15" dirty="0">
                <a:solidFill>
                  <a:srgbClr val="6C747D"/>
                </a:solidFill>
                <a:latin typeface="Arial"/>
                <a:cs typeface="Arial"/>
              </a:rPr>
              <a:t> </a:t>
            </a:r>
            <a:r>
              <a:rPr sz="600" i="1" dirty="0">
                <a:solidFill>
                  <a:srgbClr val="6C747D"/>
                </a:solidFill>
                <a:latin typeface="Arial"/>
                <a:cs typeface="Arial"/>
              </a:rPr>
              <a:t>–</a:t>
            </a:r>
            <a:r>
              <a:rPr sz="600" i="1" spc="20" dirty="0">
                <a:solidFill>
                  <a:srgbClr val="6C747D"/>
                </a:solidFill>
                <a:latin typeface="Arial"/>
                <a:cs typeface="Arial"/>
              </a:rPr>
              <a:t> </a:t>
            </a:r>
            <a:r>
              <a:rPr sz="600" i="1" dirty="0">
                <a:solidFill>
                  <a:srgbClr val="6C747D"/>
                </a:solidFill>
                <a:latin typeface="Arial"/>
                <a:cs typeface="Arial"/>
              </a:rPr>
              <a:t>Histogram:</a:t>
            </a:r>
            <a:r>
              <a:rPr sz="600" i="1" spc="70" dirty="0">
                <a:solidFill>
                  <a:srgbClr val="6C747D"/>
                </a:solidFill>
                <a:latin typeface="Arial"/>
                <a:cs typeface="Arial"/>
              </a:rPr>
              <a:t> </a:t>
            </a:r>
            <a:r>
              <a:rPr sz="600" i="1" spc="-20" dirty="0">
                <a:solidFill>
                  <a:srgbClr val="6C747D"/>
                </a:solidFill>
                <a:latin typeface="Arial"/>
                <a:cs typeface="Arial"/>
              </a:rPr>
              <a:t>Cước</a:t>
            </a:r>
            <a:r>
              <a:rPr sz="600" i="1" spc="20" dirty="0">
                <a:solidFill>
                  <a:srgbClr val="6C747D"/>
                </a:solidFill>
                <a:latin typeface="Arial"/>
                <a:cs typeface="Arial"/>
              </a:rPr>
              <a:t> </a:t>
            </a:r>
            <a:r>
              <a:rPr sz="600" i="1" dirty="0">
                <a:solidFill>
                  <a:srgbClr val="6C747D"/>
                </a:solidFill>
                <a:latin typeface="Arial"/>
                <a:cs typeface="Arial"/>
              </a:rPr>
              <a:t>phí</a:t>
            </a:r>
            <a:r>
              <a:rPr sz="600" i="1" spc="15" dirty="0">
                <a:solidFill>
                  <a:srgbClr val="6C747D"/>
                </a:solidFill>
                <a:latin typeface="Arial"/>
                <a:cs typeface="Arial"/>
              </a:rPr>
              <a:t> </a:t>
            </a:r>
            <a:r>
              <a:rPr sz="600" b="1" i="1" dirty="0">
                <a:solidFill>
                  <a:srgbClr val="6C747D"/>
                </a:solidFill>
                <a:latin typeface="Roboto Lt"/>
                <a:cs typeface="Roboto Lt"/>
              </a:rPr>
              <a:t>·</a:t>
            </a:r>
            <a:r>
              <a:rPr sz="600" b="1" i="1" spc="35" dirty="0">
                <a:solidFill>
                  <a:srgbClr val="6C747D"/>
                </a:solidFill>
                <a:latin typeface="Roboto Lt"/>
                <a:cs typeface="Roboto Lt"/>
              </a:rPr>
              <a:t> </a:t>
            </a:r>
            <a:r>
              <a:rPr sz="600" i="1" dirty="0">
                <a:solidFill>
                  <a:srgbClr val="6C747D"/>
                </a:solidFill>
                <a:latin typeface="Arial"/>
                <a:cs typeface="Arial"/>
              </a:rPr>
              <a:t>Quãng</a:t>
            </a:r>
            <a:r>
              <a:rPr sz="600" i="1" spc="20" dirty="0">
                <a:solidFill>
                  <a:srgbClr val="6C747D"/>
                </a:solidFill>
                <a:latin typeface="Arial"/>
                <a:cs typeface="Arial"/>
              </a:rPr>
              <a:t> </a:t>
            </a:r>
            <a:r>
              <a:rPr sz="600" i="1" spc="-20" dirty="0">
                <a:solidFill>
                  <a:srgbClr val="6C747D"/>
                </a:solidFill>
                <a:latin typeface="Arial"/>
                <a:cs typeface="Arial"/>
              </a:rPr>
              <a:t>đường</a:t>
            </a:r>
            <a:r>
              <a:rPr sz="600" i="1" spc="15" dirty="0">
                <a:solidFill>
                  <a:srgbClr val="6C747D"/>
                </a:solidFill>
                <a:latin typeface="Arial"/>
                <a:cs typeface="Arial"/>
              </a:rPr>
              <a:t> </a:t>
            </a:r>
            <a:r>
              <a:rPr sz="600" b="1" i="1" dirty="0">
                <a:solidFill>
                  <a:srgbClr val="6C747D"/>
                </a:solidFill>
                <a:latin typeface="Roboto Lt"/>
                <a:cs typeface="Roboto Lt"/>
              </a:rPr>
              <a:t>·</a:t>
            </a:r>
            <a:r>
              <a:rPr sz="600" b="1" i="1" spc="35" dirty="0">
                <a:solidFill>
                  <a:srgbClr val="6C747D"/>
                </a:solidFill>
                <a:latin typeface="Roboto Lt"/>
                <a:cs typeface="Roboto Lt"/>
              </a:rPr>
              <a:t> </a:t>
            </a:r>
            <a:r>
              <a:rPr sz="600" i="1" dirty="0">
                <a:solidFill>
                  <a:srgbClr val="6C747D"/>
                </a:solidFill>
                <a:latin typeface="Arial"/>
                <a:cs typeface="Arial"/>
              </a:rPr>
              <a:t>Thời</a:t>
            </a:r>
            <a:r>
              <a:rPr sz="600" i="1" spc="20" dirty="0">
                <a:solidFill>
                  <a:srgbClr val="6C747D"/>
                </a:solidFill>
                <a:latin typeface="Arial"/>
                <a:cs typeface="Arial"/>
              </a:rPr>
              <a:t> </a:t>
            </a:r>
            <a:r>
              <a:rPr sz="600" i="1" spc="-20" dirty="0">
                <a:solidFill>
                  <a:srgbClr val="6C747D"/>
                </a:solidFill>
                <a:latin typeface="Arial"/>
                <a:cs typeface="Arial"/>
              </a:rPr>
              <a:t>lượng</a:t>
            </a:r>
            <a:r>
              <a:rPr sz="600" i="1" spc="15" dirty="0">
                <a:solidFill>
                  <a:srgbClr val="6C747D"/>
                </a:solidFill>
                <a:latin typeface="Arial"/>
                <a:cs typeface="Arial"/>
              </a:rPr>
              <a:t> </a:t>
            </a:r>
            <a:r>
              <a:rPr sz="600" b="1" i="1" dirty="0">
                <a:solidFill>
                  <a:srgbClr val="6C747D"/>
                </a:solidFill>
                <a:latin typeface="Roboto Lt"/>
                <a:cs typeface="Roboto Lt"/>
              </a:rPr>
              <a:t>·</a:t>
            </a:r>
            <a:r>
              <a:rPr sz="600" b="1" i="1" spc="35" dirty="0">
                <a:solidFill>
                  <a:srgbClr val="6C747D"/>
                </a:solidFill>
                <a:latin typeface="Roboto Lt"/>
                <a:cs typeface="Roboto Lt"/>
              </a:rPr>
              <a:t> </a:t>
            </a:r>
            <a:r>
              <a:rPr sz="600" i="1" spc="-10" dirty="0">
                <a:solidFill>
                  <a:srgbClr val="6C747D"/>
                </a:solidFill>
                <a:latin typeface="Arial"/>
                <a:cs typeface="Arial"/>
              </a:rPr>
              <a:t>Số</a:t>
            </a:r>
            <a:r>
              <a:rPr sz="600" i="1" spc="15" dirty="0">
                <a:solidFill>
                  <a:srgbClr val="6C747D"/>
                </a:solidFill>
                <a:latin typeface="Arial"/>
                <a:cs typeface="Arial"/>
              </a:rPr>
              <a:t> </a:t>
            </a:r>
            <a:r>
              <a:rPr sz="600" i="1" spc="-25" dirty="0">
                <a:solidFill>
                  <a:srgbClr val="6C747D"/>
                </a:solidFill>
                <a:latin typeface="Arial"/>
                <a:cs typeface="Arial"/>
              </a:rPr>
              <a:t>HK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47605" y="514766"/>
            <a:ext cx="2346325" cy="1536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1290" marR="138430" indent="-149225">
              <a:lnSpc>
                <a:spcPct val="100000"/>
              </a:lnSpc>
              <a:spcBef>
                <a:spcPts val="95"/>
              </a:spcBef>
              <a:buClr>
                <a:srgbClr val="197FA4"/>
              </a:buClr>
              <a:buFont typeface="Arial MT"/>
              <a:buChar char="•"/>
              <a:tabLst>
                <a:tab pos="161290" algn="l"/>
              </a:tabLst>
            </a:pPr>
            <a:r>
              <a:rPr sz="1200" dirty="0">
                <a:solidFill>
                  <a:srgbClr val="1B1B2D"/>
                </a:solidFill>
                <a:latin typeface="Tahoma"/>
                <a:cs typeface="Tahoma"/>
              </a:rPr>
              <a:t>Cả</a:t>
            </a:r>
            <a:r>
              <a:rPr sz="1200" spc="-9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1B1B2D"/>
                </a:solidFill>
                <a:latin typeface="Tahoma"/>
                <a:cs typeface="Tahoma"/>
              </a:rPr>
              <a:t>3</a:t>
            </a:r>
            <a:r>
              <a:rPr sz="1200" spc="-5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60" dirty="0">
                <a:solidFill>
                  <a:srgbClr val="1B1B2D"/>
                </a:solidFill>
                <a:latin typeface="Tahoma"/>
                <a:cs typeface="Tahoma"/>
              </a:rPr>
              <a:t>biến</a:t>
            </a:r>
            <a:r>
              <a:rPr sz="1200" spc="-3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40" dirty="0">
                <a:solidFill>
                  <a:srgbClr val="1B1B2D"/>
                </a:solidFill>
                <a:latin typeface="Tahoma"/>
                <a:cs typeface="Tahoma"/>
              </a:rPr>
              <a:t>liên</a:t>
            </a:r>
            <a:r>
              <a:rPr sz="1200" spc="-4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1B1B2D"/>
                </a:solidFill>
                <a:latin typeface="Tahoma"/>
                <a:cs typeface="Tahoma"/>
              </a:rPr>
              <a:t>tục</a:t>
            </a:r>
            <a:r>
              <a:rPr sz="1200" spc="-4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95" dirty="0">
                <a:solidFill>
                  <a:srgbClr val="1B1B2D"/>
                </a:solidFill>
                <a:latin typeface="Tahoma"/>
                <a:cs typeface="Tahoma"/>
              </a:rPr>
              <a:t>đều</a:t>
            </a:r>
            <a:r>
              <a:rPr sz="120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spc="-50" dirty="0">
                <a:solidFill>
                  <a:srgbClr val="1B1B2D"/>
                </a:solidFill>
                <a:latin typeface="Tahoma"/>
                <a:cs typeface="Tahoma"/>
              </a:rPr>
              <a:t>lệch</a:t>
            </a:r>
            <a:r>
              <a:rPr sz="1200" b="1" spc="2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spc="-70" dirty="0">
                <a:solidFill>
                  <a:srgbClr val="1B1B2D"/>
                </a:solidFill>
                <a:latin typeface="Tahoma"/>
                <a:cs typeface="Tahoma"/>
              </a:rPr>
              <a:t>phải </a:t>
            </a:r>
            <a:r>
              <a:rPr sz="1200" spc="-45" dirty="0">
                <a:solidFill>
                  <a:srgbClr val="1B1B2D"/>
                </a:solidFill>
                <a:latin typeface="Tahoma"/>
                <a:cs typeface="Tahoma"/>
              </a:rPr>
              <a:t>(right-</a:t>
            </a:r>
            <a:r>
              <a:rPr sz="1200" spc="-10" dirty="0">
                <a:solidFill>
                  <a:srgbClr val="1B1B2D"/>
                </a:solidFill>
                <a:latin typeface="Tahoma"/>
                <a:cs typeface="Tahoma"/>
              </a:rPr>
              <a:t>skewed)</a:t>
            </a:r>
            <a:endParaRPr sz="1200">
              <a:latin typeface="Tahoma"/>
              <a:cs typeface="Tahoma"/>
            </a:endParaRPr>
          </a:p>
          <a:p>
            <a:pPr marL="161290" marR="92710" indent="-149225">
              <a:lnSpc>
                <a:spcPct val="100000"/>
              </a:lnSpc>
              <a:spcBef>
                <a:spcPts val="605"/>
              </a:spcBef>
              <a:buClr>
                <a:srgbClr val="197FA4"/>
              </a:buClr>
              <a:buFont typeface="Arial MT"/>
              <a:buChar char="•"/>
              <a:tabLst>
                <a:tab pos="161290" algn="l"/>
              </a:tabLst>
            </a:pPr>
            <a:r>
              <a:rPr sz="1200" spc="-10" dirty="0">
                <a:solidFill>
                  <a:srgbClr val="1B1B2D"/>
                </a:solidFill>
                <a:latin typeface="Tahoma"/>
                <a:cs typeface="Tahoma"/>
              </a:rPr>
              <a:t>Phản</a:t>
            </a:r>
            <a:r>
              <a:rPr sz="1200" spc="-4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1B1B2D"/>
                </a:solidFill>
                <a:latin typeface="Tahoma"/>
                <a:cs typeface="Tahoma"/>
              </a:rPr>
              <a:t>ánh</a:t>
            </a:r>
            <a:r>
              <a:rPr sz="1200" spc="-4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1B1B2D"/>
                </a:solidFill>
                <a:latin typeface="Tahoma"/>
                <a:cs typeface="Tahoma"/>
              </a:rPr>
              <a:t>đặc</a:t>
            </a:r>
            <a:r>
              <a:rPr sz="1200" spc="-4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1B1B2D"/>
                </a:solidFill>
                <a:latin typeface="Tahoma"/>
                <a:cs typeface="Tahoma"/>
              </a:rPr>
              <a:t>trưng</a:t>
            </a:r>
            <a:r>
              <a:rPr sz="1200" spc="-3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spc="-80" dirty="0">
                <a:solidFill>
                  <a:srgbClr val="1B1B2D"/>
                </a:solidFill>
                <a:latin typeface="Tahoma"/>
                <a:cs typeface="Tahoma"/>
              </a:rPr>
              <a:t>chặng</a:t>
            </a:r>
            <a:r>
              <a:rPr sz="1200" b="1" spc="2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spc="-85" dirty="0">
                <a:solidFill>
                  <a:srgbClr val="1B1B2D"/>
                </a:solidFill>
                <a:latin typeface="Tahoma"/>
                <a:cs typeface="Tahoma"/>
              </a:rPr>
              <a:t>ngắn </a:t>
            </a:r>
            <a:r>
              <a:rPr sz="1200" b="1" spc="-10" dirty="0">
                <a:solidFill>
                  <a:srgbClr val="1B1B2D"/>
                </a:solidFill>
                <a:latin typeface="Tahoma"/>
                <a:cs typeface="Tahoma"/>
              </a:rPr>
              <a:t>đô</a:t>
            </a:r>
            <a:r>
              <a:rPr sz="1200" b="1" spc="-6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spc="-25" dirty="0">
                <a:solidFill>
                  <a:srgbClr val="1B1B2D"/>
                </a:solidFill>
                <a:latin typeface="Tahoma"/>
                <a:cs typeface="Tahoma"/>
              </a:rPr>
              <a:t>thị</a:t>
            </a:r>
            <a:endParaRPr sz="1200">
              <a:latin typeface="Tahoma"/>
              <a:cs typeface="Tahoma"/>
            </a:endParaRPr>
          </a:p>
          <a:p>
            <a:pPr marL="161290" indent="-148590">
              <a:lnSpc>
                <a:spcPct val="100000"/>
              </a:lnSpc>
              <a:spcBef>
                <a:spcPts val="610"/>
              </a:spcBef>
              <a:buClr>
                <a:srgbClr val="197FA4"/>
              </a:buClr>
              <a:buFont typeface="Arial MT"/>
              <a:buChar char="•"/>
              <a:tabLst>
                <a:tab pos="161290" algn="l"/>
              </a:tabLst>
            </a:pPr>
            <a:r>
              <a:rPr sz="1200" i="1" spc="-114" dirty="0">
                <a:solidFill>
                  <a:srgbClr val="1B1B2D"/>
                </a:solidFill>
                <a:latin typeface="Verdana"/>
                <a:cs typeface="Verdana"/>
              </a:rPr>
              <a:t>&gt;</a:t>
            </a:r>
            <a:r>
              <a:rPr sz="1200" spc="-114" dirty="0">
                <a:solidFill>
                  <a:srgbClr val="1B1B2D"/>
                </a:solidFill>
                <a:latin typeface="Tahoma"/>
                <a:cs typeface="Tahoma"/>
              </a:rPr>
              <a:t>80%</a:t>
            </a:r>
            <a:r>
              <a:rPr sz="1200" spc="1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80" dirty="0">
                <a:solidFill>
                  <a:srgbClr val="1B1B2D"/>
                </a:solidFill>
                <a:latin typeface="Tahoma"/>
                <a:cs typeface="Tahoma"/>
              </a:rPr>
              <a:t>chuyến</a:t>
            </a:r>
            <a:r>
              <a:rPr sz="1200" spc="-1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1B1B2D"/>
                </a:solidFill>
                <a:latin typeface="Tahoma"/>
                <a:cs typeface="Tahoma"/>
              </a:rPr>
              <a:t>chỉ</a:t>
            </a:r>
            <a:r>
              <a:rPr sz="1200" spc="-7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1B1B2D"/>
                </a:solidFill>
                <a:latin typeface="Tahoma"/>
                <a:cs typeface="Tahoma"/>
              </a:rPr>
              <a:t>1</a:t>
            </a:r>
            <a:r>
              <a:rPr sz="1200" spc="-2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1B1B2D"/>
                </a:solidFill>
                <a:latin typeface="Tahoma"/>
                <a:cs typeface="Tahoma"/>
              </a:rPr>
              <a:t>hành</a:t>
            </a:r>
            <a:r>
              <a:rPr sz="1200" spc="-2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1B1B2D"/>
                </a:solidFill>
                <a:latin typeface="Tahoma"/>
                <a:cs typeface="Tahoma"/>
              </a:rPr>
              <a:t>khách</a:t>
            </a:r>
            <a:endParaRPr sz="1200">
              <a:latin typeface="Tahoma"/>
              <a:cs typeface="Tahoma"/>
            </a:endParaRPr>
          </a:p>
          <a:p>
            <a:pPr marL="161290" indent="-148590">
              <a:lnSpc>
                <a:spcPct val="100000"/>
              </a:lnSpc>
              <a:spcBef>
                <a:spcPts val="600"/>
              </a:spcBef>
              <a:buClr>
                <a:srgbClr val="197FA4"/>
              </a:buClr>
              <a:buFont typeface="Arial MT"/>
              <a:buChar char="•"/>
              <a:tabLst>
                <a:tab pos="161290" algn="l"/>
              </a:tabLst>
            </a:pPr>
            <a:r>
              <a:rPr sz="1200" b="1" spc="-40" dirty="0">
                <a:solidFill>
                  <a:srgbClr val="1B1B2D"/>
                </a:solidFill>
                <a:latin typeface="Tahoma"/>
                <a:cs typeface="Tahoma"/>
              </a:rPr>
              <a:t>Yêu</a:t>
            </a:r>
            <a:r>
              <a:rPr sz="1200" b="1" spc="4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spc="-55" dirty="0">
                <a:solidFill>
                  <a:srgbClr val="1B1B2D"/>
                </a:solidFill>
                <a:latin typeface="Tahoma"/>
                <a:cs typeface="Tahoma"/>
              </a:rPr>
              <a:t>cầu</a:t>
            </a:r>
            <a:r>
              <a:rPr sz="1200" b="1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1B1B2D"/>
                </a:solidFill>
                <a:latin typeface="Tahoma"/>
                <a:cs typeface="Tahoma"/>
              </a:rPr>
              <a:t>áp </a:t>
            </a:r>
            <a:r>
              <a:rPr sz="1200" spc="-60" dirty="0">
                <a:solidFill>
                  <a:srgbClr val="1B1B2D"/>
                </a:solidFill>
                <a:latin typeface="Tahoma"/>
                <a:cs typeface="Tahoma"/>
              </a:rPr>
              <a:t>dụng</a:t>
            </a:r>
            <a:r>
              <a:rPr sz="1200" spc="-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1B1B2D"/>
                </a:solidFill>
                <a:latin typeface="Calibri"/>
                <a:cs typeface="Calibri"/>
              </a:rPr>
              <a:t>Log</a:t>
            </a:r>
            <a:r>
              <a:rPr sz="1200" spc="290" dirty="0">
                <a:solidFill>
                  <a:srgbClr val="1B1B2D"/>
                </a:solidFill>
                <a:latin typeface="Calibri"/>
                <a:cs typeface="Calibri"/>
              </a:rPr>
              <a:t> </a:t>
            </a:r>
            <a:r>
              <a:rPr sz="1200" spc="40" dirty="0">
                <a:solidFill>
                  <a:srgbClr val="1B1B2D"/>
                </a:solidFill>
                <a:latin typeface="Calibri"/>
                <a:cs typeface="Calibri"/>
              </a:rPr>
              <a:t>Transform</a:t>
            </a:r>
            <a:endParaRPr sz="1200">
              <a:latin typeface="Calibri"/>
              <a:cs typeface="Calibri"/>
            </a:endParaRPr>
          </a:p>
          <a:p>
            <a:pPr marL="161290">
              <a:lnSpc>
                <a:spcPct val="100000"/>
              </a:lnSpc>
              <a:spcBef>
                <a:spcPts val="5"/>
              </a:spcBef>
            </a:pPr>
            <a:r>
              <a:rPr sz="1200" spc="-110" dirty="0">
                <a:solidFill>
                  <a:srgbClr val="1B1B2D"/>
                </a:solidFill>
                <a:latin typeface="Tahoma"/>
                <a:cs typeface="Tahoma"/>
              </a:rPr>
              <a:t>để</a:t>
            </a:r>
            <a:r>
              <a:rPr sz="1200" spc="1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100" dirty="0">
                <a:solidFill>
                  <a:srgbClr val="1B1B2D"/>
                </a:solidFill>
                <a:latin typeface="Tahoma"/>
                <a:cs typeface="Tahoma"/>
              </a:rPr>
              <a:t>đưa</a:t>
            </a:r>
            <a:r>
              <a:rPr sz="1200" spc="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90" dirty="0">
                <a:solidFill>
                  <a:srgbClr val="1B1B2D"/>
                </a:solidFill>
                <a:latin typeface="Tahoma"/>
                <a:cs typeface="Tahoma"/>
              </a:rPr>
              <a:t>về</a:t>
            </a:r>
            <a:r>
              <a:rPr sz="1200" spc="-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1B1B2D"/>
                </a:solidFill>
                <a:latin typeface="Tahoma"/>
                <a:cs typeface="Tahoma"/>
              </a:rPr>
              <a:t>phân</a:t>
            </a:r>
            <a:r>
              <a:rPr sz="1200" spc="-2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40" dirty="0">
                <a:solidFill>
                  <a:srgbClr val="1B1B2D"/>
                </a:solidFill>
                <a:latin typeface="Tahoma"/>
                <a:cs typeface="Tahoma"/>
              </a:rPr>
              <a:t>phối</a:t>
            </a:r>
            <a:r>
              <a:rPr sz="120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60" dirty="0">
                <a:solidFill>
                  <a:srgbClr val="1B1B2D"/>
                </a:solidFill>
                <a:latin typeface="Tahoma"/>
                <a:cs typeface="Tahoma"/>
              </a:rPr>
              <a:t>chuẩn</a:t>
            </a:r>
            <a:r>
              <a:rPr sz="120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1B1B2D"/>
                </a:solidFill>
                <a:latin typeface="Tahoma"/>
                <a:cs typeface="Tahoma"/>
              </a:rPr>
              <a:t>hơn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150254" y="2199779"/>
            <a:ext cx="2513330" cy="922655"/>
            <a:chOff x="3111614" y="2300524"/>
            <a:chExt cx="2513330" cy="922655"/>
          </a:xfrm>
        </p:grpSpPr>
        <p:sp>
          <p:nvSpPr>
            <p:cNvPr id="10" name="object 10"/>
            <p:cNvSpPr/>
            <p:nvPr/>
          </p:nvSpPr>
          <p:spPr>
            <a:xfrm>
              <a:off x="3111614" y="2300524"/>
              <a:ext cx="2513330" cy="922655"/>
            </a:xfrm>
            <a:custGeom>
              <a:avLst/>
              <a:gdLst/>
              <a:ahLst/>
              <a:cxnLst/>
              <a:rect l="l" t="t" r="r" b="b"/>
              <a:pathLst>
                <a:path w="2513329" h="922655">
                  <a:moveTo>
                    <a:pt x="2434481" y="0"/>
                  </a:moveTo>
                  <a:lnTo>
                    <a:pt x="78446" y="0"/>
                  </a:lnTo>
                  <a:lnTo>
                    <a:pt x="47911" y="6164"/>
                  </a:lnTo>
                  <a:lnTo>
                    <a:pt x="22976" y="22976"/>
                  </a:lnTo>
                  <a:lnTo>
                    <a:pt x="6164" y="47911"/>
                  </a:lnTo>
                  <a:lnTo>
                    <a:pt x="0" y="78446"/>
                  </a:lnTo>
                  <a:lnTo>
                    <a:pt x="0" y="843615"/>
                  </a:lnTo>
                  <a:lnTo>
                    <a:pt x="6164" y="874150"/>
                  </a:lnTo>
                  <a:lnTo>
                    <a:pt x="22976" y="899085"/>
                  </a:lnTo>
                  <a:lnTo>
                    <a:pt x="47911" y="915897"/>
                  </a:lnTo>
                  <a:lnTo>
                    <a:pt x="78446" y="922061"/>
                  </a:lnTo>
                  <a:lnTo>
                    <a:pt x="2434481" y="922061"/>
                  </a:lnTo>
                  <a:lnTo>
                    <a:pt x="2465016" y="915897"/>
                  </a:lnTo>
                  <a:lnTo>
                    <a:pt x="2489951" y="899085"/>
                  </a:lnTo>
                  <a:lnTo>
                    <a:pt x="2506763" y="874150"/>
                  </a:lnTo>
                  <a:lnTo>
                    <a:pt x="2512928" y="843615"/>
                  </a:lnTo>
                  <a:lnTo>
                    <a:pt x="2512928" y="78446"/>
                  </a:lnTo>
                  <a:lnTo>
                    <a:pt x="2506763" y="47911"/>
                  </a:lnTo>
                  <a:lnTo>
                    <a:pt x="2489951" y="22976"/>
                  </a:lnTo>
                  <a:lnTo>
                    <a:pt x="2465016" y="6164"/>
                  </a:lnTo>
                  <a:lnTo>
                    <a:pt x="2434481" y="0"/>
                  </a:lnTo>
                  <a:close/>
                </a:path>
              </a:pathLst>
            </a:custGeom>
            <a:solidFill>
              <a:srgbClr val="F0A5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26797" y="2315707"/>
              <a:ext cx="2482850" cy="892175"/>
            </a:xfrm>
            <a:custGeom>
              <a:avLst/>
              <a:gdLst/>
              <a:ahLst/>
              <a:cxnLst/>
              <a:rect l="l" t="t" r="r" b="b"/>
              <a:pathLst>
                <a:path w="2482850" h="892175">
                  <a:moveTo>
                    <a:pt x="2419298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828432"/>
                  </a:lnTo>
                  <a:lnTo>
                    <a:pt x="4971" y="853057"/>
                  </a:lnTo>
                  <a:lnTo>
                    <a:pt x="18529" y="873166"/>
                  </a:lnTo>
                  <a:lnTo>
                    <a:pt x="38638" y="886724"/>
                  </a:lnTo>
                  <a:lnTo>
                    <a:pt x="63263" y="891695"/>
                  </a:lnTo>
                  <a:lnTo>
                    <a:pt x="2419298" y="891695"/>
                  </a:lnTo>
                  <a:lnTo>
                    <a:pt x="2443923" y="886724"/>
                  </a:lnTo>
                  <a:lnTo>
                    <a:pt x="2464032" y="873166"/>
                  </a:lnTo>
                  <a:lnTo>
                    <a:pt x="2477590" y="853057"/>
                  </a:lnTo>
                  <a:lnTo>
                    <a:pt x="2482561" y="828432"/>
                  </a:lnTo>
                  <a:lnTo>
                    <a:pt x="2482561" y="63263"/>
                  </a:lnTo>
                  <a:lnTo>
                    <a:pt x="2477590" y="38638"/>
                  </a:lnTo>
                  <a:lnTo>
                    <a:pt x="2464032" y="18529"/>
                  </a:lnTo>
                  <a:lnTo>
                    <a:pt x="2443923" y="4971"/>
                  </a:lnTo>
                  <a:lnTo>
                    <a:pt x="2419298" y="0"/>
                  </a:lnTo>
                  <a:close/>
                </a:path>
              </a:pathLst>
            </a:custGeom>
            <a:solidFill>
              <a:srgbClr val="FCF1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644900" y="2264394"/>
            <a:ext cx="1447800" cy="7437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400"/>
              </a:lnSpc>
              <a:spcBef>
                <a:spcPts val="100"/>
              </a:spcBef>
            </a:pPr>
            <a:r>
              <a:rPr sz="1000" b="1" spc="-25" dirty="0">
                <a:latin typeface="Tahoma"/>
                <a:cs typeface="Tahoma"/>
              </a:rPr>
              <a:t>Thống</a:t>
            </a:r>
            <a:r>
              <a:rPr sz="1000" b="1" spc="-10" dirty="0">
                <a:latin typeface="Tahoma"/>
                <a:cs typeface="Tahoma"/>
              </a:rPr>
              <a:t> </a:t>
            </a:r>
            <a:r>
              <a:rPr sz="1000" b="1" spc="-65" dirty="0">
                <a:latin typeface="Tahoma"/>
                <a:cs typeface="Tahoma"/>
              </a:rPr>
              <a:t>kê</a:t>
            </a:r>
            <a:r>
              <a:rPr sz="1000" b="1" spc="-5" dirty="0">
                <a:latin typeface="Tahoma"/>
                <a:cs typeface="Tahoma"/>
              </a:rPr>
              <a:t> </a:t>
            </a:r>
            <a:r>
              <a:rPr sz="1000" b="1" spc="-55" dirty="0">
                <a:latin typeface="Tahoma"/>
                <a:cs typeface="Tahoma"/>
              </a:rPr>
              <a:t>trung</a:t>
            </a:r>
            <a:r>
              <a:rPr sz="1000" b="1" spc="-5" dirty="0">
                <a:latin typeface="Tahoma"/>
                <a:cs typeface="Tahoma"/>
              </a:rPr>
              <a:t> </a:t>
            </a:r>
            <a:r>
              <a:rPr sz="1000" b="1" spc="-20" dirty="0">
                <a:latin typeface="Tahoma"/>
                <a:cs typeface="Tahoma"/>
              </a:rPr>
              <a:t>tâm: </a:t>
            </a:r>
            <a:r>
              <a:rPr sz="1000" spc="-35" dirty="0">
                <a:latin typeface="Microsoft Sans Serif"/>
                <a:cs typeface="Microsoft Sans Serif"/>
              </a:rPr>
              <a:t>Quãng</a:t>
            </a:r>
            <a:r>
              <a:rPr sz="1000" spc="-30" dirty="0">
                <a:latin typeface="Microsoft Sans Serif"/>
                <a:cs typeface="Microsoft Sans Serif"/>
              </a:rPr>
              <a:t> </a:t>
            </a:r>
            <a:r>
              <a:rPr sz="1000" spc="-10" dirty="0">
                <a:latin typeface="Microsoft Sans Serif"/>
                <a:cs typeface="Microsoft Sans Serif"/>
              </a:rPr>
              <a:t>đường:</a:t>
            </a:r>
            <a:r>
              <a:rPr sz="1000" spc="50" dirty="0">
                <a:latin typeface="Microsoft Sans Serif"/>
                <a:cs typeface="Microsoft Sans Serif"/>
              </a:rPr>
              <a:t> </a:t>
            </a:r>
            <a:r>
              <a:rPr sz="1000" spc="-20" dirty="0">
                <a:latin typeface="Lucida Sans Unicode"/>
                <a:cs typeface="Lucida Sans Unicode"/>
              </a:rPr>
              <a:t>∼</a:t>
            </a:r>
            <a:r>
              <a:rPr sz="1000" spc="-20" dirty="0">
                <a:latin typeface="Microsoft Sans Serif"/>
                <a:cs typeface="Microsoft Sans Serif"/>
              </a:rPr>
              <a:t>1,6</a:t>
            </a:r>
            <a:r>
              <a:rPr sz="1000" spc="-30" dirty="0">
                <a:latin typeface="Microsoft Sans Serif"/>
                <a:cs typeface="Microsoft Sans Serif"/>
              </a:rPr>
              <a:t> </a:t>
            </a:r>
            <a:r>
              <a:rPr sz="1000" spc="-40" dirty="0">
                <a:latin typeface="Microsoft Sans Serif"/>
                <a:cs typeface="Microsoft Sans Serif"/>
              </a:rPr>
              <a:t>dặm </a:t>
            </a:r>
            <a:r>
              <a:rPr sz="1000" dirty="0">
                <a:latin typeface="Microsoft Sans Serif"/>
                <a:cs typeface="Microsoft Sans Serif"/>
              </a:rPr>
              <a:t>Thời </a:t>
            </a:r>
            <a:r>
              <a:rPr sz="1000" spc="-10" dirty="0">
                <a:latin typeface="Microsoft Sans Serif"/>
                <a:cs typeface="Microsoft Sans Serif"/>
              </a:rPr>
              <a:t>lượng:</a:t>
            </a:r>
            <a:r>
              <a:rPr sz="1000" spc="80" dirty="0">
                <a:latin typeface="Microsoft Sans Serif"/>
                <a:cs typeface="Microsoft Sans Serif"/>
              </a:rPr>
              <a:t> </a:t>
            </a:r>
            <a:r>
              <a:rPr sz="1000" spc="-25" dirty="0">
                <a:latin typeface="Lucida Sans Unicode"/>
                <a:cs typeface="Lucida Sans Unicode"/>
              </a:rPr>
              <a:t>∼</a:t>
            </a:r>
            <a:r>
              <a:rPr sz="1000" spc="-25" dirty="0">
                <a:latin typeface="Microsoft Sans Serif"/>
                <a:cs typeface="Microsoft Sans Serif"/>
              </a:rPr>
              <a:t>10,5</a:t>
            </a:r>
            <a:r>
              <a:rPr sz="1000" dirty="0">
                <a:latin typeface="Microsoft Sans Serif"/>
                <a:cs typeface="Microsoft Sans Serif"/>
              </a:rPr>
              <a:t> </a:t>
            </a:r>
            <a:r>
              <a:rPr sz="1000" spc="-20" dirty="0">
                <a:latin typeface="Microsoft Sans Serif"/>
                <a:cs typeface="Microsoft Sans Serif"/>
              </a:rPr>
              <a:t>phút </a:t>
            </a:r>
            <a:r>
              <a:rPr sz="1000" spc="-30" dirty="0">
                <a:latin typeface="Microsoft Sans Serif"/>
                <a:cs typeface="Microsoft Sans Serif"/>
              </a:rPr>
              <a:t>Cước</a:t>
            </a:r>
            <a:r>
              <a:rPr sz="1000" spc="-15" dirty="0">
                <a:latin typeface="Microsoft Sans Serif"/>
                <a:cs typeface="Microsoft Sans Serif"/>
              </a:rPr>
              <a:t> </a:t>
            </a:r>
            <a:r>
              <a:rPr sz="1000" dirty="0">
                <a:latin typeface="Microsoft Sans Serif"/>
                <a:cs typeface="Microsoft Sans Serif"/>
              </a:rPr>
              <a:t>phí:</a:t>
            </a:r>
            <a:r>
              <a:rPr sz="1000" spc="75" dirty="0">
                <a:latin typeface="Microsoft Sans Serif"/>
                <a:cs typeface="Microsoft Sans Serif"/>
              </a:rPr>
              <a:t> </a:t>
            </a:r>
            <a:r>
              <a:rPr sz="1000" spc="-25" dirty="0">
                <a:latin typeface="Lucida Sans Unicode"/>
                <a:cs typeface="Lucida Sans Unicode"/>
              </a:rPr>
              <a:t>∼</a:t>
            </a:r>
            <a:r>
              <a:rPr sz="1000" spc="-25" dirty="0">
                <a:latin typeface="Microsoft Sans Serif"/>
                <a:cs typeface="Microsoft Sans Serif"/>
              </a:rPr>
              <a:t>11,5</a:t>
            </a:r>
            <a:r>
              <a:rPr sz="1000" spc="-10" dirty="0">
                <a:latin typeface="Microsoft Sans Serif"/>
                <a:cs typeface="Microsoft Sans Serif"/>
              </a:rPr>
              <a:t> </a:t>
            </a:r>
            <a:r>
              <a:rPr sz="1000" spc="-25" dirty="0">
                <a:latin typeface="Microsoft Sans Serif"/>
                <a:cs typeface="Microsoft Sans Serif"/>
              </a:rPr>
              <a:t>USD</a:t>
            </a:r>
            <a:endParaRPr sz="1000" dirty="0">
              <a:latin typeface="Microsoft Sans Serif"/>
              <a:cs typeface="Microsoft Sans Serif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-5" y="3130372"/>
            <a:ext cx="5760085" cy="109855"/>
            <a:chOff x="-5" y="3130372"/>
            <a:chExt cx="5760085" cy="109855"/>
          </a:xfrm>
        </p:grpSpPr>
        <p:sp>
          <p:nvSpPr>
            <p:cNvPr id="14" name="object 14"/>
            <p:cNvSpPr/>
            <p:nvPr/>
          </p:nvSpPr>
          <p:spPr>
            <a:xfrm>
              <a:off x="0" y="3130372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26"/>
                  </a:lnTo>
                  <a:lnTo>
                    <a:pt x="1919973" y="10962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7F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19973" y="3130372"/>
              <a:ext cx="3840479" cy="109855"/>
            </a:xfrm>
            <a:custGeom>
              <a:avLst/>
              <a:gdLst/>
              <a:ahLst/>
              <a:cxnLst/>
              <a:rect l="l" t="t" r="r" b="b"/>
              <a:pathLst>
                <a:path w="3840479" h="109855">
                  <a:moveTo>
                    <a:pt x="3839934" y="0"/>
                  </a:moveTo>
                  <a:lnTo>
                    <a:pt x="1919973" y="0"/>
                  </a:lnTo>
                  <a:lnTo>
                    <a:pt x="0" y="0"/>
                  </a:lnTo>
                  <a:lnTo>
                    <a:pt x="0" y="109626"/>
                  </a:lnTo>
                  <a:lnTo>
                    <a:pt x="1919960" y="109626"/>
                  </a:lnTo>
                  <a:lnTo>
                    <a:pt x="3839934" y="109626"/>
                  </a:lnTo>
                  <a:lnTo>
                    <a:pt x="3839934" y="0"/>
                  </a:lnTo>
                  <a:close/>
                </a:path>
              </a:pathLst>
            </a:custGeom>
            <a:solidFill>
              <a:srgbClr val="0C2B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-5" y="3214693"/>
              <a:ext cx="0" cy="25400"/>
            </a:xfrm>
            <a:custGeom>
              <a:avLst/>
              <a:gdLst/>
              <a:ahLst/>
              <a:cxnLst/>
              <a:rect l="l" t="t" r="r" b="b"/>
              <a:pathLst>
                <a:path h="25400">
                  <a:moveTo>
                    <a:pt x="0" y="25305"/>
                  </a:moveTo>
                  <a:lnTo>
                    <a:pt x="0" y="0"/>
                  </a:lnTo>
                  <a:lnTo>
                    <a:pt x="0" y="25305"/>
                  </a:lnTo>
                  <a:close/>
                </a:path>
                <a:path h="25400">
                  <a:moveTo>
                    <a:pt x="0" y="0"/>
                  </a:moveTo>
                </a:path>
              </a:pathLst>
            </a:custGeom>
            <a:solidFill>
              <a:srgbClr val="A3CB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Hiếu</a:t>
            </a:r>
            <a:r>
              <a:rPr spc="35" dirty="0"/>
              <a:t> </a:t>
            </a:r>
            <a:r>
              <a:rPr dirty="0">
                <a:latin typeface="Cambria"/>
                <a:cs typeface="Cambria"/>
              </a:rPr>
              <a:t>·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dirty="0"/>
              <a:t>Trọng</a:t>
            </a:r>
            <a:r>
              <a:rPr spc="35" dirty="0"/>
              <a:t> </a:t>
            </a:r>
            <a:r>
              <a:rPr dirty="0">
                <a:latin typeface="Cambria"/>
                <a:cs typeface="Cambria"/>
              </a:rPr>
              <a:t>·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dirty="0"/>
              <a:t>Quang</a:t>
            </a:r>
            <a:r>
              <a:rPr spc="245" dirty="0"/>
              <a:t> </a:t>
            </a:r>
            <a:r>
              <a:rPr dirty="0"/>
              <a:t>(ĐH</a:t>
            </a:r>
            <a:r>
              <a:rPr spc="40" dirty="0"/>
              <a:t> </a:t>
            </a:r>
            <a:r>
              <a:rPr spc="-10" dirty="0"/>
              <a:t>Phenikaa)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441397" y="3122434"/>
            <a:ext cx="877569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Cước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phí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Taxi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·</a:t>
            </a:r>
            <a:r>
              <a:rPr sz="600" spc="55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Phenikaa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20" dirty="0"/>
              <a:t>2026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8</a:t>
            </a:fld>
            <a:r>
              <a:rPr spc="-45" dirty="0"/>
              <a:t> </a:t>
            </a:r>
            <a:r>
              <a:rPr spc="150" dirty="0"/>
              <a:t>/</a:t>
            </a:r>
            <a:r>
              <a:rPr spc="-45" dirty="0"/>
              <a:t> </a:t>
            </a:r>
            <a:r>
              <a:rPr spc="-25" dirty="0"/>
              <a:t>19</a:t>
            </a:r>
          </a:p>
        </p:txBody>
      </p:sp>
      <p:pic>
        <p:nvPicPr>
          <p:cNvPr id="22" name="Hình ảnh 21">
            <a:extLst>
              <a:ext uri="{FF2B5EF4-FFF2-40B4-BE49-F238E27FC236}">
                <a16:creationId xmlns:a16="http://schemas.microsoft.com/office/drawing/2014/main" id="{3643BAF7-B41E-1A51-7941-28557FDE1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7" y="456611"/>
            <a:ext cx="3056518" cy="236284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7363"/>
            <a:ext cx="36544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EDA</a:t>
            </a:r>
            <a:r>
              <a:rPr spc="-1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10" dirty="0"/>
              <a:t>Phân</a:t>
            </a:r>
            <a:r>
              <a:rPr spc="-20" dirty="0"/>
              <a:t> </a:t>
            </a:r>
            <a:r>
              <a:rPr spc="-10" dirty="0"/>
              <a:t>tích</a:t>
            </a:r>
            <a:r>
              <a:rPr spc="-15" dirty="0"/>
              <a:t> </a:t>
            </a:r>
            <a:r>
              <a:rPr spc="-50" dirty="0"/>
              <a:t>Phương</a:t>
            </a:r>
            <a:r>
              <a:rPr spc="-15" dirty="0"/>
              <a:t> </a:t>
            </a:r>
            <a:r>
              <a:rPr spc="-30" dirty="0"/>
              <a:t>thức</a:t>
            </a:r>
            <a:r>
              <a:rPr spc="-20" dirty="0"/>
              <a:t> </a:t>
            </a:r>
            <a:r>
              <a:rPr spc="-10" dirty="0"/>
              <a:t>Thanh</a:t>
            </a:r>
            <a:r>
              <a:rPr spc="-15" dirty="0"/>
              <a:t> </a:t>
            </a:r>
            <a:r>
              <a:rPr spc="-20" dirty="0"/>
              <a:t>toán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5465" y="498243"/>
            <a:ext cx="2345690" cy="1373505"/>
            <a:chOff x="135465" y="498243"/>
            <a:chExt cx="2345690" cy="1373505"/>
          </a:xfrm>
        </p:grpSpPr>
        <p:sp>
          <p:nvSpPr>
            <p:cNvPr id="4" name="object 4"/>
            <p:cNvSpPr/>
            <p:nvPr/>
          </p:nvSpPr>
          <p:spPr>
            <a:xfrm>
              <a:off x="137996" y="500773"/>
              <a:ext cx="2340610" cy="1368425"/>
            </a:xfrm>
            <a:custGeom>
              <a:avLst/>
              <a:gdLst/>
              <a:ahLst/>
              <a:cxnLst/>
              <a:rect l="l" t="t" r="r" b="b"/>
              <a:pathLst>
                <a:path w="2340610" h="1368425">
                  <a:moveTo>
                    <a:pt x="2289418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317407"/>
                  </a:lnTo>
                  <a:lnTo>
                    <a:pt x="3977" y="1337107"/>
                  </a:lnTo>
                  <a:lnTo>
                    <a:pt x="14823" y="1353195"/>
                  </a:lnTo>
                  <a:lnTo>
                    <a:pt x="30910" y="1364041"/>
                  </a:lnTo>
                  <a:lnTo>
                    <a:pt x="50610" y="1368018"/>
                  </a:lnTo>
                  <a:lnTo>
                    <a:pt x="2289418" y="1368018"/>
                  </a:lnTo>
                  <a:lnTo>
                    <a:pt x="2309118" y="1364041"/>
                  </a:lnTo>
                  <a:lnTo>
                    <a:pt x="2325206" y="1353195"/>
                  </a:lnTo>
                  <a:lnTo>
                    <a:pt x="2336052" y="1337107"/>
                  </a:lnTo>
                  <a:lnTo>
                    <a:pt x="2340029" y="1317407"/>
                  </a:lnTo>
                  <a:lnTo>
                    <a:pt x="2340029" y="50610"/>
                  </a:lnTo>
                  <a:lnTo>
                    <a:pt x="2336052" y="30910"/>
                  </a:lnTo>
                  <a:lnTo>
                    <a:pt x="2325206" y="14823"/>
                  </a:lnTo>
                  <a:lnTo>
                    <a:pt x="2309118" y="3977"/>
                  </a:lnTo>
                  <a:lnTo>
                    <a:pt x="2289418" y="0"/>
                  </a:lnTo>
                  <a:close/>
                </a:path>
              </a:pathLst>
            </a:custGeom>
            <a:solidFill>
              <a:srgbClr val="F3F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7996" y="500773"/>
              <a:ext cx="2340610" cy="1368425"/>
            </a:xfrm>
            <a:custGeom>
              <a:avLst/>
              <a:gdLst/>
              <a:ahLst/>
              <a:cxnLst/>
              <a:rect l="l" t="t" r="r" b="b"/>
              <a:pathLst>
                <a:path w="2340610" h="1368425">
                  <a:moveTo>
                    <a:pt x="2289418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317407"/>
                  </a:lnTo>
                  <a:lnTo>
                    <a:pt x="3977" y="1337107"/>
                  </a:lnTo>
                  <a:lnTo>
                    <a:pt x="14823" y="1353195"/>
                  </a:lnTo>
                  <a:lnTo>
                    <a:pt x="30910" y="1364041"/>
                  </a:lnTo>
                  <a:lnTo>
                    <a:pt x="50610" y="1368018"/>
                  </a:lnTo>
                  <a:lnTo>
                    <a:pt x="2289418" y="1368018"/>
                  </a:lnTo>
                  <a:lnTo>
                    <a:pt x="2309118" y="1364041"/>
                  </a:lnTo>
                  <a:lnTo>
                    <a:pt x="2325206" y="1353195"/>
                  </a:lnTo>
                  <a:lnTo>
                    <a:pt x="2336052" y="1337107"/>
                  </a:lnTo>
                  <a:lnTo>
                    <a:pt x="2340029" y="1317407"/>
                  </a:lnTo>
                  <a:lnTo>
                    <a:pt x="2340029" y="50610"/>
                  </a:lnTo>
                  <a:lnTo>
                    <a:pt x="2336052" y="30910"/>
                  </a:lnTo>
                  <a:lnTo>
                    <a:pt x="2325206" y="14823"/>
                  </a:lnTo>
                  <a:lnTo>
                    <a:pt x="2309118" y="3977"/>
                  </a:lnTo>
                  <a:lnTo>
                    <a:pt x="2289418" y="0"/>
                  </a:lnTo>
                  <a:close/>
                </a:path>
              </a:pathLst>
            </a:custGeom>
            <a:ln w="5060">
              <a:solidFill>
                <a:srgbClr val="A6AC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73938" y="999272"/>
            <a:ext cx="126809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411480" marR="5080" indent="-399415">
              <a:lnSpc>
                <a:spcPct val="102600"/>
              </a:lnSpc>
              <a:spcBef>
                <a:spcPts val="55"/>
              </a:spcBef>
            </a:pPr>
            <a:r>
              <a:rPr sz="1100" i="1" spc="-25" dirty="0">
                <a:solidFill>
                  <a:srgbClr val="6C747D"/>
                </a:solidFill>
                <a:latin typeface="Arial"/>
                <a:cs typeface="Arial"/>
              </a:rPr>
              <a:t>Biểu</a:t>
            </a:r>
            <a:r>
              <a:rPr sz="1100" i="1" spc="-50" dirty="0">
                <a:solidFill>
                  <a:srgbClr val="6C747D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6C747D"/>
                </a:solidFill>
                <a:latin typeface="Arial"/>
                <a:cs typeface="Arial"/>
              </a:rPr>
              <a:t>đồ</a:t>
            </a:r>
            <a:r>
              <a:rPr sz="1100" i="1" spc="-30" dirty="0">
                <a:solidFill>
                  <a:srgbClr val="6C747D"/>
                </a:solidFill>
                <a:latin typeface="Arial"/>
                <a:cs typeface="Arial"/>
              </a:rPr>
              <a:t> </a:t>
            </a:r>
            <a:r>
              <a:rPr sz="1100" i="1" spc="-135" dirty="0">
                <a:solidFill>
                  <a:srgbClr val="6C747D"/>
                </a:solidFill>
                <a:latin typeface="Arial"/>
                <a:cs typeface="Arial"/>
              </a:rPr>
              <a:t>sẽ</a:t>
            </a:r>
            <a:r>
              <a:rPr sz="1100" i="1" spc="55" dirty="0">
                <a:solidFill>
                  <a:srgbClr val="6C747D"/>
                </a:solidFill>
                <a:latin typeface="Arial"/>
                <a:cs typeface="Arial"/>
              </a:rPr>
              <a:t> </a:t>
            </a:r>
            <a:r>
              <a:rPr sz="1100" i="1" spc="-80" dirty="0">
                <a:solidFill>
                  <a:srgbClr val="6C747D"/>
                </a:solidFill>
                <a:latin typeface="Arial"/>
                <a:cs typeface="Arial"/>
              </a:rPr>
              <a:t>được</a:t>
            </a:r>
            <a:r>
              <a:rPr sz="1100" i="1" spc="5" dirty="0">
                <a:solidFill>
                  <a:srgbClr val="6C747D"/>
                </a:solidFill>
                <a:latin typeface="Arial"/>
                <a:cs typeface="Arial"/>
              </a:rPr>
              <a:t> </a:t>
            </a:r>
            <a:r>
              <a:rPr sz="1100" i="1" spc="-65" dirty="0">
                <a:solidFill>
                  <a:srgbClr val="6C747D"/>
                </a:solidFill>
                <a:latin typeface="Arial"/>
                <a:cs typeface="Arial"/>
              </a:rPr>
              <a:t>chèn </a:t>
            </a:r>
            <a:r>
              <a:rPr sz="1100" i="1" spc="-50" dirty="0">
                <a:solidFill>
                  <a:srgbClr val="6C747D"/>
                </a:solidFill>
                <a:latin typeface="Arial"/>
                <a:cs typeface="Arial"/>
              </a:rPr>
              <a:t>vào</a:t>
            </a:r>
            <a:r>
              <a:rPr sz="1100" i="1" spc="-20" dirty="0">
                <a:solidFill>
                  <a:srgbClr val="6C747D"/>
                </a:solidFill>
                <a:latin typeface="Arial"/>
                <a:cs typeface="Arial"/>
              </a:rPr>
              <a:t> </a:t>
            </a:r>
            <a:r>
              <a:rPr sz="1100" i="1" spc="-25" dirty="0">
                <a:solidFill>
                  <a:srgbClr val="6C747D"/>
                </a:solidFill>
                <a:latin typeface="Arial"/>
                <a:cs typeface="Arial"/>
              </a:rPr>
              <a:t>đây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45355" y="606244"/>
            <a:ext cx="798830" cy="798830"/>
          </a:xfrm>
          <a:custGeom>
            <a:avLst/>
            <a:gdLst/>
            <a:ahLst/>
            <a:cxnLst/>
            <a:rect l="l" t="t" r="r" b="b"/>
            <a:pathLst>
              <a:path w="798829" h="798830">
                <a:moveTo>
                  <a:pt x="399125" y="0"/>
                </a:moveTo>
                <a:lnTo>
                  <a:pt x="352578" y="2685"/>
                </a:lnTo>
                <a:lnTo>
                  <a:pt x="307609" y="10541"/>
                </a:lnTo>
                <a:lnTo>
                  <a:pt x="264516" y="23268"/>
                </a:lnTo>
                <a:lnTo>
                  <a:pt x="223599" y="40567"/>
                </a:lnTo>
                <a:lnTo>
                  <a:pt x="185157" y="62138"/>
                </a:lnTo>
                <a:lnTo>
                  <a:pt x="149491" y="87682"/>
                </a:lnTo>
                <a:lnTo>
                  <a:pt x="116900" y="116900"/>
                </a:lnTo>
                <a:lnTo>
                  <a:pt x="87682" y="149491"/>
                </a:lnTo>
                <a:lnTo>
                  <a:pt x="62138" y="185157"/>
                </a:lnTo>
                <a:lnTo>
                  <a:pt x="40567" y="223599"/>
                </a:lnTo>
                <a:lnTo>
                  <a:pt x="23268" y="264516"/>
                </a:lnTo>
                <a:lnTo>
                  <a:pt x="10541" y="307609"/>
                </a:lnTo>
                <a:lnTo>
                  <a:pt x="2685" y="352578"/>
                </a:lnTo>
                <a:lnTo>
                  <a:pt x="0" y="399125"/>
                </a:lnTo>
                <a:lnTo>
                  <a:pt x="2685" y="445672"/>
                </a:lnTo>
                <a:lnTo>
                  <a:pt x="10541" y="490642"/>
                </a:lnTo>
                <a:lnTo>
                  <a:pt x="23268" y="533735"/>
                </a:lnTo>
                <a:lnTo>
                  <a:pt x="40567" y="574652"/>
                </a:lnTo>
                <a:lnTo>
                  <a:pt x="62138" y="613093"/>
                </a:lnTo>
                <a:lnTo>
                  <a:pt x="87682" y="648759"/>
                </a:lnTo>
                <a:lnTo>
                  <a:pt x="116900" y="681351"/>
                </a:lnTo>
                <a:lnTo>
                  <a:pt x="149491" y="710569"/>
                </a:lnTo>
                <a:lnTo>
                  <a:pt x="185157" y="736113"/>
                </a:lnTo>
                <a:lnTo>
                  <a:pt x="223599" y="757684"/>
                </a:lnTo>
                <a:lnTo>
                  <a:pt x="264516" y="774983"/>
                </a:lnTo>
                <a:lnTo>
                  <a:pt x="307609" y="787710"/>
                </a:lnTo>
                <a:lnTo>
                  <a:pt x="352578" y="795566"/>
                </a:lnTo>
                <a:lnTo>
                  <a:pt x="399125" y="798251"/>
                </a:lnTo>
                <a:lnTo>
                  <a:pt x="445672" y="795566"/>
                </a:lnTo>
                <a:lnTo>
                  <a:pt x="490642" y="787710"/>
                </a:lnTo>
                <a:lnTo>
                  <a:pt x="533735" y="774983"/>
                </a:lnTo>
                <a:lnTo>
                  <a:pt x="574652" y="757684"/>
                </a:lnTo>
                <a:lnTo>
                  <a:pt x="613093" y="736113"/>
                </a:lnTo>
                <a:lnTo>
                  <a:pt x="648759" y="710569"/>
                </a:lnTo>
                <a:lnTo>
                  <a:pt x="681351" y="681351"/>
                </a:lnTo>
                <a:lnTo>
                  <a:pt x="710569" y="648759"/>
                </a:lnTo>
                <a:lnTo>
                  <a:pt x="736113" y="613093"/>
                </a:lnTo>
                <a:lnTo>
                  <a:pt x="757684" y="574652"/>
                </a:lnTo>
                <a:lnTo>
                  <a:pt x="774983" y="533735"/>
                </a:lnTo>
                <a:lnTo>
                  <a:pt x="787710" y="490642"/>
                </a:lnTo>
                <a:lnTo>
                  <a:pt x="795566" y="445672"/>
                </a:lnTo>
                <a:lnTo>
                  <a:pt x="798251" y="399125"/>
                </a:lnTo>
                <a:lnTo>
                  <a:pt x="795566" y="352578"/>
                </a:lnTo>
                <a:lnTo>
                  <a:pt x="787710" y="307609"/>
                </a:lnTo>
                <a:lnTo>
                  <a:pt x="774983" y="264516"/>
                </a:lnTo>
                <a:lnTo>
                  <a:pt x="757684" y="223599"/>
                </a:lnTo>
                <a:lnTo>
                  <a:pt x="736113" y="185157"/>
                </a:lnTo>
                <a:lnTo>
                  <a:pt x="710569" y="149491"/>
                </a:lnTo>
                <a:lnTo>
                  <a:pt x="681351" y="116900"/>
                </a:lnTo>
                <a:lnTo>
                  <a:pt x="648759" y="87682"/>
                </a:lnTo>
                <a:lnTo>
                  <a:pt x="613093" y="62138"/>
                </a:lnTo>
                <a:lnTo>
                  <a:pt x="574652" y="40567"/>
                </a:lnTo>
                <a:lnTo>
                  <a:pt x="533735" y="23268"/>
                </a:lnTo>
                <a:lnTo>
                  <a:pt x="490642" y="10541"/>
                </a:lnTo>
                <a:lnTo>
                  <a:pt x="445672" y="2685"/>
                </a:lnTo>
                <a:lnTo>
                  <a:pt x="399125" y="0"/>
                </a:lnTo>
                <a:close/>
              </a:path>
            </a:pathLst>
          </a:custGeom>
          <a:solidFill>
            <a:srgbClr val="197F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105581" y="853574"/>
            <a:ext cx="67818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b="1" spc="-135" dirty="0">
                <a:solidFill>
                  <a:srgbClr val="FFFFFF"/>
                </a:solidFill>
                <a:latin typeface="Tahoma"/>
                <a:cs typeface="Tahoma"/>
              </a:rPr>
              <a:t>83.2%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53359" y="1404704"/>
            <a:ext cx="782955" cy="40513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40"/>
              </a:spcBef>
            </a:pPr>
            <a:r>
              <a:rPr sz="1100" b="1" spc="-20" dirty="0">
                <a:solidFill>
                  <a:srgbClr val="1B1B2D"/>
                </a:solidFill>
                <a:latin typeface="Tahoma"/>
                <a:cs typeface="Tahoma"/>
              </a:rPr>
              <a:t>Card</a:t>
            </a:r>
            <a:endParaRPr sz="1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225"/>
              </a:spcBef>
            </a:pPr>
            <a:r>
              <a:rPr sz="1000" spc="-40" dirty="0">
                <a:solidFill>
                  <a:srgbClr val="6C747D"/>
                </a:solidFill>
                <a:latin typeface="Microsoft Sans Serif"/>
                <a:cs typeface="Microsoft Sans Serif"/>
              </a:rPr>
              <a:t>22.996</a:t>
            </a:r>
            <a:r>
              <a:rPr sz="1000" spc="5" dirty="0">
                <a:solidFill>
                  <a:srgbClr val="6C747D"/>
                </a:solidFill>
                <a:latin typeface="Microsoft Sans Serif"/>
                <a:cs typeface="Microsoft Sans Serif"/>
              </a:rPr>
              <a:t> </a:t>
            </a:r>
            <a:r>
              <a:rPr sz="1000" spc="-30" dirty="0">
                <a:solidFill>
                  <a:srgbClr val="6C747D"/>
                </a:solidFill>
                <a:latin typeface="Microsoft Sans Serif"/>
                <a:cs typeface="Microsoft Sans Serif"/>
              </a:rPr>
              <a:t>chuyến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564770" y="606244"/>
            <a:ext cx="798830" cy="798830"/>
          </a:xfrm>
          <a:custGeom>
            <a:avLst/>
            <a:gdLst/>
            <a:ahLst/>
            <a:cxnLst/>
            <a:rect l="l" t="t" r="r" b="b"/>
            <a:pathLst>
              <a:path w="798829" h="798830">
                <a:moveTo>
                  <a:pt x="399125" y="0"/>
                </a:moveTo>
                <a:lnTo>
                  <a:pt x="352578" y="2685"/>
                </a:lnTo>
                <a:lnTo>
                  <a:pt x="307609" y="10541"/>
                </a:lnTo>
                <a:lnTo>
                  <a:pt x="264516" y="23268"/>
                </a:lnTo>
                <a:lnTo>
                  <a:pt x="223599" y="40567"/>
                </a:lnTo>
                <a:lnTo>
                  <a:pt x="185157" y="62138"/>
                </a:lnTo>
                <a:lnTo>
                  <a:pt x="149491" y="87682"/>
                </a:lnTo>
                <a:lnTo>
                  <a:pt x="116900" y="116900"/>
                </a:lnTo>
                <a:lnTo>
                  <a:pt x="87682" y="149491"/>
                </a:lnTo>
                <a:lnTo>
                  <a:pt x="62138" y="185157"/>
                </a:lnTo>
                <a:lnTo>
                  <a:pt x="40567" y="223599"/>
                </a:lnTo>
                <a:lnTo>
                  <a:pt x="23268" y="264516"/>
                </a:lnTo>
                <a:lnTo>
                  <a:pt x="10541" y="307609"/>
                </a:lnTo>
                <a:lnTo>
                  <a:pt x="2685" y="352578"/>
                </a:lnTo>
                <a:lnTo>
                  <a:pt x="0" y="399125"/>
                </a:lnTo>
                <a:lnTo>
                  <a:pt x="2685" y="445672"/>
                </a:lnTo>
                <a:lnTo>
                  <a:pt x="10541" y="490642"/>
                </a:lnTo>
                <a:lnTo>
                  <a:pt x="23268" y="533735"/>
                </a:lnTo>
                <a:lnTo>
                  <a:pt x="40567" y="574652"/>
                </a:lnTo>
                <a:lnTo>
                  <a:pt x="62138" y="613093"/>
                </a:lnTo>
                <a:lnTo>
                  <a:pt x="87682" y="648759"/>
                </a:lnTo>
                <a:lnTo>
                  <a:pt x="116900" y="681351"/>
                </a:lnTo>
                <a:lnTo>
                  <a:pt x="149491" y="710569"/>
                </a:lnTo>
                <a:lnTo>
                  <a:pt x="185157" y="736113"/>
                </a:lnTo>
                <a:lnTo>
                  <a:pt x="223599" y="757684"/>
                </a:lnTo>
                <a:lnTo>
                  <a:pt x="264516" y="774983"/>
                </a:lnTo>
                <a:lnTo>
                  <a:pt x="307609" y="787710"/>
                </a:lnTo>
                <a:lnTo>
                  <a:pt x="352578" y="795566"/>
                </a:lnTo>
                <a:lnTo>
                  <a:pt x="399125" y="798251"/>
                </a:lnTo>
                <a:lnTo>
                  <a:pt x="445672" y="795566"/>
                </a:lnTo>
                <a:lnTo>
                  <a:pt x="490642" y="787710"/>
                </a:lnTo>
                <a:lnTo>
                  <a:pt x="533735" y="774983"/>
                </a:lnTo>
                <a:lnTo>
                  <a:pt x="574652" y="757684"/>
                </a:lnTo>
                <a:lnTo>
                  <a:pt x="613093" y="736113"/>
                </a:lnTo>
                <a:lnTo>
                  <a:pt x="648759" y="710569"/>
                </a:lnTo>
                <a:lnTo>
                  <a:pt x="681351" y="681351"/>
                </a:lnTo>
                <a:lnTo>
                  <a:pt x="710569" y="648759"/>
                </a:lnTo>
                <a:lnTo>
                  <a:pt x="736113" y="613093"/>
                </a:lnTo>
                <a:lnTo>
                  <a:pt x="757684" y="574652"/>
                </a:lnTo>
                <a:lnTo>
                  <a:pt x="774983" y="533735"/>
                </a:lnTo>
                <a:lnTo>
                  <a:pt x="787710" y="490642"/>
                </a:lnTo>
                <a:lnTo>
                  <a:pt x="795566" y="445672"/>
                </a:lnTo>
                <a:lnTo>
                  <a:pt x="798251" y="399125"/>
                </a:lnTo>
                <a:lnTo>
                  <a:pt x="795566" y="352578"/>
                </a:lnTo>
                <a:lnTo>
                  <a:pt x="787710" y="307609"/>
                </a:lnTo>
                <a:lnTo>
                  <a:pt x="774983" y="264516"/>
                </a:lnTo>
                <a:lnTo>
                  <a:pt x="757684" y="223599"/>
                </a:lnTo>
                <a:lnTo>
                  <a:pt x="736113" y="185157"/>
                </a:lnTo>
                <a:lnTo>
                  <a:pt x="710569" y="149491"/>
                </a:lnTo>
                <a:lnTo>
                  <a:pt x="681351" y="116900"/>
                </a:lnTo>
                <a:lnTo>
                  <a:pt x="648759" y="87682"/>
                </a:lnTo>
                <a:lnTo>
                  <a:pt x="613093" y="62138"/>
                </a:lnTo>
                <a:lnTo>
                  <a:pt x="574652" y="40567"/>
                </a:lnTo>
                <a:lnTo>
                  <a:pt x="533735" y="23268"/>
                </a:lnTo>
                <a:lnTo>
                  <a:pt x="490642" y="10541"/>
                </a:lnTo>
                <a:lnTo>
                  <a:pt x="445672" y="2685"/>
                </a:lnTo>
                <a:lnTo>
                  <a:pt x="399125" y="0"/>
                </a:lnTo>
                <a:close/>
              </a:path>
            </a:pathLst>
          </a:custGeom>
          <a:solidFill>
            <a:srgbClr val="CC60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624997" y="853574"/>
            <a:ext cx="67818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b="1" spc="-135" dirty="0">
                <a:solidFill>
                  <a:srgbClr val="FFFFFF"/>
                </a:solidFill>
                <a:latin typeface="Tahoma"/>
                <a:cs typeface="Tahoma"/>
              </a:rPr>
              <a:t>16.8%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04384" y="1404704"/>
            <a:ext cx="719455" cy="40513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40"/>
              </a:spcBef>
            </a:pPr>
            <a:r>
              <a:rPr sz="1100" b="1" spc="-20" dirty="0">
                <a:solidFill>
                  <a:srgbClr val="1B1B2D"/>
                </a:solidFill>
                <a:latin typeface="Tahoma"/>
                <a:cs typeface="Tahoma"/>
              </a:rPr>
              <a:t>Cash</a:t>
            </a:r>
            <a:endParaRPr sz="1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225"/>
              </a:spcBef>
            </a:pPr>
            <a:r>
              <a:rPr sz="1000" spc="-35" dirty="0">
                <a:solidFill>
                  <a:srgbClr val="6C747D"/>
                </a:solidFill>
                <a:latin typeface="Microsoft Sans Serif"/>
                <a:cs typeface="Microsoft Sans Serif"/>
              </a:rPr>
              <a:t>4.659</a:t>
            </a:r>
            <a:r>
              <a:rPr sz="1000" spc="-5" dirty="0">
                <a:solidFill>
                  <a:srgbClr val="6C747D"/>
                </a:solidFill>
                <a:latin typeface="Microsoft Sans Serif"/>
                <a:cs typeface="Microsoft Sans Serif"/>
              </a:rPr>
              <a:t> </a:t>
            </a:r>
            <a:r>
              <a:rPr sz="1000" spc="-30" dirty="0">
                <a:solidFill>
                  <a:srgbClr val="6C747D"/>
                </a:solidFill>
                <a:latin typeface="Microsoft Sans Serif"/>
                <a:cs typeface="Microsoft Sans Serif"/>
              </a:rPr>
              <a:t>chuyến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82900" y="1817773"/>
            <a:ext cx="2754515" cy="861133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54940" indent="-142240">
              <a:lnSpc>
                <a:spcPct val="100000"/>
              </a:lnSpc>
              <a:spcBef>
                <a:spcPts val="535"/>
              </a:spcBef>
              <a:buClr>
                <a:srgbClr val="197FA4"/>
              </a:buClr>
              <a:buFont typeface="Microsoft YaHei"/>
              <a:buChar char="•"/>
              <a:tabLst>
                <a:tab pos="154940" algn="l"/>
              </a:tabLst>
            </a:pPr>
            <a:r>
              <a:rPr sz="1100" spc="-45" dirty="0">
                <a:solidFill>
                  <a:srgbClr val="1B1B2D"/>
                </a:solidFill>
                <a:latin typeface="Microsoft Sans Serif"/>
                <a:cs typeface="Microsoft Sans Serif"/>
              </a:rPr>
              <a:t>Card</a:t>
            </a:r>
            <a:r>
              <a:rPr sz="1100" spc="-3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40" dirty="0">
                <a:solidFill>
                  <a:srgbClr val="1B1B2D"/>
                </a:solidFill>
                <a:latin typeface="Microsoft Sans Serif"/>
                <a:cs typeface="Microsoft Sans Serif"/>
              </a:rPr>
              <a:t>chiếm</a:t>
            </a:r>
            <a:r>
              <a:rPr sz="1100" spc="-3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b="1" spc="-60" dirty="0">
                <a:solidFill>
                  <a:srgbClr val="1B1B2D"/>
                </a:solidFill>
                <a:latin typeface="Tahoma"/>
                <a:cs typeface="Tahoma"/>
              </a:rPr>
              <a:t>gần</a:t>
            </a:r>
            <a:r>
              <a:rPr sz="1100" b="1" spc="-2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100" b="1" dirty="0">
                <a:solidFill>
                  <a:srgbClr val="1B1B2D"/>
                </a:solidFill>
                <a:latin typeface="Tahoma"/>
                <a:cs typeface="Tahoma"/>
              </a:rPr>
              <a:t>5</a:t>
            </a:r>
            <a:r>
              <a:rPr sz="1100" b="1" spc="-4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100" b="1" spc="-70" dirty="0">
                <a:solidFill>
                  <a:srgbClr val="1B1B2D"/>
                </a:solidFill>
                <a:latin typeface="Tahoma"/>
                <a:cs typeface="Tahoma"/>
              </a:rPr>
              <a:t>lần</a:t>
            </a:r>
            <a:r>
              <a:rPr sz="1100" b="1" spc="-1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100" spc="-75" dirty="0">
                <a:solidFill>
                  <a:srgbClr val="1B1B2D"/>
                </a:solidFill>
                <a:latin typeface="Microsoft Sans Serif"/>
                <a:cs typeface="Microsoft Sans Serif"/>
              </a:rPr>
              <a:t>so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 với</a:t>
            </a:r>
            <a:r>
              <a:rPr sz="1100" spc="-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Cash</a:t>
            </a:r>
            <a:endParaRPr sz="1100" dirty="0">
              <a:latin typeface="Microsoft Sans Serif"/>
              <a:cs typeface="Microsoft Sans Serif"/>
            </a:endParaRPr>
          </a:p>
          <a:p>
            <a:pPr marL="154940" indent="-142240">
              <a:lnSpc>
                <a:spcPct val="100000"/>
              </a:lnSpc>
              <a:spcBef>
                <a:spcPts val="430"/>
              </a:spcBef>
              <a:buClr>
                <a:srgbClr val="197FA4"/>
              </a:buClr>
              <a:buFont typeface="Microsoft YaHei"/>
              <a:buChar char="•"/>
              <a:tabLst>
                <a:tab pos="154940" algn="l"/>
              </a:tabLst>
            </a:pPr>
            <a:r>
              <a:rPr sz="1100" spc="-30" dirty="0">
                <a:solidFill>
                  <a:srgbClr val="1B1B2D"/>
                </a:solidFill>
                <a:latin typeface="Microsoft Sans Serif"/>
                <a:cs typeface="Microsoft Sans Serif"/>
              </a:rPr>
              <a:t>Nhóm</a:t>
            </a:r>
            <a:r>
              <a:rPr sz="1100" spc="-3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30" dirty="0">
                <a:solidFill>
                  <a:srgbClr val="1B1B2D"/>
                </a:solidFill>
                <a:latin typeface="Microsoft Sans Serif"/>
                <a:cs typeface="Microsoft Sans Serif"/>
              </a:rPr>
              <a:t>Card:</a:t>
            </a:r>
            <a:r>
              <a:rPr sz="1100" spc="5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30" dirty="0">
                <a:solidFill>
                  <a:srgbClr val="1B1B2D"/>
                </a:solidFill>
                <a:latin typeface="Microsoft Sans Serif"/>
                <a:cs typeface="Microsoft Sans Serif"/>
              </a:rPr>
              <a:t>cước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phí</a:t>
            </a:r>
            <a:r>
              <a:rPr sz="1100" spc="-3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trung</a:t>
            </a:r>
            <a:r>
              <a:rPr sz="1100" spc="-3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bình</a:t>
            </a:r>
            <a:r>
              <a:rPr sz="1100" spc="-3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i="1" dirty="0">
                <a:solidFill>
                  <a:srgbClr val="1B1B2D"/>
                </a:solidFill>
                <a:latin typeface="Arial"/>
                <a:cs typeface="Arial"/>
              </a:rPr>
              <a:t>thấp</a:t>
            </a:r>
            <a:r>
              <a:rPr sz="1100" i="1" spc="-45" dirty="0">
                <a:solidFill>
                  <a:srgbClr val="1B1B2D"/>
                </a:solidFill>
                <a:latin typeface="Arial"/>
                <a:cs typeface="Arial"/>
              </a:rPr>
              <a:t> </a:t>
            </a:r>
            <a:r>
              <a:rPr sz="1100" i="1" spc="-25" dirty="0">
                <a:solidFill>
                  <a:srgbClr val="1B1B2D"/>
                </a:solidFill>
                <a:latin typeface="Arial"/>
                <a:cs typeface="Arial"/>
              </a:rPr>
              <a:t>hơn</a:t>
            </a:r>
            <a:endParaRPr sz="1100" dirty="0">
              <a:latin typeface="Arial"/>
              <a:cs typeface="Arial"/>
            </a:endParaRPr>
          </a:p>
          <a:p>
            <a:pPr marL="155575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một</a:t>
            </a:r>
            <a:r>
              <a:rPr sz="1100" spc="3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chút</a:t>
            </a:r>
            <a:endParaRPr sz="1100" dirty="0">
              <a:latin typeface="Microsoft Sans Serif"/>
              <a:cs typeface="Microsoft Sans Serif"/>
            </a:endParaRPr>
          </a:p>
          <a:p>
            <a:pPr marL="154940" indent="-142240">
              <a:lnSpc>
                <a:spcPct val="100000"/>
              </a:lnSpc>
              <a:spcBef>
                <a:spcPts val="525"/>
              </a:spcBef>
              <a:buClr>
                <a:srgbClr val="197FA4"/>
              </a:buClr>
              <a:buFont typeface="Microsoft YaHei"/>
              <a:buChar char="•"/>
              <a:tabLst>
                <a:tab pos="154940" algn="l"/>
              </a:tabLst>
            </a:pPr>
            <a:r>
              <a:rPr sz="1100" spc="-45" dirty="0">
                <a:solidFill>
                  <a:srgbClr val="1B1B2D"/>
                </a:solidFill>
                <a:latin typeface="Microsoft Sans Serif"/>
                <a:cs typeface="Microsoft Sans Serif"/>
              </a:rPr>
              <a:t>Doanh</a:t>
            </a:r>
            <a:r>
              <a:rPr sz="1100" spc="-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45" dirty="0">
                <a:solidFill>
                  <a:srgbClr val="1B1B2D"/>
                </a:solidFill>
                <a:latin typeface="Microsoft Sans Serif"/>
                <a:cs typeface="Microsoft Sans Serif"/>
              </a:rPr>
              <a:t>nghiệp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60" dirty="0">
                <a:solidFill>
                  <a:srgbClr val="1B1B2D"/>
                </a:solidFill>
                <a:latin typeface="Microsoft Sans Serif"/>
                <a:cs typeface="Microsoft Sans Serif"/>
              </a:rPr>
              <a:t>nên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 tối ưu </a:t>
            </a:r>
            <a:r>
              <a:rPr sz="1100" spc="-40" dirty="0">
                <a:solidFill>
                  <a:srgbClr val="1B1B2D"/>
                </a:solidFill>
                <a:latin typeface="Microsoft Sans Serif"/>
                <a:cs typeface="Microsoft Sans Serif"/>
              </a:rPr>
              <a:t>hóa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45" dirty="0">
                <a:solidFill>
                  <a:srgbClr val="1B1B2D"/>
                </a:solidFill>
                <a:latin typeface="Microsoft Sans Serif"/>
                <a:cs typeface="Microsoft Sans Serif"/>
              </a:rPr>
              <a:t>hệ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thống</a:t>
            </a:r>
            <a:endParaRPr sz="1100" dirty="0">
              <a:latin typeface="Microsoft Sans Serif"/>
              <a:cs typeface="Microsoft Sans Serif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-3" y="3130372"/>
            <a:ext cx="5760085" cy="109855"/>
            <a:chOff x="-3" y="3130372"/>
            <a:chExt cx="5760085" cy="109855"/>
          </a:xfrm>
        </p:grpSpPr>
        <p:sp>
          <p:nvSpPr>
            <p:cNvPr id="16" name="object 16"/>
            <p:cNvSpPr/>
            <p:nvPr/>
          </p:nvSpPr>
          <p:spPr>
            <a:xfrm>
              <a:off x="0" y="3130372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26"/>
                  </a:lnTo>
                  <a:lnTo>
                    <a:pt x="1919973" y="10962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7F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919960" y="3130372"/>
              <a:ext cx="3840479" cy="109855"/>
            </a:xfrm>
            <a:custGeom>
              <a:avLst/>
              <a:gdLst/>
              <a:ahLst/>
              <a:cxnLst/>
              <a:rect l="l" t="t" r="r" b="b"/>
              <a:pathLst>
                <a:path w="3840479" h="109855">
                  <a:moveTo>
                    <a:pt x="3839946" y="0"/>
                  </a:moveTo>
                  <a:lnTo>
                    <a:pt x="1919973" y="0"/>
                  </a:lnTo>
                  <a:lnTo>
                    <a:pt x="0" y="0"/>
                  </a:lnTo>
                  <a:lnTo>
                    <a:pt x="0" y="109626"/>
                  </a:lnTo>
                  <a:lnTo>
                    <a:pt x="1919973" y="109626"/>
                  </a:lnTo>
                  <a:lnTo>
                    <a:pt x="3839946" y="109626"/>
                  </a:lnTo>
                  <a:lnTo>
                    <a:pt x="3839946" y="0"/>
                  </a:lnTo>
                  <a:close/>
                </a:path>
              </a:pathLst>
            </a:custGeom>
            <a:solidFill>
              <a:srgbClr val="0C2B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-3" y="3214693"/>
              <a:ext cx="0" cy="25400"/>
            </a:xfrm>
            <a:custGeom>
              <a:avLst/>
              <a:gdLst/>
              <a:ahLst/>
              <a:cxnLst/>
              <a:rect l="l" t="t" r="r" b="b"/>
              <a:pathLst>
                <a:path h="25400">
                  <a:moveTo>
                    <a:pt x="0" y="25305"/>
                  </a:moveTo>
                  <a:lnTo>
                    <a:pt x="0" y="0"/>
                  </a:lnTo>
                  <a:lnTo>
                    <a:pt x="0" y="25305"/>
                  </a:lnTo>
                  <a:close/>
                </a:path>
                <a:path h="25400">
                  <a:moveTo>
                    <a:pt x="0" y="0"/>
                  </a:moveTo>
                </a:path>
              </a:pathLst>
            </a:custGeom>
            <a:solidFill>
              <a:srgbClr val="A3CB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Hiếu</a:t>
            </a:r>
            <a:r>
              <a:rPr spc="35" dirty="0"/>
              <a:t> </a:t>
            </a:r>
            <a:r>
              <a:rPr dirty="0">
                <a:latin typeface="Cambria"/>
                <a:cs typeface="Cambria"/>
              </a:rPr>
              <a:t>·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dirty="0"/>
              <a:t>Trọng</a:t>
            </a:r>
            <a:r>
              <a:rPr spc="35" dirty="0"/>
              <a:t> </a:t>
            </a:r>
            <a:r>
              <a:rPr dirty="0">
                <a:latin typeface="Cambria"/>
                <a:cs typeface="Cambria"/>
              </a:rPr>
              <a:t>·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dirty="0"/>
              <a:t>Quang</a:t>
            </a:r>
            <a:r>
              <a:rPr spc="245" dirty="0"/>
              <a:t> </a:t>
            </a:r>
            <a:r>
              <a:rPr dirty="0"/>
              <a:t>(ĐH</a:t>
            </a:r>
            <a:r>
              <a:rPr spc="40" dirty="0"/>
              <a:t> </a:t>
            </a:r>
            <a:r>
              <a:rPr spc="-10" dirty="0"/>
              <a:t>Phenikaa)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441397" y="3122434"/>
            <a:ext cx="877569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Cước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phí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Taxi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·</a:t>
            </a:r>
            <a:r>
              <a:rPr sz="600" spc="55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Phenikaa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20" dirty="0"/>
              <a:t>2026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9</a:t>
            </a:fld>
            <a:r>
              <a:rPr spc="-45" dirty="0"/>
              <a:t> </a:t>
            </a:r>
            <a:r>
              <a:rPr spc="150" dirty="0"/>
              <a:t>/</a:t>
            </a:r>
            <a:r>
              <a:rPr spc="-45" dirty="0"/>
              <a:t> </a:t>
            </a:r>
            <a:r>
              <a:rPr spc="-25" dirty="0"/>
              <a:t>19</a:t>
            </a:r>
          </a:p>
        </p:txBody>
      </p:sp>
      <p:pic>
        <p:nvPicPr>
          <p:cNvPr id="26" name="Hình ảnh 25">
            <a:extLst>
              <a:ext uri="{FF2B5EF4-FFF2-40B4-BE49-F238E27FC236}">
                <a16:creationId xmlns:a16="http://schemas.microsoft.com/office/drawing/2014/main" id="{F81897F8-3966-1DA3-914F-2642D6558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36" y="292462"/>
            <a:ext cx="2840474" cy="1706521"/>
          </a:xfrm>
          <a:prstGeom prst="rect">
            <a:avLst/>
          </a:prstGeom>
        </p:spPr>
      </p:pic>
      <p:pic>
        <p:nvPicPr>
          <p:cNvPr id="28" name="Hình ảnh 27">
            <a:extLst>
              <a:ext uri="{FF2B5EF4-FFF2-40B4-BE49-F238E27FC236}">
                <a16:creationId xmlns:a16="http://schemas.microsoft.com/office/drawing/2014/main" id="{B84D71E3-D3E4-AC4D-F7CA-E3A8C7625E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823" y="1921168"/>
            <a:ext cx="1159702" cy="1170407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38713-2BB8-F693-E013-F1D49016D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8DCE8975-1E62-F0EF-8592-E8148EA6D9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57363"/>
            <a:ext cx="401320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vi-VN" spc="-35" dirty="0"/>
              <a:t>Giờ Cao Điểm</a:t>
            </a:r>
            <a:endParaRPr spc="-35" dirty="0"/>
          </a:p>
        </p:txBody>
      </p:sp>
      <p:grpSp>
        <p:nvGrpSpPr>
          <p:cNvPr id="15" name="object 15">
            <a:extLst>
              <a:ext uri="{FF2B5EF4-FFF2-40B4-BE49-F238E27FC236}">
                <a16:creationId xmlns:a16="http://schemas.microsoft.com/office/drawing/2014/main" id="{8737EDD9-FAC1-E98A-66F6-6303982E12CE}"/>
              </a:ext>
            </a:extLst>
          </p:cNvPr>
          <p:cNvGrpSpPr/>
          <p:nvPr/>
        </p:nvGrpSpPr>
        <p:grpSpPr>
          <a:xfrm>
            <a:off x="-3" y="3130372"/>
            <a:ext cx="5760085" cy="109855"/>
            <a:chOff x="-3" y="3130372"/>
            <a:chExt cx="5760085" cy="109855"/>
          </a:xfrm>
        </p:grpSpPr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74BCE253-0378-3E51-2FE7-216748DB0E51}"/>
                </a:ext>
              </a:extLst>
            </p:cNvPr>
            <p:cNvSpPr/>
            <p:nvPr/>
          </p:nvSpPr>
          <p:spPr>
            <a:xfrm>
              <a:off x="0" y="3130372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26"/>
                  </a:lnTo>
                  <a:lnTo>
                    <a:pt x="1919973" y="10962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7F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8CF2569E-9C60-6424-7FD5-7694B9487E3D}"/>
                </a:ext>
              </a:extLst>
            </p:cNvPr>
            <p:cNvSpPr/>
            <p:nvPr/>
          </p:nvSpPr>
          <p:spPr>
            <a:xfrm>
              <a:off x="1919973" y="3130372"/>
              <a:ext cx="3840479" cy="109855"/>
            </a:xfrm>
            <a:custGeom>
              <a:avLst/>
              <a:gdLst/>
              <a:ahLst/>
              <a:cxnLst/>
              <a:rect l="l" t="t" r="r" b="b"/>
              <a:pathLst>
                <a:path w="3840479" h="109855">
                  <a:moveTo>
                    <a:pt x="3839946" y="0"/>
                  </a:moveTo>
                  <a:lnTo>
                    <a:pt x="1919973" y="0"/>
                  </a:lnTo>
                  <a:lnTo>
                    <a:pt x="0" y="0"/>
                  </a:lnTo>
                  <a:lnTo>
                    <a:pt x="0" y="109626"/>
                  </a:lnTo>
                  <a:lnTo>
                    <a:pt x="1919973" y="109626"/>
                  </a:lnTo>
                  <a:lnTo>
                    <a:pt x="3839946" y="109626"/>
                  </a:lnTo>
                  <a:lnTo>
                    <a:pt x="3839946" y="0"/>
                  </a:lnTo>
                  <a:close/>
                </a:path>
              </a:pathLst>
            </a:custGeom>
            <a:solidFill>
              <a:srgbClr val="0C2B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23F5E57D-23B0-F53E-18DF-72F00D3AEA7D}"/>
                </a:ext>
              </a:extLst>
            </p:cNvPr>
            <p:cNvSpPr/>
            <p:nvPr/>
          </p:nvSpPr>
          <p:spPr>
            <a:xfrm>
              <a:off x="-3" y="3214693"/>
              <a:ext cx="0" cy="25400"/>
            </a:xfrm>
            <a:custGeom>
              <a:avLst/>
              <a:gdLst/>
              <a:ahLst/>
              <a:cxnLst/>
              <a:rect l="l" t="t" r="r" b="b"/>
              <a:pathLst>
                <a:path h="25400">
                  <a:moveTo>
                    <a:pt x="0" y="25305"/>
                  </a:moveTo>
                  <a:lnTo>
                    <a:pt x="0" y="0"/>
                  </a:lnTo>
                  <a:lnTo>
                    <a:pt x="0" y="25305"/>
                  </a:lnTo>
                  <a:close/>
                </a:path>
                <a:path h="25400">
                  <a:moveTo>
                    <a:pt x="0" y="0"/>
                  </a:moveTo>
                </a:path>
              </a:pathLst>
            </a:custGeom>
            <a:solidFill>
              <a:srgbClr val="A3CB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>
            <a:extLst>
              <a:ext uri="{FF2B5EF4-FFF2-40B4-BE49-F238E27FC236}">
                <a16:creationId xmlns:a16="http://schemas.microsoft.com/office/drawing/2014/main" id="{22517BE8-02C4-BFDE-9038-F6A3E07C38D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Hiếu</a:t>
            </a:r>
            <a:r>
              <a:rPr spc="35" dirty="0"/>
              <a:t> </a:t>
            </a:r>
            <a:r>
              <a:rPr dirty="0">
                <a:latin typeface="Cambria"/>
                <a:cs typeface="Cambria"/>
              </a:rPr>
              <a:t>·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dirty="0"/>
              <a:t>Trọng</a:t>
            </a:r>
            <a:r>
              <a:rPr spc="35" dirty="0"/>
              <a:t> </a:t>
            </a:r>
            <a:r>
              <a:rPr dirty="0">
                <a:latin typeface="Cambria"/>
                <a:cs typeface="Cambria"/>
              </a:rPr>
              <a:t>·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dirty="0"/>
              <a:t>Quang</a:t>
            </a:r>
            <a:r>
              <a:rPr spc="245" dirty="0"/>
              <a:t> </a:t>
            </a:r>
            <a:r>
              <a:rPr dirty="0"/>
              <a:t>(ĐH</a:t>
            </a:r>
            <a:r>
              <a:rPr spc="40" dirty="0"/>
              <a:t> </a:t>
            </a:r>
            <a:r>
              <a:rPr spc="-10" dirty="0"/>
              <a:t>Phenikaa)</a:t>
            </a: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C1D007A8-6EEF-BF88-D74B-834F3CEB79FC}"/>
              </a:ext>
            </a:extLst>
          </p:cNvPr>
          <p:cNvSpPr txBox="1"/>
          <p:nvPr/>
        </p:nvSpPr>
        <p:spPr>
          <a:xfrm>
            <a:off x="2441397" y="3122434"/>
            <a:ext cx="877569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Cước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phí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Taxi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·</a:t>
            </a:r>
            <a:r>
              <a:rPr sz="600" spc="55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Phenikaa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A662818A-C141-C252-49E5-CA19971BF073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20" dirty="0"/>
              <a:t>2026</a:t>
            </a: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8AD06D3E-7D9C-0050-1A02-0327B2F04F8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10</a:t>
            </a:fld>
            <a:r>
              <a:rPr spc="-45" dirty="0"/>
              <a:t> </a:t>
            </a:r>
            <a:r>
              <a:rPr spc="150" dirty="0"/>
              <a:t>/</a:t>
            </a:r>
            <a:r>
              <a:rPr spc="-45" dirty="0"/>
              <a:t> </a:t>
            </a:r>
            <a:r>
              <a:rPr spc="-25" dirty="0"/>
              <a:t>19</a:t>
            </a:r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9164B998-11A4-A1CD-8CF0-B5C7695D8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7569"/>
            <a:ext cx="5765800" cy="214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855204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EDA</a:t>
            </a:r>
            <a:r>
              <a:rPr spc="5" dirty="0"/>
              <a:t> </a:t>
            </a:r>
            <a:r>
              <a:rPr dirty="0"/>
              <a:t>–</a:t>
            </a:r>
            <a:r>
              <a:rPr spc="5" dirty="0"/>
              <a:t> </a:t>
            </a:r>
            <a:r>
              <a:rPr spc="-20" dirty="0"/>
              <a:t>Tương</a:t>
            </a:r>
            <a:r>
              <a:rPr spc="5" dirty="0"/>
              <a:t> </a:t>
            </a:r>
            <a:r>
              <a:rPr spc="-50" dirty="0"/>
              <a:t>quan</a:t>
            </a:r>
            <a:r>
              <a:rPr dirty="0"/>
              <a:t> </a:t>
            </a:r>
            <a:r>
              <a:rPr spc="85" dirty="0"/>
              <a:t>&amp;</a:t>
            </a:r>
            <a:r>
              <a:rPr spc="5" dirty="0"/>
              <a:t> </a:t>
            </a:r>
            <a:r>
              <a:rPr spc="-10" dirty="0"/>
              <a:t>Phân</a:t>
            </a:r>
            <a:r>
              <a:rPr dirty="0"/>
              <a:t> </a:t>
            </a:r>
            <a:r>
              <a:rPr spc="-10" dirty="0"/>
              <a:t>tích</a:t>
            </a:r>
            <a:r>
              <a:rPr spc="5" dirty="0"/>
              <a:t> </a:t>
            </a:r>
            <a:r>
              <a:rPr spc="-20" dirty="0"/>
              <a:t>Ngoại</a:t>
            </a:r>
            <a:r>
              <a:rPr spc="5" dirty="0"/>
              <a:t> </a:t>
            </a:r>
            <a:r>
              <a:rPr spc="-25" dirty="0"/>
              <a:t>lệ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5220" y="459490"/>
            <a:ext cx="2483605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solidFill>
                  <a:srgbClr val="1B1B2D"/>
                </a:solidFill>
                <a:latin typeface="Tahoma"/>
                <a:cs typeface="Tahoma"/>
              </a:rPr>
              <a:t>Mức</a:t>
            </a:r>
            <a:r>
              <a:rPr sz="1200" b="1" spc="-2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spc="-10" dirty="0">
                <a:solidFill>
                  <a:srgbClr val="1B1B2D"/>
                </a:solidFill>
                <a:latin typeface="Tahoma"/>
                <a:cs typeface="Tahoma"/>
              </a:rPr>
              <a:t>độ</a:t>
            </a:r>
            <a:r>
              <a:rPr sz="1200" b="1" spc="-1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spc="-80" dirty="0">
                <a:solidFill>
                  <a:srgbClr val="1B1B2D"/>
                </a:solidFill>
                <a:latin typeface="Tahoma"/>
                <a:cs typeface="Tahoma"/>
              </a:rPr>
              <a:t>tương</a:t>
            </a:r>
            <a:r>
              <a:rPr sz="1200" b="1" spc="-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spc="-70" dirty="0">
                <a:solidFill>
                  <a:srgbClr val="1B1B2D"/>
                </a:solidFill>
                <a:latin typeface="Tahoma"/>
                <a:cs typeface="Tahoma"/>
              </a:rPr>
              <a:t>quan</a:t>
            </a:r>
            <a:r>
              <a:rPr sz="1200" b="1" spc="-1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spc="-50" dirty="0">
                <a:solidFill>
                  <a:srgbClr val="1B1B2D"/>
                </a:solidFill>
                <a:latin typeface="Tahoma"/>
                <a:cs typeface="Tahoma"/>
              </a:rPr>
              <a:t>với</a:t>
            </a:r>
            <a:r>
              <a:rPr sz="1200" b="1" spc="-1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spc="-20" dirty="0">
                <a:solidFill>
                  <a:srgbClr val="1B1B2D"/>
                </a:solidFill>
                <a:latin typeface="Tahoma"/>
                <a:cs typeface="Tahoma"/>
              </a:rPr>
              <a:t>Cước</a:t>
            </a:r>
            <a:r>
              <a:rPr sz="1200" b="1" spc="-1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spc="-35" dirty="0" err="1">
                <a:solidFill>
                  <a:srgbClr val="1B1B2D"/>
                </a:solidFill>
                <a:latin typeface="Tahoma"/>
                <a:cs typeface="Tahoma"/>
              </a:rPr>
              <a:t>phí</a:t>
            </a:r>
            <a:r>
              <a:rPr sz="1200" b="1" spc="-35" dirty="0">
                <a:solidFill>
                  <a:srgbClr val="1B1B2D"/>
                </a:solidFill>
                <a:latin typeface="Tahoma"/>
                <a:cs typeface="Tahoma"/>
              </a:rPr>
              <a:t>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84010" y="1583500"/>
            <a:ext cx="84455" cy="137160"/>
          </a:xfrm>
          <a:custGeom>
            <a:avLst/>
            <a:gdLst/>
            <a:ahLst/>
            <a:cxnLst/>
            <a:rect l="l" t="t" r="r" b="b"/>
            <a:pathLst>
              <a:path w="84455" h="137160">
                <a:moveTo>
                  <a:pt x="84321" y="0"/>
                </a:moveTo>
                <a:lnTo>
                  <a:pt x="0" y="0"/>
                </a:lnTo>
                <a:lnTo>
                  <a:pt x="0" y="136803"/>
                </a:lnTo>
                <a:lnTo>
                  <a:pt x="84321" y="136803"/>
                </a:lnTo>
                <a:lnTo>
                  <a:pt x="84321" y="0"/>
                </a:lnTo>
                <a:close/>
              </a:path>
            </a:pathLst>
          </a:custGeom>
          <a:solidFill>
            <a:srgbClr val="B5B9B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24"/>
          <p:cNvGrpSpPr/>
          <p:nvPr/>
        </p:nvGrpSpPr>
        <p:grpSpPr>
          <a:xfrm>
            <a:off x="-3" y="3130372"/>
            <a:ext cx="5760085" cy="109855"/>
            <a:chOff x="-3" y="3130372"/>
            <a:chExt cx="5760085" cy="109855"/>
          </a:xfrm>
        </p:grpSpPr>
        <p:sp>
          <p:nvSpPr>
            <p:cNvPr id="25" name="object 25"/>
            <p:cNvSpPr/>
            <p:nvPr/>
          </p:nvSpPr>
          <p:spPr>
            <a:xfrm>
              <a:off x="0" y="3130372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26"/>
                  </a:lnTo>
                  <a:lnTo>
                    <a:pt x="1919973" y="10962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7F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919973" y="3130372"/>
              <a:ext cx="3840479" cy="109855"/>
            </a:xfrm>
            <a:custGeom>
              <a:avLst/>
              <a:gdLst/>
              <a:ahLst/>
              <a:cxnLst/>
              <a:rect l="l" t="t" r="r" b="b"/>
              <a:pathLst>
                <a:path w="3840479" h="109855">
                  <a:moveTo>
                    <a:pt x="3839934" y="0"/>
                  </a:moveTo>
                  <a:lnTo>
                    <a:pt x="1919973" y="0"/>
                  </a:lnTo>
                  <a:lnTo>
                    <a:pt x="0" y="0"/>
                  </a:lnTo>
                  <a:lnTo>
                    <a:pt x="0" y="109626"/>
                  </a:lnTo>
                  <a:lnTo>
                    <a:pt x="1919960" y="109626"/>
                  </a:lnTo>
                  <a:lnTo>
                    <a:pt x="3839934" y="109626"/>
                  </a:lnTo>
                  <a:lnTo>
                    <a:pt x="3839934" y="0"/>
                  </a:lnTo>
                  <a:close/>
                </a:path>
              </a:pathLst>
            </a:custGeom>
            <a:solidFill>
              <a:srgbClr val="0C2B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-3" y="3214693"/>
              <a:ext cx="0" cy="25400"/>
            </a:xfrm>
            <a:custGeom>
              <a:avLst/>
              <a:gdLst/>
              <a:ahLst/>
              <a:cxnLst/>
              <a:rect l="l" t="t" r="r" b="b"/>
              <a:pathLst>
                <a:path h="25400">
                  <a:moveTo>
                    <a:pt x="0" y="25305"/>
                  </a:moveTo>
                  <a:lnTo>
                    <a:pt x="0" y="0"/>
                  </a:lnTo>
                  <a:lnTo>
                    <a:pt x="0" y="25305"/>
                  </a:lnTo>
                  <a:close/>
                </a:path>
                <a:path h="25400">
                  <a:moveTo>
                    <a:pt x="0" y="0"/>
                  </a:moveTo>
                </a:path>
              </a:pathLst>
            </a:custGeom>
            <a:solidFill>
              <a:srgbClr val="A3CB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Hiếu</a:t>
            </a:r>
            <a:r>
              <a:rPr spc="35" dirty="0"/>
              <a:t> </a:t>
            </a:r>
            <a:r>
              <a:rPr dirty="0">
                <a:latin typeface="Cambria"/>
                <a:cs typeface="Cambria"/>
              </a:rPr>
              <a:t>·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dirty="0"/>
              <a:t>Trọng</a:t>
            </a:r>
            <a:r>
              <a:rPr spc="35" dirty="0"/>
              <a:t> </a:t>
            </a:r>
            <a:r>
              <a:rPr dirty="0">
                <a:latin typeface="Cambria"/>
                <a:cs typeface="Cambria"/>
              </a:rPr>
              <a:t>·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dirty="0"/>
              <a:t>Quang</a:t>
            </a:r>
            <a:r>
              <a:rPr spc="245" dirty="0"/>
              <a:t> </a:t>
            </a:r>
            <a:r>
              <a:rPr dirty="0"/>
              <a:t>(ĐH</a:t>
            </a:r>
            <a:r>
              <a:rPr spc="40" dirty="0"/>
              <a:t> </a:t>
            </a:r>
            <a:r>
              <a:rPr spc="-10" dirty="0"/>
              <a:t>Phenikaa)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2441397" y="3122434"/>
            <a:ext cx="877569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Cước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phí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Taxi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·</a:t>
            </a:r>
            <a:r>
              <a:rPr sz="600" spc="55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Phenikaa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20" dirty="0"/>
              <a:t>2026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11</a:t>
            </a:fld>
            <a:r>
              <a:rPr spc="-45" dirty="0"/>
              <a:t> </a:t>
            </a:r>
            <a:r>
              <a:rPr spc="150" dirty="0"/>
              <a:t>/</a:t>
            </a:r>
            <a:r>
              <a:rPr spc="-45" dirty="0"/>
              <a:t> </a:t>
            </a:r>
            <a:r>
              <a:rPr spc="-25" dirty="0"/>
              <a:t>19</a:t>
            </a:r>
          </a:p>
        </p:txBody>
      </p:sp>
      <p:pic>
        <p:nvPicPr>
          <p:cNvPr id="33" name="Hình ảnh 32">
            <a:extLst>
              <a:ext uri="{FF2B5EF4-FFF2-40B4-BE49-F238E27FC236}">
                <a16:creationId xmlns:a16="http://schemas.microsoft.com/office/drawing/2014/main" id="{BF769EA3-E2FD-D0B4-97C0-C095D0EDF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20" y="909082"/>
            <a:ext cx="2641326" cy="1718958"/>
          </a:xfrm>
          <a:prstGeom prst="rect">
            <a:avLst/>
          </a:prstGeom>
        </p:spPr>
      </p:pic>
      <p:pic>
        <p:nvPicPr>
          <p:cNvPr id="35" name="Hình ảnh 34">
            <a:extLst>
              <a:ext uri="{FF2B5EF4-FFF2-40B4-BE49-F238E27FC236}">
                <a16:creationId xmlns:a16="http://schemas.microsoft.com/office/drawing/2014/main" id="{31A78C6A-8EBC-6FF2-513F-B2BC4FBCD6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1933" y="882594"/>
            <a:ext cx="2768647" cy="1771934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7363"/>
            <a:ext cx="40132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EDA</a:t>
            </a:r>
            <a:r>
              <a:rPr spc="40" dirty="0"/>
              <a:t> </a:t>
            </a:r>
            <a:r>
              <a:rPr dirty="0"/>
              <a:t>–</a:t>
            </a:r>
            <a:r>
              <a:rPr spc="45" dirty="0"/>
              <a:t> </a:t>
            </a:r>
            <a:r>
              <a:rPr spc="-10" dirty="0"/>
              <a:t>Phân</a:t>
            </a:r>
            <a:r>
              <a:rPr spc="40" dirty="0"/>
              <a:t> </a:t>
            </a:r>
            <a:r>
              <a:rPr spc="-40" dirty="0"/>
              <a:t>phối</a:t>
            </a:r>
            <a:r>
              <a:rPr spc="40" dirty="0"/>
              <a:t> </a:t>
            </a:r>
            <a:r>
              <a:rPr spc="70" dirty="0"/>
              <a:t>KDE</a:t>
            </a:r>
            <a:r>
              <a:rPr spc="40" dirty="0"/>
              <a:t> </a:t>
            </a:r>
            <a:r>
              <a:rPr spc="85" dirty="0"/>
              <a:t>&amp;</a:t>
            </a:r>
            <a:r>
              <a:rPr spc="45" dirty="0"/>
              <a:t> </a:t>
            </a:r>
            <a:r>
              <a:rPr dirty="0"/>
              <a:t>Ma</a:t>
            </a:r>
            <a:r>
              <a:rPr spc="40" dirty="0"/>
              <a:t> </a:t>
            </a:r>
            <a:r>
              <a:rPr spc="-35" dirty="0"/>
              <a:t>trận</a:t>
            </a:r>
            <a:r>
              <a:rPr spc="40" dirty="0"/>
              <a:t> </a:t>
            </a:r>
            <a:r>
              <a:rPr spc="-20" dirty="0"/>
              <a:t>Tương</a:t>
            </a:r>
            <a:r>
              <a:rPr spc="40" dirty="0"/>
              <a:t> </a:t>
            </a:r>
            <a:r>
              <a:rPr spc="-35" dirty="0"/>
              <a:t>quan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59245" y="1955057"/>
            <a:ext cx="2647950" cy="5724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6900"/>
              </a:lnSpc>
              <a:spcBef>
                <a:spcPts val="100"/>
              </a:spcBef>
            </a:pPr>
            <a:r>
              <a:rPr sz="1000" b="1" spc="-50" dirty="0">
                <a:solidFill>
                  <a:srgbClr val="1B1B2D"/>
                </a:solidFill>
                <a:latin typeface="Tahoma"/>
                <a:cs typeface="Tahoma"/>
              </a:rPr>
              <a:t>Card</a:t>
            </a:r>
            <a:r>
              <a:rPr sz="1000" b="1" spc="-2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B1B2D"/>
                </a:solidFill>
                <a:latin typeface="Microsoft Sans Serif"/>
                <a:cs typeface="Microsoft Sans Serif"/>
              </a:rPr>
              <a:t>(</a:t>
            </a:r>
            <a:r>
              <a:rPr sz="1000" dirty="0">
                <a:solidFill>
                  <a:srgbClr val="197FA4"/>
                </a:solidFill>
                <a:latin typeface="Microsoft Sans Serif"/>
                <a:cs typeface="Microsoft Sans Serif"/>
              </a:rPr>
              <a:t>xanh</a:t>
            </a:r>
            <a:r>
              <a:rPr sz="1000" dirty="0">
                <a:solidFill>
                  <a:srgbClr val="1B1B2D"/>
                </a:solidFill>
                <a:latin typeface="Microsoft Sans Serif"/>
                <a:cs typeface="Microsoft Sans Serif"/>
              </a:rPr>
              <a:t>):</a:t>
            </a:r>
            <a:r>
              <a:rPr sz="1000" spc="9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1B1B2D"/>
                </a:solidFill>
                <a:latin typeface="Microsoft Sans Serif"/>
                <a:cs typeface="Microsoft Sans Serif"/>
              </a:rPr>
              <a:t>đỉnh</a:t>
            </a:r>
            <a:r>
              <a:rPr sz="1000" spc="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1B1B2D"/>
                </a:solidFill>
                <a:latin typeface="Lucida Sans Unicode"/>
                <a:cs typeface="Lucida Sans Unicode"/>
              </a:rPr>
              <a:t>≈</a:t>
            </a:r>
            <a:r>
              <a:rPr sz="10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9 USD</a:t>
            </a:r>
            <a:endParaRPr sz="1000" dirty="0">
              <a:latin typeface="Microsoft Sans Serif"/>
              <a:cs typeface="Microsoft Sans Serif"/>
            </a:endParaRPr>
          </a:p>
          <a:p>
            <a:pPr marL="12700">
              <a:lnSpc>
                <a:spcPts val="1195"/>
              </a:lnSpc>
            </a:pPr>
            <a:r>
              <a:rPr sz="1000" b="1" spc="-45" dirty="0">
                <a:solidFill>
                  <a:srgbClr val="1B1B2D"/>
                </a:solidFill>
                <a:latin typeface="Tahoma"/>
                <a:cs typeface="Tahoma"/>
              </a:rPr>
              <a:t>Cash</a:t>
            </a:r>
            <a:r>
              <a:rPr sz="1000" b="1" spc="1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B1B2D"/>
                </a:solidFill>
                <a:latin typeface="Microsoft Sans Serif"/>
                <a:cs typeface="Microsoft Sans Serif"/>
              </a:rPr>
              <a:t>(</a:t>
            </a:r>
            <a:r>
              <a:rPr sz="1000" dirty="0">
                <a:solidFill>
                  <a:srgbClr val="BF392B"/>
                </a:solidFill>
                <a:latin typeface="Microsoft Sans Serif"/>
                <a:cs typeface="Microsoft Sans Serif"/>
              </a:rPr>
              <a:t>đỏ</a:t>
            </a:r>
            <a:r>
              <a:rPr sz="1000" dirty="0">
                <a:solidFill>
                  <a:srgbClr val="1B1B2D"/>
                </a:solidFill>
                <a:latin typeface="Microsoft Sans Serif"/>
                <a:cs typeface="Microsoft Sans Serif"/>
              </a:rPr>
              <a:t>):</a:t>
            </a:r>
            <a:r>
              <a:rPr sz="1000" spc="14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đỉnh</a:t>
            </a:r>
            <a:r>
              <a:rPr sz="1000" spc="4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1B1B2D"/>
                </a:solidFill>
                <a:latin typeface="Lucida Sans Unicode"/>
                <a:cs typeface="Lucida Sans Unicode"/>
              </a:rPr>
              <a:t>≈</a:t>
            </a:r>
            <a:r>
              <a:rPr sz="10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11–</a:t>
            </a:r>
            <a:r>
              <a:rPr sz="1000" dirty="0">
                <a:solidFill>
                  <a:srgbClr val="1B1B2D"/>
                </a:solidFill>
                <a:latin typeface="Microsoft Sans Serif"/>
                <a:cs typeface="Microsoft Sans Serif"/>
              </a:rPr>
              <a:t>12</a:t>
            </a:r>
            <a:r>
              <a:rPr sz="1000" spc="4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USD</a:t>
            </a:r>
            <a:endParaRPr sz="10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10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Trung</a:t>
            </a:r>
            <a:r>
              <a:rPr sz="1000" spc="2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1B1B2D"/>
                </a:solidFill>
                <a:latin typeface="Microsoft Sans Serif"/>
                <a:cs typeface="Microsoft Sans Serif"/>
              </a:rPr>
              <a:t>bình</a:t>
            </a:r>
            <a:r>
              <a:rPr sz="1000" spc="2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1B1B2D"/>
                </a:solidFill>
                <a:latin typeface="Microsoft Sans Serif"/>
                <a:cs typeface="Microsoft Sans Serif"/>
              </a:rPr>
              <a:t>tổng:</a:t>
            </a:r>
            <a:r>
              <a:rPr sz="1000" spc="12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000" b="1" spc="-70" dirty="0">
                <a:solidFill>
                  <a:srgbClr val="1B1B2D"/>
                </a:solidFill>
                <a:latin typeface="Tahoma"/>
                <a:cs typeface="Tahoma"/>
              </a:rPr>
              <a:t>11,45</a:t>
            </a:r>
            <a:r>
              <a:rPr sz="1000" b="1" spc="2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000" b="1" dirty="0">
                <a:solidFill>
                  <a:srgbClr val="1B1B2D"/>
                </a:solidFill>
                <a:latin typeface="Tahoma"/>
                <a:cs typeface="Tahoma"/>
              </a:rPr>
              <a:t>USD</a:t>
            </a:r>
            <a:r>
              <a:rPr sz="1000" b="1" spc="-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1B1B2D"/>
                </a:solidFill>
                <a:latin typeface="Microsoft Sans Serif"/>
                <a:cs typeface="Microsoft Sans Serif"/>
              </a:rPr>
              <a:t>(nét</a:t>
            </a:r>
            <a:r>
              <a:rPr sz="1000" spc="2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1B1B2D"/>
                </a:solidFill>
                <a:latin typeface="Microsoft Sans Serif"/>
                <a:cs typeface="Microsoft Sans Serif"/>
              </a:rPr>
              <a:t>đứt</a:t>
            </a:r>
            <a:r>
              <a:rPr sz="1000" spc="2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đen)</a:t>
            </a:r>
            <a:endParaRPr sz="1000" dirty="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53270" y="1955057"/>
            <a:ext cx="2614295" cy="65659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lang="vi-VN" sz="10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Cước/dặm</a:t>
            </a:r>
            <a:r>
              <a:rPr lang="vi-VN" sz="1000" spc="2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lang="vi-VN" sz="1000" dirty="0">
                <a:solidFill>
                  <a:srgbClr val="1B1B2D"/>
                </a:solidFill>
                <a:latin typeface="Cambria"/>
                <a:cs typeface="Cambria"/>
              </a:rPr>
              <a:t>∝</a:t>
            </a:r>
            <a:r>
              <a:rPr lang="vi-VN" sz="1000" spc="75" dirty="0">
                <a:solidFill>
                  <a:srgbClr val="1B1B2D"/>
                </a:solidFill>
                <a:latin typeface="Cambria"/>
                <a:cs typeface="Cambria"/>
              </a:rPr>
              <a:t> </a:t>
            </a:r>
            <a:r>
              <a:rPr lang="vi-VN" sz="1000" spc="-35" dirty="0">
                <a:solidFill>
                  <a:srgbClr val="1B1B2D"/>
                </a:solidFill>
                <a:latin typeface="Microsoft Sans Serif"/>
                <a:cs typeface="Microsoft Sans Serif"/>
              </a:rPr>
              <a:t>Quãng</a:t>
            </a:r>
            <a:r>
              <a:rPr lang="vi-VN" sz="1000" spc="3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lang="vi-VN" sz="10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đường:</a:t>
            </a:r>
            <a:endParaRPr lang="vi-VN" sz="10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000" i="1" dirty="0">
                <a:solidFill>
                  <a:srgbClr val="1B1B2D"/>
                </a:solidFill>
                <a:latin typeface="Franklin Gothic Medium"/>
                <a:cs typeface="Franklin Gothic Medium"/>
              </a:rPr>
              <a:t>r</a:t>
            </a:r>
            <a:r>
              <a:rPr sz="1000" i="1" spc="75" dirty="0">
                <a:solidFill>
                  <a:srgbClr val="1B1B2D"/>
                </a:solidFill>
                <a:latin typeface="Franklin Gothic Medium"/>
                <a:cs typeface="Franklin Gothic Medium"/>
              </a:rPr>
              <a:t> </a:t>
            </a:r>
            <a:r>
              <a:rPr sz="1000" spc="-40" dirty="0">
                <a:solidFill>
                  <a:srgbClr val="1B1B2D"/>
                </a:solidFill>
                <a:latin typeface="Lucida Sans Unicode"/>
                <a:cs typeface="Lucida Sans Unicode"/>
              </a:rPr>
              <a:t>=</a:t>
            </a:r>
            <a:r>
              <a:rPr sz="1000" spc="-95" dirty="0">
                <a:solidFill>
                  <a:srgbClr val="1B1B2D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1B1B2D"/>
                </a:solidFill>
                <a:latin typeface="Lucida Sans Unicode"/>
                <a:cs typeface="Lucida Sans Unicode"/>
              </a:rPr>
              <a:t>−</a:t>
            </a:r>
            <a:r>
              <a:rPr sz="10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0</a:t>
            </a:r>
            <a:r>
              <a:rPr sz="1000" i="1" spc="-10" dirty="0">
                <a:solidFill>
                  <a:srgbClr val="1B1B2D"/>
                </a:solidFill>
                <a:latin typeface="Verdana"/>
                <a:cs typeface="Verdana"/>
              </a:rPr>
              <a:t>.</a:t>
            </a:r>
            <a:r>
              <a:rPr sz="10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58</a:t>
            </a:r>
            <a:endParaRPr sz="10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10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Hiệu</a:t>
            </a:r>
            <a:r>
              <a:rPr sz="10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1B1B2D"/>
                </a:solidFill>
                <a:latin typeface="Microsoft Sans Serif"/>
                <a:cs typeface="Microsoft Sans Serif"/>
              </a:rPr>
              <a:t>ứng</a:t>
            </a:r>
            <a:r>
              <a:rPr sz="10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“khấu</a:t>
            </a:r>
            <a:r>
              <a:rPr sz="10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hao”</a:t>
            </a:r>
            <a:r>
              <a:rPr sz="1000" spc="4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giá</a:t>
            </a:r>
            <a:r>
              <a:rPr sz="10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mở</a:t>
            </a:r>
            <a:r>
              <a:rPr sz="10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cửa</a:t>
            </a:r>
            <a:r>
              <a:rPr sz="1000" spc="-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1B1B2D"/>
                </a:solidFill>
                <a:latin typeface="Microsoft Sans Serif"/>
                <a:cs typeface="Microsoft Sans Serif"/>
              </a:rPr>
              <a:t>khi</a:t>
            </a:r>
            <a:r>
              <a:rPr sz="10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1B1B2D"/>
                </a:solidFill>
                <a:latin typeface="Microsoft Sans Serif"/>
                <a:cs typeface="Microsoft Sans Serif"/>
              </a:rPr>
              <a:t>đi</a:t>
            </a:r>
            <a:r>
              <a:rPr sz="10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xa</a:t>
            </a:r>
            <a:endParaRPr sz="1000" dirty="0">
              <a:latin typeface="Microsoft Sans Serif"/>
              <a:cs typeface="Microsoft Sans Serif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-3" y="3130372"/>
            <a:ext cx="5760085" cy="109855"/>
            <a:chOff x="-3" y="3130372"/>
            <a:chExt cx="5760085" cy="109855"/>
          </a:xfrm>
        </p:grpSpPr>
        <p:sp>
          <p:nvSpPr>
            <p:cNvPr id="16" name="object 16"/>
            <p:cNvSpPr/>
            <p:nvPr/>
          </p:nvSpPr>
          <p:spPr>
            <a:xfrm>
              <a:off x="0" y="3130372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26"/>
                  </a:lnTo>
                  <a:lnTo>
                    <a:pt x="1919973" y="10962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7F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919973" y="3130372"/>
              <a:ext cx="3840479" cy="109855"/>
            </a:xfrm>
            <a:custGeom>
              <a:avLst/>
              <a:gdLst/>
              <a:ahLst/>
              <a:cxnLst/>
              <a:rect l="l" t="t" r="r" b="b"/>
              <a:pathLst>
                <a:path w="3840479" h="109855">
                  <a:moveTo>
                    <a:pt x="3839946" y="0"/>
                  </a:moveTo>
                  <a:lnTo>
                    <a:pt x="1919973" y="0"/>
                  </a:lnTo>
                  <a:lnTo>
                    <a:pt x="0" y="0"/>
                  </a:lnTo>
                  <a:lnTo>
                    <a:pt x="0" y="109626"/>
                  </a:lnTo>
                  <a:lnTo>
                    <a:pt x="1919973" y="109626"/>
                  </a:lnTo>
                  <a:lnTo>
                    <a:pt x="3839946" y="109626"/>
                  </a:lnTo>
                  <a:lnTo>
                    <a:pt x="3839946" y="0"/>
                  </a:lnTo>
                  <a:close/>
                </a:path>
              </a:pathLst>
            </a:custGeom>
            <a:solidFill>
              <a:srgbClr val="0C2B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-3" y="3214693"/>
              <a:ext cx="0" cy="25400"/>
            </a:xfrm>
            <a:custGeom>
              <a:avLst/>
              <a:gdLst/>
              <a:ahLst/>
              <a:cxnLst/>
              <a:rect l="l" t="t" r="r" b="b"/>
              <a:pathLst>
                <a:path h="25400">
                  <a:moveTo>
                    <a:pt x="0" y="25305"/>
                  </a:moveTo>
                  <a:lnTo>
                    <a:pt x="0" y="0"/>
                  </a:lnTo>
                  <a:lnTo>
                    <a:pt x="0" y="25305"/>
                  </a:lnTo>
                  <a:close/>
                </a:path>
                <a:path h="25400">
                  <a:moveTo>
                    <a:pt x="0" y="0"/>
                  </a:moveTo>
                </a:path>
              </a:pathLst>
            </a:custGeom>
            <a:solidFill>
              <a:srgbClr val="A3CB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Hiếu</a:t>
            </a:r>
            <a:r>
              <a:rPr spc="35" dirty="0"/>
              <a:t> </a:t>
            </a:r>
            <a:r>
              <a:rPr dirty="0">
                <a:latin typeface="Cambria"/>
                <a:cs typeface="Cambria"/>
              </a:rPr>
              <a:t>·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dirty="0"/>
              <a:t>Trọng</a:t>
            </a:r>
            <a:r>
              <a:rPr spc="35" dirty="0"/>
              <a:t> </a:t>
            </a:r>
            <a:r>
              <a:rPr dirty="0">
                <a:latin typeface="Cambria"/>
                <a:cs typeface="Cambria"/>
              </a:rPr>
              <a:t>·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dirty="0"/>
              <a:t>Quang</a:t>
            </a:r>
            <a:r>
              <a:rPr spc="245" dirty="0"/>
              <a:t> </a:t>
            </a:r>
            <a:r>
              <a:rPr dirty="0"/>
              <a:t>(ĐH</a:t>
            </a:r>
            <a:r>
              <a:rPr spc="40" dirty="0"/>
              <a:t> </a:t>
            </a:r>
            <a:r>
              <a:rPr spc="-10" dirty="0"/>
              <a:t>Phenikaa)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441397" y="3122434"/>
            <a:ext cx="877569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Cước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phí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Taxi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·</a:t>
            </a:r>
            <a:r>
              <a:rPr sz="600" spc="55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Phenikaa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20" dirty="0"/>
              <a:t>2026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12</a:t>
            </a:fld>
            <a:r>
              <a:rPr spc="-45" dirty="0"/>
              <a:t> </a:t>
            </a:r>
            <a:r>
              <a:rPr spc="150" dirty="0"/>
              <a:t>/</a:t>
            </a:r>
            <a:r>
              <a:rPr spc="-45" dirty="0"/>
              <a:t> </a:t>
            </a:r>
            <a:r>
              <a:rPr spc="-25" dirty="0"/>
              <a:t>19</a:t>
            </a:r>
          </a:p>
        </p:txBody>
      </p:sp>
      <p:pic>
        <p:nvPicPr>
          <p:cNvPr id="28" name="Hình ảnh 27">
            <a:extLst>
              <a:ext uri="{FF2B5EF4-FFF2-40B4-BE49-F238E27FC236}">
                <a16:creationId xmlns:a16="http://schemas.microsoft.com/office/drawing/2014/main" id="{8262FAEE-1FC8-45FB-2178-F3527F716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00" y="417369"/>
            <a:ext cx="4554615" cy="1472614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7363"/>
            <a:ext cx="26377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Mô</a:t>
            </a:r>
            <a:r>
              <a:rPr spc="20" dirty="0"/>
              <a:t> </a:t>
            </a:r>
            <a:r>
              <a:rPr spc="-55" dirty="0"/>
              <a:t>hình</a:t>
            </a:r>
            <a:r>
              <a:rPr spc="20" dirty="0"/>
              <a:t> </a:t>
            </a:r>
            <a:r>
              <a:rPr dirty="0"/>
              <a:t>Dự</a:t>
            </a:r>
            <a:r>
              <a:rPr spc="25" dirty="0"/>
              <a:t> </a:t>
            </a:r>
            <a:r>
              <a:rPr spc="-50" dirty="0"/>
              <a:t>đoán</a:t>
            </a:r>
            <a:r>
              <a:rPr spc="15" dirty="0"/>
              <a:t> </a:t>
            </a:r>
            <a:r>
              <a:rPr dirty="0"/>
              <a:t>–</a:t>
            </a:r>
            <a:r>
              <a:rPr spc="25" dirty="0"/>
              <a:t> </a:t>
            </a:r>
            <a:r>
              <a:rPr spc="-20" dirty="0"/>
              <a:t>Tổng</a:t>
            </a:r>
            <a:r>
              <a:rPr spc="20" dirty="0"/>
              <a:t> </a:t>
            </a:r>
            <a:r>
              <a:rPr spc="-45" dirty="0"/>
              <a:t>quan</a:t>
            </a:r>
          </a:p>
        </p:txBody>
      </p:sp>
      <p:sp>
        <p:nvSpPr>
          <p:cNvPr id="3" name="object 3"/>
          <p:cNvSpPr/>
          <p:nvPr/>
        </p:nvSpPr>
        <p:spPr>
          <a:xfrm>
            <a:off x="78117" y="586866"/>
            <a:ext cx="1849755" cy="486409"/>
          </a:xfrm>
          <a:custGeom>
            <a:avLst/>
            <a:gdLst/>
            <a:ahLst/>
            <a:cxnLst/>
            <a:rect l="l" t="t" r="r" b="b"/>
            <a:pathLst>
              <a:path w="1849755" h="486409">
                <a:moveTo>
                  <a:pt x="179893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486088"/>
                </a:lnTo>
                <a:lnTo>
                  <a:pt x="1849739" y="486088"/>
                </a:lnTo>
                <a:lnTo>
                  <a:pt x="1849739" y="50800"/>
                </a:lnTo>
                <a:lnTo>
                  <a:pt x="1845731" y="31075"/>
                </a:lnTo>
                <a:lnTo>
                  <a:pt x="1834816" y="14922"/>
                </a:lnTo>
                <a:lnTo>
                  <a:pt x="1818663" y="4008"/>
                </a:lnTo>
                <a:lnTo>
                  <a:pt x="1798939" y="0"/>
                </a:lnTo>
                <a:close/>
              </a:path>
            </a:pathLst>
          </a:custGeom>
          <a:solidFill>
            <a:srgbClr val="197F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8917" y="624874"/>
            <a:ext cx="885190" cy="433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35"/>
              </a:lnSpc>
            </a:pPr>
            <a:r>
              <a:rPr sz="1400" spc="390" dirty="0">
                <a:solidFill>
                  <a:srgbClr val="FFFFFF"/>
                </a:solidFill>
                <a:latin typeface="Arial MT"/>
                <a:cs typeface="Arial MT"/>
              </a:rPr>
              <a:t></a:t>
            </a:r>
            <a:r>
              <a:rPr sz="1400" spc="90" dirty="0">
                <a:solidFill>
                  <a:srgbClr val="FFFFFF"/>
                </a:solidFill>
                <a:latin typeface="Arial MT"/>
                <a:cs typeface="Arial MT"/>
              </a:rPr>
              <a:t>  </a:t>
            </a:r>
            <a:r>
              <a:rPr sz="1400" b="1" spc="-50" dirty="0">
                <a:solidFill>
                  <a:srgbClr val="FFFFFF"/>
                </a:solidFill>
                <a:latin typeface="Tahoma"/>
                <a:cs typeface="Tahoma"/>
              </a:rPr>
              <a:t>Linear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400" b="1" spc="-95" dirty="0">
                <a:solidFill>
                  <a:srgbClr val="FFFFFF"/>
                </a:solidFill>
                <a:latin typeface="Tahoma"/>
                <a:cs typeface="Tahoma"/>
              </a:rPr>
              <a:t>Regression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9983" y="1071407"/>
            <a:ext cx="1849755" cy="1455877"/>
            <a:chOff x="78117" y="1060297"/>
            <a:chExt cx="1849755" cy="1455877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117" y="1060297"/>
              <a:ext cx="1849739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8117" y="1104569"/>
              <a:ext cx="1849755" cy="1411605"/>
            </a:xfrm>
            <a:custGeom>
              <a:avLst/>
              <a:gdLst/>
              <a:ahLst/>
              <a:cxnLst/>
              <a:rect l="l" t="t" r="r" b="b"/>
              <a:pathLst>
                <a:path w="1849755" h="1411605">
                  <a:moveTo>
                    <a:pt x="1849739" y="0"/>
                  </a:moveTo>
                  <a:lnTo>
                    <a:pt x="0" y="0"/>
                  </a:lnTo>
                  <a:lnTo>
                    <a:pt x="0" y="1360360"/>
                  </a:lnTo>
                  <a:lnTo>
                    <a:pt x="4008" y="1380085"/>
                  </a:lnTo>
                  <a:lnTo>
                    <a:pt x="14922" y="1396238"/>
                  </a:lnTo>
                  <a:lnTo>
                    <a:pt x="31075" y="1407152"/>
                  </a:lnTo>
                  <a:lnTo>
                    <a:pt x="50800" y="1411160"/>
                  </a:lnTo>
                  <a:lnTo>
                    <a:pt x="1798939" y="1411160"/>
                  </a:lnTo>
                  <a:lnTo>
                    <a:pt x="1818663" y="1407152"/>
                  </a:lnTo>
                  <a:lnTo>
                    <a:pt x="1834816" y="1396238"/>
                  </a:lnTo>
                  <a:lnTo>
                    <a:pt x="1845731" y="1380085"/>
                  </a:lnTo>
                  <a:lnTo>
                    <a:pt x="1849739" y="1360360"/>
                  </a:lnTo>
                  <a:lnTo>
                    <a:pt x="1849739" y="0"/>
                  </a:lnTo>
                  <a:close/>
                </a:path>
              </a:pathLst>
            </a:custGeom>
            <a:solidFill>
              <a:srgbClr val="D6E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31559" y="1053678"/>
            <a:ext cx="1579245" cy="143129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93675" indent="-142240">
              <a:lnSpc>
                <a:spcPct val="100000"/>
              </a:lnSpc>
              <a:spcBef>
                <a:spcPts val="434"/>
              </a:spcBef>
              <a:buClr>
                <a:srgbClr val="197FA4"/>
              </a:buClr>
              <a:buFont typeface="Microsoft YaHei"/>
              <a:buChar char="•"/>
              <a:tabLst>
                <a:tab pos="193675" algn="l"/>
              </a:tabLst>
            </a:pP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Mô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 hình </a:t>
            </a:r>
            <a:r>
              <a:rPr sz="1100" b="1" spc="-10" dirty="0">
                <a:solidFill>
                  <a:srgbClr val="1B1B2D"/>
                </a:solidFill>
                <a:latin typeface="Tahoma"/>
                <a:cs typeface="Tahoma"/>
              </a:rPr>
              <a:t>baseline</a:t>
            </a:r>
            <a:endParaRPr sz="1100">
              <a:latin typeface="Tahoma"/>
              <a:cs typeface="Tahoma"/>
            </a:endParaRPr>
          </a:p>
          <a:p>
            <a:pPr marL="193040" marR="22860" indent="-142240">
              <a:lnSpc>
                <a:spcPct val="102600"/>
              </a:lnSpc>
              <a:spcBef>
                <a:spcPts val="300"/>
              </a:spcBef>
              <a:buClr>
                <a:srgbClr val="197FA4"/>
              </a:buClr>
              <a:buFont typeface="Microsoft YaHei"/>
              <a:buChar char="•"/>
              <a:tabLst>
                <a:tab pos="194310" algn="l"/>
              </a:tabLst>
            </a:pPr>
            <a:r>
              <a:rPr sz="1100" spc="-35" dirty="0">
                <a:solidFill>
                  <a:srgbClr val="1B1B2D"/>
                </a:solidFill>
                <a:latin typeface="Microsoft Sans Serif"/>
                <a:cs typeface="Microsoft Sans Serif"/>
              </a:rPr>
              <a:t>Giả</a:t>
            </a:r>
            <a:r>
              <a:rPr sz="1100" spc="-4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định</a:t>
            </a:r>
            <a:r>
              <a:rPr sz="1100" spc="-40" dirty="0">
                <a:solidFill>
                  <a:srgbClr val="1B1B2D"/>
                </a:solidFill>
                <a:latin typeface="Microsoft Sans Serif"/>
                <a:cs typeface="Microsoft Sans Serif"/>
              </a:rPr>
              <a:t> quan</a:t>
            </a:r>
            <a:r>
              <a:rPr sz="1100" spc="-3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45" dirty="0">
                <a:solidFill>
                  <a:srgbClr val="1B1B2D"/>
                </a:solidFill>
                <a:latin typeface="Microsoft Sans Serif"/>
                <a:cs typeface="Microsoft Sans Serif"/>
              </a:rPr>
              <a:t>hệ</a:t>
            </a:r>
            <a:r>
              <a:rPr sz="1100" spc="-3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35" dirty="0">
                <a:solidFill>
                  <a:srgbClr val="1B1B2D"/>
                </a:solidFill>
                <a:latin typeface="Microsoft Sans Serif"/>
                <a:cs typeface="Microsoft Sans Serif"/>
              </a:rPr>
              <a:t>tuyến 	</a:t>
            </a:r>
            <a:r>
              <a:rPr sz="11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tính</a:t>
            </a:r>
            <a:endParaRPr sz="1100">
              <a:latin typeface="Microsoft Sans Serif"/>
              <a:cs typeface="Microsoft Sans Serif"/>
            </a:endParaRPr>
          </a:p>
          <a:p>
            <a:pPr marL="193675" indent="-142240">
              <a:lnSpc>
                <a:spcPct val="100000"/>
              </a:lnSpc>
              <a:spcBef>
                <a:spcPts val="330"/>
              </a:spcBef>
              <a:buClr>
                <a:srgbClr val="197FA4"/>
              </a:buClr>
              <a:buFont typeface="Microsoft YaHei"/>
              <a:buChar char="•"/>
              <a:tabLst>
                <a:tab pos="193675" algn="l"/>
              </a:tabLst>
            </a:pPr>
            <a:r>
              <a:rPr sz="1100" spc="-35" dirty="0">
                <a:solidFill>
                  <a:srgbClr val="1B1B2D"/>
                </a:solidFill>
                <a:latin typeface="Microsoft Sans Serif"/>
                <a:cs typeface="Microsoft Sans Serif"/>
              </a:rPr>
              <a:t>Nhanh,</a:t>
            </a:r>
            <a:r>
              <a:rPr sz="1100" spc="-3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45" dirty="0">
                <a:solidFill>
                  <a:srgbClr val="1B1B2D"/>
                </a:solidFill>
                <a:latin typeface="Microsoft Sans Serif"/>
                <a:cs typeface="Microsoft Sans Serif"/>
              </a:rPr>
              <a:t>dễ</a:t>
            </a:r>
            <a:r>
              <a:rPr sz="11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giải</a:t>
            </a:r>
            <a:r>
              <a:rPr sz="1100" spc="-3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thích</a:t>
            </a:r>
            <a:endParaRPr sz="1100">
              <a:latin typeface="Microsoft Sans Serif"/>
              <a:cs typeface="Microsoft Sans Serif"/>
            </a:endParaRPr>
          </a:p>
          <a:p>
            <a:pPr marL="194310" marR="220979" indent="-182245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solidFill>
                  <a:srgbClr val="197FA4"/>
                </a:solidFill>
                <a:latin typeface="Lucida Sans Unicode"/>
                <a:cs typeface="Lucida Sans Unicode"/>
              </a:rPr>
              <a:t>×</a:t>
            </a:r>
            <a:r>
              <a:rPr sz="1100" spc="105" dirty="0">
                <a:solidFill>
                  <a:srgbClr val="197FA4"/>
                </a:solidFill>
                <a:latin typeface="Lucida Sans Unicode"/>
                <a:cs typeface="Lucida Sans Unicode"/>
              </a:rPr>
              <a:t> </a:t>
            </a:r>
            <a:r>
              <a:rPr sz="1100" spc="-80" dirty="0">
                <a:solidFill>
                  <a:srgbClr val="1B1B2D"/>
                </a:solidFill>
                <a:latin typeface="Microsoft Sans Serif"/>
                <a:cs typeface="Microsoft Sans Serif"/>
              </a:rPr>
              <a:t>Yếu</a:t>
            </a:r>
            <a:r>
              <a:rPr sz="1100" spc="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với </a:t>
            </a:r>
            <a:r>
              <a:rPr sz="1100" spc="-40" dirty="0">
                <a:solidFill>
                  <a:srgbClr val="1B1B2D"/>
                </a:solidFill>
                <a:latin typeface="Microsoft Sans Serif"/>
                <a:cs typeface="Microsoft Sans Serif"/>
              </a:rPr>
              <a:t>quan</a:t>
            </a:r>
            <a:r>
              <a:rPr sz="1100" spc="-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45" dirty="0">
                <a:solidFill>
                  <a:srgbClr val="1B1B2D"/>
                </a:solidFill>
                <a:latin typeface="Microsoft Sans Serif"/>
                <a:cs typeface="Microsoft Sans Serif"/>
              </a:rPr>
              <a:t>hệ</a:t>
            </a:r>
            <a:r>
              <a:rPr sz="1100" spc="-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phi 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tuyến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100" dirty="0">
                <a:solidFill>
                  <a:srgbClr val="197FA4"/>
                </a:solidFill>
                <a:latin typeface="Lucida Sans Unicode"/>
                <a:cs typeface="Lucida Sans Unicode"/>
              </a:rPr>
              <a:t>×</a:t>
            </a:r>
            <a:r>
              <a:rPr sz="1100" spc="114" dirty="0">
                <a:solidFill>
                  <a:srgbClr val="197FA4"/>
                </a:solidFill>
                <a:latin typeface="Lucida Sans Unicode"/>
                <a:cs typeface="Lucida Sans Unicode"/>
              </a:rPr>
              <a:t> </a:t>
            </a:r>
            <a:r>
              <a:rPr sz="1100" spc="-45" dirty="0">
                <a:solidFill>
                  <a:srgbClr val="1B1B2D"/>
                </a:solidFill>
                <a:latin typeface="Microsoft Sans Serif"/>
                <a:cs typeface="Microsoft Sans Serif"/>
              </a:rPr>
              <a:t>Nhạy</a:t>
            </a:r>
            <a:r>
              <a:rPr sz="1100" spc="-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với </a:t>
            </a:r>
            <a:r>
              <a:rPr sz="11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đa</a:t>
            </a:r>
            <a:r>
              <a:rPr sz="1100" spc="-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55" dirty="0">
                <a:solidFill>
                  <a:srgbClr val="1B1B2D"/>
                </a:solidFill>
                <a:latin typeface="Microsoft Sans Serif"/>
                <a:cs typeface="Microsoft Sans Serif"/>
              </a:rPr>
              <a:t>cộng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tuyến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955138" y="586866"/>
            <a:ext cx="1849755" cy="245745"/>
          </a:xfrm>
          <a:custGeom>
            <a:avLst/>
            <a:gdLst/>
            <a:ahLst/>
            <a:cxnLst/>
            <a:rect l="l" t="t" r="r" b="b"/>
            <a:pathLst>
              <a:path w="1849754" h="245744">
                <a:moveTo>
                  <a:pt x="179893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45695"/>
                </a:lnTo>
                <a:lnTo>
                  <a:pt x="1849739" y="245695"/>
                </a:lnTo>
                <a:lnTo>
                  <a:pt x="1849739" y="50800"/>
                </a:lnTo>
                <a:lnTo>
                  <a:pt x="1845731" y="31075"/>
                </a:lnTo>
                <a:lnTo>
                  <a:pt x="1834816" y="14922"/>
                </a:lnTo>
                <a:lnTo>
                  <a:pt x="1818663" y="4008"/>
                </a:lnTo>
                <a:lnTo>
                  <a:pt x="1798939" y="0"/>
                </a:lnTo>
                <a:close/>
              </a:path>
            </a:pathLst>
          </a:custGeom>
          <a:solidFill>
            <a:srgbClr val="197F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005939" y="624874"/>
            <a:ext cx="1487170" cy="205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35"/>
              </a:lnSpc>
            </a:pPr>
            <a:r>
              <a:rPr sz="1400" spc="390" dirty="0">
                <a:solidFill>
                  <a:srgbClr val="FFFFFF"/>
                </a:solidFill>
                <a:latin typeface="Arial MT"/>
                <a:cs typeface="Arial MT"/>
              </a:rPr>
              <a:t></a:t>
            </a:r>
            <a:r>
              <a:rPr sz="1400" spc="4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b="1" spc="-45" dirty="0">
                <a:solidFill>
                  <a:srgbClr val="FFFFFF"/>
                </a:solidFill>
                <a:latin typeface="Tahoma"/>
                <a:cs typeface="Tahoma"/>
              </a:rPr>
              <a:t>Decision</a:t>
            </a:r>
            <a:r>
              <a:rPr sz="1400" b="1" spc="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70" dirty="0">
                <a:solidFill>
                  <a:srgbClr val="FFFFFF"/>
                </a:solidFill>
                <a:latin typeface="Tahoma"/>
                <a:cs typeface="Tahoma"/>
              </a:rPr>
              <a:t>Tree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955138" y="819911"/>
            <a:ext cx="1849755" cy="1295216"/>
            <a:chOff x="1955138" y="819911"/>
            <a:chExt cx="1849755" cy="1295216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55139" y="819911"/>
              <a:ext cx="1849739" cy="5060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955138" y="864177"/>
              <a:ext cx="1849755" cy="1250950"/>
            </a:xfrm>
            <a:custGeom>
              <a:avLst/>
              <a:gdLst/>
              <a:ahLst/>
              <a:cxnLst/>
              <a:rect l="l" t="t" r="r" b="b"/>
              <a:pathLst>
                <a:path w="1849754" h="1250950">
                  <a:moveTo>
                    <a:pt x="1849739" y="0"/>
                  </a:moveTo>
                  <a:lnTo>
                    <a:pt x="0" y="0"/>
                  </a:lnTo>
                  <a:lnTo>
                    <a:pt x="0" y="1199940"/>
                  </a:lnTo>
                  <a:lnTo>
                    <a:pt x="4008" y="1219665"/>
                  </a:lnTo>
                  <a:lnTo>
                    <a:pt x="14922" y="1235818"/>
                  </a:lnTo>
                  <a:lnTo>
                    <a:pt x="31075" y="1246732"/>
                  </a:lnTo>
                  <a:lnTo>
                    <a:pt x="50800" y="1250740"/>
                  </a:lnTo>
                  <a:lnTo>
                    <a:pt x="1798939" y="1250740"/>
                  </a:lnTo>
                  <a:lnTo>
                    <a:pt x="1818663" y="1246732"/>
                  </a:lnTo>
                  <a:lnTo>
                    <a:pt x="1834816" y="1235818"/>
                  </a:lnTo>
                  <a:lnTo>
                    <a:pt x="1845731" y="1219665"/>
                  </a:lnTo>
                  <a:lnTo>
                    <a:pt x="1849739" y="1199940"/>
                  </a:lnTo>
                  <a:lnTo>
                    <a:pt x="1849739" y="0"/>
                  </a:lnTo>
                  <a:close/>
                </a:path>
              </a:pathLst>
            </a:custGeom>
            <a:solidFill>
              <a:srgbClr val="D6E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108593" y="824938"/>
            <a:ext cx="1473835" cy="125920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93675" indent="-142240">
              <a:lnSpc>
                <a:spcPct val="100000"/>
              </a:lnSpc>
              <a:spcBef>
                <a:spcPts val="434"/>
              </a:spcBef>
              <a:buClr>
                <a:srgbClr val="197FA4"/>
              </a:buClr>
              <a:buFont typeface="Microsoft YaHei"/>
              <a:buChar char="•"/>
              <a:tabLst>
                <a:tab pos="193675" algn="l"/>
              </a:tabLst>
            </a:pP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Phi</a:t>
            </a:r>
            <a:r>
              <a:rPr sz="1100" spc="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tuyến,</a:t>
            </a:r>
            <a:r>
              <a:rPr sz="1100" spc="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trực</a:t>
            </a:r>
            <a:r>
              <a:rPr sz="1100" spc="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quan</a:t>
            </a:r>
            <a:endParaRPr sz="1100">
              <a:latin typeface="Microsoft Sans Serif"/>
              <a:cs typeface="Microsoft Sans Serif"/>
            </a:endParaRPr>
          </a:p>
          <a:p>
            <a:pPr marL="193040" marR="48895" indent="-142240">
              <a:lnSpc>
                <a:spcPct val="102699"/>
              </a:lnSpc>
              <a:spcBef>
                <a:spcPts val="295"/>
              </a:spcBef>
              <a:buClr>
                <a:srgbClr val="197FA4"/>
              </a:buClr>
              <a:buFont typeface="Microsoft YaHei"/>
              <a:buChar char="•"/>
              <a:tabLst>
                <a:tab pos="194310" algn="l"/>
              </a:tabLst>
            </a:pP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Tự</a:t>
            </a:r>
            <a:r>
              <a:rPr sz="1100" spc="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học</a:t>
            </a:r>
            <a:r>
              <a:rPr sz="1100" spc="2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45" dirty="0">
                <a:solidFill>
                  <a:srgbClr val="1B1B2D"/>
                </a:solidFill>
                <a:latin typeface="Microsoft Sans Serif"/>
                <a:cs typeface="Microsoft Sans Serif"/>
              </a:rPr>
              <a:t>ngưỡng</a:t>
            </a:r>
            <a:r>
              <a:rPr sz="1100" spc="2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50" dirty="0">
                <a:solidFill>
                  <a:srgbClr val="1B1B2D"/>
                </a:solidFill>
                <a:latin typeface="Microsoft Sans Serif"/>
                <a:cs typeface="Microsoft Sans Serif"/>
              </a:rPr>
              <a:t>phân 	</a:t>
            </a:r>
            <a:r>
              <a:rPr sz="11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tách</a:t>
            </a:r>
            <a:endParaRPr sz="1100">
              <a:latin typeface="Microsoft Sans Serif"/>
              <a:cs typeface="Microsoft Sans Serif"/>
            </a:endParaRPr>
          </a:p>
          <a:p>
            <a:pPr marL="193675" indent="-142240">
              <a:lnSpc>
                <a:spcPct val="100000"/>
              </a:lnSpc>
              <a:spcBef>
                <a:spcPts val="335"/>
              </a:spcBef>
              <a:buClr>
                <a:srgbClr val="197FA4"/>
              </a:buClr>
              <a:buFont typeface="Microsoft YaHei"/>
              <a:buChar char="•"/>
              <a:tabLst>
                <a:tab pos="193675" algn="l"/>
              </a:tabLst>
            </a:pPr>
            <a:r>
              <a:rPr sz="1100" spc="-30" dirty="0">
                <a:solidFill>
                  <a:srgbClr val="1B1B2D"/>
                </a:solidFill>
                <a:latin typeface="Microsoft Sans Serif"/>
                <a:cs typeface="Microsoft Sans Serif"/>
              </a:rPr>
              <a:t>Không</a:t>
            </a:r>
            <a:r>
              <a:rPr sz="11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50" dirty="0">
                <a:solidFill>
                  <a:srgbClr val="1B1B2D"/>
                </a:solidFill>
                <a:latin typeface="Microsoft Sans Serif"/>
                <a:cs typeface="Microsoft Sans Serif"/>
              </a:rPr>
              <a:t>cần</a:t>
            </a:r>
            <a:r>
              <a:rPr sz="1100" spc="-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45" dirty="0">
                <a:solidFill>
                  <a:srgbClr val="1B1B2D"/>
                </a:solidFill>
                <a:latin typeface="Microsoft Sans Serif"/>
                <a:cs typeface="Microsoft Sans Serif"/>
              </a:rPr>
              <a:t>chuẩn</a:t>
            </a:r>
            <a:r>
              <a:rPr sz="11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hóa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solidFill>
                  <a:srgbClr val="197FA4"/>
                </a:solidFill>
                <a:latin typeface="Lucida Sans Unicode"/>
                <a:cs typeface="Lucida Sans Unicode"/>
              </a:rPr>
              <a:t>×</a:t>
            </a:r>
            <a:r>
              <a:rPr sz="1100" spc="135" dirty="0">
                <a:solidFill>
                  <a:srgbClr val="197FA4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Dễ</a:t>
            </a:r>
            <a:r>
              <a:rPr sz="1100" spc="1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i="1" spc="-10" dirty="0">
                <a:solidFill>
                  <a:srgbClr val="1B1B2D"/>
                </a:solidFill>
                <a:latin typeface="Arial"/>
                <a:cs typeface="Arial"/>
              </a:rPr>
              <a:t>overfitting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100" dirty="0">
                <a:solidFill>
                  <a:srgbClr val="197FA4"/>
                </a:solidFill>
                <a:latin typeface="Lucida Sans Unicode"/>
                <a:cs typeface="Lucida Sans Unicode"/>
              </a:rPr>
              <a:t>×</a:t>
            </a:r>
            <a:r>
              <a:rPr sz="1100" spc="120" dirty="0">
                <a:solidFill>
                  <a:srgbClr val="197FA4"/>
                </a:solidFill>
                <a:latin typeface="Lucida Sans Unicode"/>
                <a:cs typeface="Lucida Sans Unicode"/>
              </a:rPr>
              <a:t> </a:t>
            </a:r>
            <a:r>
              <a:rPr sz="1100" spc="-60" dirty="0">
                <a:solidFill>
                  <a:srgbClr val="1B1B2D"/>
                </a:solidFill>
                <a:latin typeface="Microsoft Sans Serif"/>
                <a:cs typeface="Microsoft Sans Serif"/>
              </a:rPr>
              <a:t>Cần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giới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45" dirty="0">
                <a:solidFill>
                  <a:srgbClr val="1B1B2D"/>
                </a:solidFill>
                <a:latin typeface="Microsoft Sans Serif"/>
                <a:cs typeface="Microsoft Sans Serif"/>
              </a:rPr>
              <a:t>hạn</a:t>
            </a:r>
            <a:r>
              <a:rPr sz="1100" spc="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độ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sâu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832173" y="586866"/>
            <a:ext cx="1849755" cy="246379"/>
          </a:xfrm>
          <a:custGeom>
            <a:avLst/>
            <a:gdLst/>
            <a:ahLst/>
            <a:cxnLst/>
            <a:rect l="l" t="t" r="r" b="b"/>
            <a:pathLst>
              <a:path w="1849754" h="246380">
                <a:moveTo>
                  <a:pt x="179893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45786"/>
                </a:lnTo>
                <a:lnTo>
                  <a:pt x="1849739" y="245786"/>
                </a:lnTo>
                <a:lnTo>
                  <a:pt x="1849739" y="50800"/>
                </a:lnTo>
                <a:lnTo>
                  <a:pt x="1845731" y="31075"/>
                </a:lnTo>
                <a:lnTo>
                  <a:pt x="1834816" y="14922"/>
                </a:lnTo>
                <a:lnTo>
                  <a:pt x="1818663" y="4008"/>
                </a:lnTo>
                <a:lnTo>
                  <a:pt x="1798939" y="0"/>
                </a:lnTo>
                <a:close/>
              </a:path>
            </a:pathLst>
          </a:custGeom>
          <a:solidFill>
            <a:srgbClr val="197F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882974" y="624963"/>
            <a:ext cx="1524635" cy="205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35"/>
              </a:lnSpc>
            </a:pPr>
            <a:r>
              <a:rPr sz="1400" spc="-340" dirty="0">
                <a:solidFill>
                  <a:srgbClr val="FFFFFF"/>
                </a:solidFill>
                <a:latin typeface="Arial MT"/>
                <a:cs typeface="Arial MT"/>
              </a:rPr>
              <a:t></a:t>
            </a:r>
            <a:r>
              <a:rPr sz="1400" spc="4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b="1" spc="-55" dirty="0">
                <a:solidFill>
                  <a:srgbClr val="FFFFFF"/>
                </a:solidFill>
                <a:latin typeface="Tahoma"/>
                <a:cs typeface="Tahoma"/>
              </a:rPr>
              <a:t>Random</a:t>
            </a:r>
            <a:r>
              <a:rPr sz="1400" b="1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75" dirty="0">
                <a:solidFill>
                  <a:srgbClr val="FFFFFF"/>
                </a:solidFill>
                <a:latin typeface="Tahoma"/>
                <a:cs typeface="Tahoma"/>
              </a:rPr>
              <a:t>Forest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840121" y="808009"/>
            <a:ext cx="1849755" cy="1123136"/>
            <a:chOff x="3832173" y="820000"/>
            <a:chExt cx="1849755" cy="1123136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32173" y="820000"/>
              <a:ext cx="1849739" cy="5060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832173" y="864271"/>
              <a:ext cx="1849755" cy="1078865"/>
            </a:xfrm>
            <a:custGeom>
              <a:avLst/>
              <a:gdLst/>
              <a:ahLst/>
              <a:cxnLst/>
              <a:rect l="l" t="t" r="r" b="b"/>
              <a:pathLst>
                <a:path w="1849754" h="1078864">
                  <a:moveTo>
                    <a:pt x="1849739" y="0"/>
                  </a:moveTo>
                  <a:lnTo>
                    <a:pt x="0" y="0"/>
                  </a:lnTo>
                  <a:lnTo>
                    <a:pt x="0" y="1027863"/>
                  </a:lnTo>
                  <a:lnTo>
                    <a:pt x="4008" y="1047588"/>
                  </a:lnTo>
                  <a:lnTo>
                    <a:pt x="14922" y="1063741"/>
                  </a:lnTo>
                  <a:lnTo>
                    <a:pt x="31075" y="1074655"/>
                  </a:lnTo>
                  <a:lnTo>
                    <a:pt x="50800" y="1078663"/>
                  </a:lnTo>
                  <a:lnTo>
                    <a:pt x="1798939" y="1078663"/>
                  </a:lnTo>
                  <a:lnTo>
                    <a:pt x="1818663" y="1074655"/>
                  </a:lnTo>
                  <a:lnTo>
                    <a:pt x="1834816" y="1063741"/>
                  </a:lnTo>
                  <a:lnTo>
                    <a:pt x="1845731" y="1047588"/>
                  </a:lnTo>
                  <a:lnTo>
                    <a:pt x="1849739" y="1027863"/>
                  </a:lnTo>
                  <a:lnTo>
                    <a:pt x="1849739" y="0"/>
                  </a:lnTo>
                  <a:close/>
                </a:path>
              </a:pathLst>
            </a:custGeom>
            <a:solidFill>
              <a:srgbClr val="D6EAF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958332" y="864176"/>
            <a:ext cx="1664135" cy="1068881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01295" indent="-142240">
              <a:lnSpc>
                <a:spcPct val="100000"/>
              </a:lnSpc>
              <a:spcBef>
                <a:spcPts val="434"/>
              </a:spcBef>
              <a:buClr>
                <a:srgbClr val="197FA4"/>
              </a:buClr>
              <a:buFont typeface="Microsoft YaHei"/>
              <a:buChar char="•"/>
              <a:tabLst>
                <a:tab pos="201295" algn="l"/>
              </a:tabLst>
            </a:pPr>
            <a:r>
              <a:rPr sz="1100" spc="-65" dirty="0">
                <a:solidFill>
                  <a:srgbClr val="1B1B2D"/>
                </a:solidFill>
                <a:latin typeface="Microsoft Sans Serif"/>
                <a:cs typeface="Microsoft Sans Serif"/>
              </a:rPr>
              <a:t>Ensemble:</a:t>
            </a:r>
            <a:r>
              <a:rPr sz="1100" spc="8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40" dirty="0">
                <a:solidFill>
                  <a:srgbClr val="1B1B2D"/>
                </a:solidFill>
                <a:latin typeface="Microsoft Sans Serif"/>
                <a:cs typeface="Microsoft Sans Serif"/>
              </a:rPr>
              <a:t>nhiều</a:t>
            </a:r>
            <a:r>
              <a:rPr sz="1100" spc="-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55" dirty="0">
                <a:solidFill>
                  <a:srgbClr val="1B1B2D"/>
                </a:solidFill>
                <a:latin typeface="Microsoft Sans Serif"/>
                <a:cs typeface="Microsoft Sans Serif"/>
              </a:rPr>
              <a:t>cây</a:t>
            </a:r>
            <a:r>
              <a:rPr sz="1100" spc="-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DT</a:t>
            </a:r>
            <a:endParaRPr sz="1100" dirty="0">
              <a:latin typeface="Microsoft Sans Serif"/>
              <a:cs typeface="Microsoft Sans Serif"/>
            </a:endParaRPr>
          </a:p>
          <a:p>
            <a:pPr marL="201295" indent="-142240">
              <a:lnSpc>
                <a:spcPct val="100000"/>
              </a:lnSpc>
              <a:spcBef>
                <a:spcPts val="334"/>
              </a:spcBef>
              <a:buClr>
                <a:srgbClr val="197FA4"/>
              </a:buClr>
              <a:buFont typeface="Microsoft YaHei"/>
              <a:buChar char="•"/>
              <a:tabLst>
                <a:tab pos="201295" algn="l"/>
              </a:tabLst>
            </a:pPr>
            <a:r>
              <a:rPr sz="1100" spc="-50" dirty="0">
                <a:solidFill>
                  <a:srgbClr val="1B1B2D"/>
                </a:solidFill>
                <a:latin typeface="Microsoft Sans Serif"/>
                <a:cs typeface="Microsoft Sans Serif"/>
              </a:rPr>
              <a:t>Giảm</a:t>
            </a:r>
            <a:r>
              <a:rPr sz="1100" spc="-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45" dirty="0">
                <a:solidFill>
                  <a:srgbClr val="1B1B2D"/>
                </a:solidFill>
                <a:latin typeface="Microsoft Sans Serif"/>
                <a:cs typeface="Microsoft Sans Serif"/>
              </a:rPr>
              <a:t>phương</a:t>
            </a:r>
            <a:r>
              <a:rPr sz="1100" spc="-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40" dirty="0">
                <a:solidFill>
                  <a:srgbClr val="1B1B2D"/>
                </a:solidFill>
                <a:latin typeface="Microsoft Sans Serif"/>
                <a:cs typeface="Microsoft Sans Serif"/>
              </a:rPr>
              <a:t>sai</a:t>
            </a:r>
            <a:r>
              <a:rPr sz="1100" spc="-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mạnh</a:t>
            </a:r>
            <a:endParaRPr sz="1100" dirty="0">
              <a:latin typeface="Microsoft Sans Serif"/>
              <a:cs typeface="Microsoft Sans Serif"/>
            </a:endParaRPr>
          </a:p>
          <a:p>
            <a:pPr marL="201295" indent="-142240">
              <a:lnSpc>
                <a:spcPct val="100000"/>
              </a:lnSpc>
              <a:spcBef>
                <a:spcPts val="330"/>
              </a:spcBef>
              <a:buClr>
                <a:srgbClr val="197FA4"/>
              </a:buClr>
              <a:buFont typeface="Microsoft YaHei"/>
              <a:buChar char="•"/>
              <a:tabLst>
                <a:tab pos="201295" algn="l"/>
              </a:tabLst>
            </a:pPr>
            <a:r>
              <a:rPr sz="1100" spc="-60" dirty="0">
                <a:solidFill>
                  <a:srgbClr val="1B1B2D"/>
                </a:solidFill>
                <a:latin typeface="Microsoft Sans Serif"/>
                <a:cs typeface="Microsoft Sans Serif"/>
              </a:rPr>
              <a:t>Chống</a:t>
            </a:r>
            <a:r>
              <a:rPr sz="1100" spc="-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overfitting </a:t>
            </a:r>
            <a:r>
              <a:rPr sz="11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tốt</a:t>
            </a:r>
            <a:endParaRPr sz="1100" dirty="0">
              <a:latin typeface="Microsoft Sans Serif"/>
              <a:cs typeface="Microsoft Sans Serif"/>
            </a:endParaRPr>
          </a:p>
          <a:p>
            <a:pPr marL="201295" indent="-188595">
              <a:lnSpc>
                <a:spcPct val="100000"/>
              </a:lnSpc>
              <a:spcBef>
                <a:spcPts val="335"/>
              </a:spcBef>
              <a:buClr>
                <a:srgbClr val="197FA4"/>
              </a:buClr>
              <a:buFont typeface="Segoe UI Symbol"/>
              <a:buChar char="✓"/>
              <a:tabLst>
                <a:tab pos="201295" algn="l"/>
              </a:tabLst>
            </a:pPr>
            <a:r>
              <a:rPr sz="1100" spc="-30" dirty="0">
                <a:solidFill>
                  <a:srgbClr val="1B1B2D"/>
                </a:solidFill>
                <a:latin typeface="Microsoft Sans Serif"/>
                <a:cs typeface="Microsoft Sans Serif"/>
              </a:rPr>
              <a:t>Hiệu</a:t>
            </a:r>
            <a:r>
              <a:rPr sz="11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55" dirty="0">
                <a:solidFill>
                  <a:srgbClr val="1B1B2D"/>
                </a:solidFill>
                <a:latin typeface="Microsoft Sans Serif"/>
                <a:cs typeface="Microsoft Sans Serif"/>
              </a:rPr>
              <a:t>năng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55" dirty="0">
                <a:solidFill>
                  <a:srgbClr val="1B1B2D"/>
                </a:solidFill>
                <a:latin typeface="Microsoft Sans Serif"/>
                <a:cs typeface="Microsoft Sans Serif"/>
              </a:rPr>
              <a:t>cao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nhất</a:t>
            </a:r>
            <a:endParaRPr sz="1100" dirty="0">
              <a:latin typeface="Microsoft Sans Serif"/>
              <a:cs typeface="Microsoft Sans Serif"/>
            </a:endParaRPr>
          </a:p>
          <a:p>
            <a:pPr marL="20320">
              <a:lnSpc>
                <a:spcPct val="100000"/>
              </a:lnSpc>
              <a:spcBef>
                <a:spcPts val="425"/>
              </a:spcBef>
            </a:pPr>
            <a:r>
              <a:rPr sz="1100" dirty="0">
                <a:solidFill>
                  <a:srgbClr val="197FA4"/>
                </a:solidFill>
                <a:latin typeface="Lucida Sans Unicode"/>
                <a:cs typeface="Lucida Sans Unicode"/>
              </a:rPr>
              <a:t>×</a:t>
            </a:r>
            <a:r>
              <a:rPr sz="1100" spc="155" dirty="0">
                <a:solidFill>
                  <a:srgbClr val="197FA4"/>
                </a:solidFill>
                <a:latin typeface="Lucida Sans Unicode"/>
                <a:cs typeface="Lucida Sans Unicode"/>
              </a:rPr>
              <a:t> </a:t>
            </a:r>
            <a:r>
              <a:rPr sz="11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Tốn</a:t>
            </a:r>
            <a:r>
              <a:rPr sz="1100" spc="2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tài</a:t>
            </a:r>
            <a:r>
              <a:rPr sz="1100" spc="2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60" dirty="0">
                <a:solidFill>
                  <a:srgbClr val="1B1B2D"/>
                </a:solidFill>
                <a:latin typeface="Microsoft Sans Serif"/>
                <a:cs typeface="Microsoft Sans Serif"/>
              </a:rPr>
              <a:t>nguyên</a:t>
            </a:r>
            <a:r>
              <a:rPr sz="1100" spc="2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hơn</a:t>
            </a:r>
            <a:endParaRPr sz="1100" dirty="0">
              <a:latin typeface="Microsoft Sans Serif"/>
              <a:cs typeface="Microsoft Sans Serif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-6367" y="2637622"/>
            <a:ext cx="5772750" cy="624963"/>
            <a:chOff x="-3" y="2764141"/>
            <a:chExt cx="5760085" cy="476250"/>
          </a:xfrm>
        </p:grpSpPr>
        <p:sp>
          <p:nvSpPr>
            <p:cNvPr id="25" name="object 25"/>
            <p:cNvSpPr/>
            <p:nvPr/>
          </p:nvSpPr>
          <p:spPr>
            <a:xfrm>
              <a:off x="148628" y="2764141"/>
              <a:ext cx="5462905" cy="476250"/>
            </a:xfrm>
            <a:custGeom>
              <a:avLst/>
              <a:gdLst/>
              <a:ahLst/>
              <a:cxnLst/>
              <a:rect l="l" t="t" r="r" b="b"/>
              <a:pathLst>
                <a:path w="5462905" h="476250">
                  <a:moveTo>
                    <a:pt x="5386891" y="0"/>
                  </a:moveTo>
                  <a:lnTo>
                    <a:pt x="75916" y="0"/>
                  </a:lnTo>
                  <a:lnTo>
                    <a:pt x="46365" y="5965"/>
                  </a:lnTo>
                  <a:lnTo>
                    <a:pt x="22235" y="22235"/>
                  </a:lnTo>
                  <a:lnTo>
                    <a:pt x="5965" y="46365"/>
                  </a:lnTo>
                  <a:lnTo>
                    <a:pt x="0" y="75916"/>
                  </a:lnTo>
                  <a:lnTo>
                    <a:pt x="0" y="475856"/>
                  </a:lnTo>
                  <a:lnTo>
                    <a:pt x="5462807" y="475856"/>
                  </a:lnTo>
                  <a:lnTo>
                    <a:pt x="5462807" y="75916"/>
                  </a:lnTo>
                  <a:lnTo>
                    <a:pt x="5456842" y="46365"/>
                  </a:lnTo>
                  <a:lnTo>
                    <a:pt x="5440572" y="22235"/>
                  </a:lnTo>
                  <a:lnTo>
                    <a:pt x="5416441" y="5965"/>
                  </a:lnTo>
                  <a:lnTo>
                    <a:pt x="5386891" y="0"/>
                  </a:lnTo>
                  <a:close/>
                </a:path>
              </a:pathLst>
            </a:custGeom>
            <a:solidFill>
              <a:srgbClr val="197F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61280" y="2776794"/>
              <a:ext cx="5437505" cy="463550"/>
            </a:xfrm>
            <a:custGeom>
              <a:avLst/>
              <a:gdLst/>
              <a:ahLst/>
              <a:cxnLst/>
              <a:rect l="l" t="t" r="r" b="b"/>
              <a:pathLst>
                <a:path w="5437505" h="463550">
                  <a:moveTo>
                    <a:pt x="5374238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463203"/>
                  </a:lnTo>
                  <a:lnTo>
                    <a:pt x="5437502" y="463203"/>
                  </a:lnTo>
                  <a:lnTo>
                    <a:pt x="5437502" y="63263"/>
                  </a:lnTo>
                  <a:lnTo>
                    <a:pt x="5432530" y="38638"/>
                  </a:lnTo>
                  <a:lnTo>
                    <a:pt x="5418973" y="18529"/>
                  </a:lnTo>
                  <a:lnTo>
                    <a:pt x="5398863" y="4971"/>
                  </a:lnTo>
                  <a:lnTo>
                    <a:pt x="5374238" y="0"/>
                  </a:lnTo>
                  <a:close/>
                </a:path>
              </a:pathLst>
            </a:custGeom>
            <a:solidFill>
              <a:srgbClr val="E3EFF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7" name="object 27"/>
            <p:cNvSpPr/>
            <p:nvPr/>
          </p:nvSpPr>
          <p:spPr>
            <a:xfrm>
              <a:off x="0" y="3130372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26"/>
                  </a:lnTo>
                  <a:lnTo>
                    <a:pt x="1919973" y="10962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7F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19960" y="3130372"/>
              <a:ext cx="3840479" cy="109855"/>
            </a:xfrm>
            <a:custGeom>
              <a:avLst/>
              <a:gdLst/>
              <a:ahLst/>
              <a:cxnLst/>
              <a:rect l="l" t="t" r="r" b="b"/>
              <a:pathLst>
                <a:path w="3840479" h="109855">
                  <a:moveTo>
                    <a:pt x="3839946" y="0"/>
                  </a:moveTo>
                  <a:lnTo>
                    <a:pt x="1919973" y="0"/>
                  </a:lnTo>
                  <a:lnTo>
                    <a:pt x="0" y="0"/>
                  </a:lnTo>
                  <a:lnTo>
                    <a:pt x="0" y="109626"/>
                  </a:lnTo>
                  <a:lnTo>
                    <a:pt x="1919973" y="109626"/>
                  </a:lnTo>
                  <a:lnTo>
                    <a:pt x="3839946" y="109626"/>
                  </a:lnTo>
                  <a:lnTo>
                    <a:pt x="3839946" y="0"/>
                  </a:lnTo>
                  <a:close/>
                </a:path>
              </a:pathLst>
            </a:custGeom>
            <a:solidFill>
              <a:srgbClr val="0C2B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-3" y="3214693"/>
              <a:ext cx="0" cy="25400"/>
            </a:xfrm>
            <a:custGeom>
              <a:avLst/>
              <a:gdLst/>
              <a:ahLst/>
              <a:cxnLst/>
              <a:rect l="l" t="t" r="r" b="b"/>
              <a:pathLst>
                <a:path h="25400">
                  <a:moveTo>
                    <a:pt x="0" y="25305"/>
                  </a:moveTo>
                  <a:lnTo>
                    <a:pt x="0" y="0"/>
                  </a:lnTo>
                  <a:lnTo>
                    <a:pt x="0" y="25305"/>
                  </a:lnTo>
                  <a:close/>
                </a:path>
                <a:path h="25400">
                  <a:moveTo>
                    <a:pt x="0" y="0"/>
                  </a:moveTo>
                </a:path>
              </a:pathLst>
            </a:custGeom>
            <a:solidFill>
              <a:srgbClr val="A3CB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054100" y="2913772"/>
            <a:ext cx="2762108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0"/>
              </a:lnSpc>
            </a:pPr>
            <a:r>
              <a:rPr sz="1100" spc="-80" dirty="0">
                <a:latin typeface="Microsoft Sans Serif"/>
                <a:cs typeface="Microsoft Sans Serif"/>
              </a:rPr>
              <a:t>Search</a:t>
            </a:r>
            <a:r>
              <a:rPr sz="1100" spc="50" dirty="0">
                <a:latin typeface="Microsoft Sans Serif"/>
                <a:cs typeface="Microsoft Sans Serif"/>
              </a:rPr>
              <a:t> </a:t>
            </a:r>
            <a:r>
              <a:rPr sz="1100" spc="-70" dirty="0">
                <a:latin typeface="Microsoft Sans Serif"/>
                <a:cs typeface="Microsoft Sans Serif"/>
                <a:hlinkClick r:id="rId5" action="ppaction://hlinksldjump"/>
              </a:rPr>
              <a:t>Cross-</a:t>
            </a:r>
            <a:r>
              <a:rPr sz="1100" spc="-35" dirty="0">
                <a:latin typeface="Microsoft Sans Serif"/>
                <a:cs typeface="Microsoft Sans Serif"/>
                <a:hlinkClick r:id="rId5" action="ppaction://hlinksldjump"/>
              </a:rPr>
              <a:t>V</a:t>
            </a:r>
            <a:r>
              <a:rPr sz="1100" spc="-35" dirty="0">
                <a:latin typeface="Microsoft Sans Serif"/>
                <a:cs typeface="Microsoft Sans Serif"/>
              </a:rPr>
              <a:t>alidation</a:t>
            </a:r>
            <a:endParaRPr sz="1100" dirty="0">
              <a:latin typeface="Microsoft Sans Serif"/>
              <a:cs typeface="Microsoft Sans Serif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815732" y="3072396"/>
            <a:ext cx="53975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0"/>
              </a:lnSpc>
            </a:pPr>
            <a:r>
              <a:rPr sz="1100" spc="5" dirty="0">
                <a:latin typeface="Microsoft Sans Serif"/>
                <a:cs typeface="Microsoft Sans Serif"/>
              </a:rPr>
              <a:t>)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67400" y="2688320"/>
            <a:ext cx="2556737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z="1100" b="1" spc="-30" dirty="0">
                <a:latin typeface="Tahoma"/>
                <a:cs typeface="Tahoma"/>
              </a:rPr>
              <a:t>Chia</a:t>
            </a:r>
            <a:r>
              <a:rPr sz="1100" b="1" spc="-25" dirty="0">
                <a:latin typeface="Tahoma"/>
                <a:cs typeface="Tahoma"/>
              </a:rPr>
              <a:t> </a:t>
            </a:r>
            <a:r>
              <a:rPr sz="1100" b="1" spc="-30" dirty="0">
                <a:latin typeface="Tahoma"/>
                <a:cs typeface="Tahoma"/>
              </a:rPr>
              <a:t>tập</a:t>
            </a:r>
            <a:r>
              <a:rPr sz="1100" b="1" spc="-25" dirty="0">
                <a:latin typeface="Tahoma"/>
                <a:cs typeface="Tahoma"/>
              </a:rPr>
              <a:t> </a:t>
            </a:r>
            <a:r>
              <a:rPr sz="1100" b="1" spc="-45" dirty="0">
                <a:latin typeface="Tahoma"/>
                <a:cs typeface="Tahoma"/>
              </a:rPr>
              <a:t>dữ</a:t>
            </a:r>
            <a:r>
              <a:rPr sz="1100" b="1" spc="-25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Tahoma"/>
                <a:cs typeface="Tahoma"/>
              </a:rPr>
              <a:t>liệu:</a:t>
            </a:r>
            <a:r>
              <a:rPr sz="1100" b="1" spc="45" dirty="0">
                <a:latin typeface="Tahoma"/>
                <a:cs typeface="Tahoma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Train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spc="-40" dirty="0">
                <a:latin typeface="Microsoft Sans Serif"/>
                <a:cs typeface="Microsoft Sans Serif"/>
              </a:rPr>
              <a:t>80%</a:t>
            </a:r>
            <a:r>
              <a:rPr sz="1100" spc="-20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YaHei"/>
                <a:cs typeface="Microsoft YaHei"/>
              </a:rPr>
              <a:t>·</a:t>
            </a:r>
            <a:r>
              <a:rPr sz="1100" spc="-55" dirty="0">
                <a:latin typeface="Microsoft YaHei"/>
                <a:cs typeface="Microsoft YaHei"/>
              </a:rPr>
              <a:t> </a:t>
            </a:r>
            <a:r>
              <a:rPr sz="1100" spc="-30" dirty="0">
                <a:latin typeface="Microsoft Sans Serif"/>
                <a:cs typeface="Microsoft Sans Serif"/>
              </a:rPr>
              <a:t>Test</a:t>
            </a:r>
            <a:r>
              <a:rPr sz="1100" spc="-15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20%</a:t>
            </a:r>
            <a:endParaRPr sz="1100" dirty="0">
              <a:latin typeface="Microsoft Sans Serif"/>
              <a:cs typeface="Microsoft Sans Serif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654300" y="2699282"/>
            <a:ext cx="1904286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70"/>
              </a:lnSpc>
            </a:pPr>
            <a:r>
              <a:rPr sz="1100" b="1" spc="-50" dirty="0">
                <a:latin typeface="Tahoma"/>
                <a:cs typeface="Tahoma"/>
              </a:rPr>
              <a:t>Chuẩn</a:t>
            </a:r>
            <a:r>
              <a:rPr sz="1100" b="1" spc="-35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Tahoma"/>
                <a:cs typeface="Tahoma"/>
              </a:rPr>
              <a:t>hóa:</a:t>
            </a:r>
            <a:r>
              <a:rPr sz="1100" b="1" spc="30" dirty="0">
                <a:latin typeface="Tahoma"/>
                <a:cs typeface="Tahoma"/>
              </a:rPr>
              <a:t> </a:t>
            </a:r>
            <a:r>
              <a:rPr sz="1100" spc="-55" dirty="0">
                <a:latin typeface="Microsoft Sans Serif"/>
                <a:cs typeface="Microsoft Sans Serif"/>
              </a:rPr>
              <a:t>StandardScaler</a:t>
            </a:r>
            <a:endParaRPr sz="1100" dirty="0">
              <a:latin typeface="Microsoft Sans Serif"/>
              <a:cs typeface="Microsoft Sans Serif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8117" y="2913772"/>
            <a:ext cx="5504828" cy="3488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7795">
              <a:lnSpc>
                <a:spcPts val="1170"/>
              </a:lnSpc>
            </a:pPr>
            <a:r>
              <a:rPr sz="1100" b="1" dirty="0">
                <a:latin typeface="Tahoma"/>
                <a:cs typeface="Tahoma"/>
              </a:rPr>
              <a:t>Tinh</a:t>
            </a:r>
            <a:r>
              <a:rPr sz="1100" b="1" spc="-55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chỉnh: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6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2026</a:t>
            </a:r>
            <a:endParaRPr sz="600" dirty="0">
              <a:latin typeface="Microsoft Sans Serif"/>
              <a:cs typeface="Microsoft Sans Serif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Hiếu</a:t>
            </a:r>
            <a:r>
              <a:rPr spc="35" dirty="0"/>
              <a:t> </a:t>
            </a:r>
            <a:r>
              <a:rPr dirty="0">
                <a:latin typeface="Cambria"/>
                <a:cs typeface="Cambria"/>
              </a:rPr>
              <a:t>·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dirty="0"/>
              <a:t>Trọng</a:t>
            </a:r>
            <a:r>
              <a:rPr spc="35" dirty="0"/>
              <a:t> </a:t>
            </a:r>
            <a:r>
              <a:rPr dirty="0">
                <a:latin typeface="Cambria"/>
                <a:cs typeface="Cambria"/>
              </a:rPr>
              <a:t>·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dirty="0"/>
              <a:t>Quang</a:t>
            </a:r>
            <a:r>
              <a:rPr spc="245" dirty="0"/>
              <a:t> </a:t>
            </a:r>
            <a:r>
              <a:rPr dirty="0"/>
              <a:t>(ĐH</a:t>
            </a:r>
            <a:r>
              <a:rPr spc="40" dirty="0"/>
              <a:t> </a:t>
            </a:r>
            <a:r>
              <a:rPr spc="-10" dirty="0"/>
              <a:t>Phenikaa)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2441397" y="3122434"/>
            <a:ext cx="877569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5" action="ppaction://hlinksldjump"/>
              </a:rPr>
              <a:t>Cước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5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5" action="ppaction://hlinksldjump"/>
              </a:rPr>
              <a:t>phí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5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5" action="ppaction://hlinksldjump"/>
              </a:rPr>
              <a:t>Taxi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5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·</a:t>
            </a:r>
            <a:r>
              <a:rPr sz="600" spc="5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Microsoft Sans Serif"/>
                <a:cs typeface="Microsoft Sans Serif"/>
                <a:hlinkClick r:id="rId5" action="ppaction://hlinksldjump"/>
              </a:rPr>
              <a:t>Phenikaa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13</a:t>
            </a:fld>
            <a:r>
              <a:rPr spc="-45" dirty="0"/>
              <a:t> </a:t>
            </a:r>
            <a:r>
              <a:rPr spc="150" dirty="0"/>
              <a:t>/</a:t>
            </a:r>
            <a:r>
              <a:rPr spc="-45" dirty="0"/>
              <a:t> </a:t>
            </a: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Feature</a:t>
            </a:r>
            <a:r>
              <a:rPr spc="-20" dirty="0"/>
              <a:t> </a:t>
            </a:r>
            <a:r>
              <a:rPr spc="-80" dirty="0"/>
              <a:t>Importance</a:t>
            </a:r>
            <a:r>
              <a:rPr spc="-20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dirty="0"/>
              <a:t>Tầm</a:t>
            </a:r>
            <a:r>
              <a:rPr spc="-15" dirty="0"/>
              <a:t> </a:t>
            </a:r>
            <a:r>
              <a:rPr spc="-50" dirty="0"/>
              <a:t>quan</a:t>
            </a:r>
            <a:r>
              <a:rPr spc="-20" dirty="0"/>
              <a:t> </a:t>
            </a:r>
            <a:r>
              <a:rPr spc="-45" dirty="0"/>
              <a:t>trọng</a:t>
            </a:r>
            <a:r>
              <a:rPr spc="-20" dirty="0"/>
              <a:t> </a:t>
            </a:r>
            <a:r>
              <a:rPr spc="-25" dirty="0"/>
              <a:t>của</a:t>
            </a:r>
            <a:r>
              <a:rPr spc="-20" dirty="0"/>
              <a:t> </a:t>
            </a:r>
            <a:r>
              <a:rPr dirty="0"/>
              <a:t>Đặc</a:t>
            </a:r>
            <a:r>
              <a:rPr spc="-15" dirty="0"/>
              <a:t> </a:t>
            </a:r>
            <a:r>
              <a:rPr spc="-30" dirty="0"/>
              <a:t>trưng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3935" y="1125269"/>
            <a:ext cx="126809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411480" marR="5080" indent="-399415">
              <a:lnSpc>
                <a:spcPct val="102600"/>
              </a:lnSpc>
              <a:spcBef>
                <a:spcPts val="55"/>
              </a:spcBef>
            </a:pPr>
            <a:r>
              <a:rPr sz="1100" i="1" spc="-25" dirty="0">
                <a:solidFill>
                  <a:srgbClr val="6C747D"/>
                </a:solidFill>
                <a:latin typeface="Arial"/>
                <a:cs typeface="Arial"/>
              </a:rPr>
              <a:t>Biểu</a:t>
            </a:r>
            <a:r>
              <a:rPr sz="1100" i="1" spc="-50" dirty="0">
                <a:solidFill>
                  <a:srgbClr val="6C747D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6C747D"/>
                </a:solidFill>
                <a:latin typeface="Arial"/>
                <a:cs typeface="Arial"/>
              </a:rPr>
              <a:t>đồ</a:t>
            </a:r>
            <a:r>
              <a:rPr sz="1100" i="1" spc="-30" dirty="0">
                <a:solidFill>
                  <a:srgbClr val="6C747D"/>
                </a:solidFill>
                <a:latin typeface="Arial"/>
                <a:cs typeface="Arial"/>
              </a:rPr>
              <a:t> </a:t>
            </a:r>
            <a:r>
              <a:rPr sz="1100" i="1" spc="-135" dirty="0">
                <a:solidFill>
                  <a:srgbClr val="6C747D"/>
                </a:solidFill>
                <a:latin typeface="Arial"/>
                <a:cs typeface="Arial"/>
              </a:rPr>
              <a:t>sẽ</a:t>
            </a:r>
            <a:r>
              <a:rPr sz="1100" i="1" spc="55" dirty="0">
                <a:solidFill>
                  <a:srgbClr val="6C747D"/>
                </a:solidFill>
                <a:latin typeface="Arial"/>
                <a:cs typeface="Arial"/>
              </a:rPr>
              <a:t> </a:t>
            </a:r>
            <a:r>
              <a:rPr sz="1100" i="1" spc="-80" dirty="0">
                <a:solidFill>
                  <a:srgbClr val="6C747D"/>
                </a:solidFill>
                <a:latin typeface="Arial"/>
                <a:cs typeface="Arial"/>
              </a:rPr>
              <a:t>được</a:t>
            </a:r>
            <a:r>
              <a:rPr sz="1100" i="1" spc="5" dirty="0">
                <a:solidFill>
                  <a:srgbClr val="6C747D"/>
                </a:solidFill>
                <a:latin typeface="Arial"/>
                <a:cs typeface="Arial"/>
              </a:rPr>
              <a:t> </a:t>
            </a:r>
            <a:r>
              <a:rPr sz="1100" i="1" spc="-65" dirty="0">
                <a:solidFill>
                  <a:srgbClr val="6C747D"/>
                </a:solidFill>
                <a:latin typeface="Arial"/>
                <a:cs typeface="Arial"/>
              </a:rPr>
              <a:t>chèn </a:t>
            </a:r>
            <a:r>
              <a:rPr sz="1100" i="1" spc="-50" dirty="0">
                <a:solidFill>
                  <a:srgbClr val="6C747D"/>
                </a:solidFill>
                <a:latin typeface="Arial"/>
                <a:cs typeface="Arial"/>
              </a:rPr>
              <a:t>vào</a:t>
            </a:r>
            <a:r>
              <a:rPr sz="1100" i="1" spc="-20" dirty="0">
                <a:solidFill>
                  <a:srgbClr val="6C747D"/>
                </a:solidFill>
                <a:latin typeface="Arial"/>
                <a:cs typeface="Arial"/>
              </a:rPr>
              <a:t> </a:t>
            </a:r>
            <a:r>
              <a:rPr sz="1100" i="1" spc="-25" dirty="0">
                <a:solidFill>
                  <a:srgbClr val="6C747D"/>
                </a:solidFill>
                <a:latin typeface="Arial"/>
                <a:cs typeface="Arial"/>
              </a:rPr>
              <a:t>đây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2783" y="2218161"/>
            <a:ext cx="16192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10" dirty="0">
                <a:solidFill>
                  <a:srgbClr val="6C747D"/>
                </a:solidFill>
                <a:latin typeface="Arial"/>
                <a:cs typeface="Arial"/>
              </a:rPr>
              <a:t>Feature</a:t>
            </a:r>
            <a:r>
              <a:rPr sz="600" i="1" spc="30" dirty="0">
                <a:solidFill>
                  <a:srgbClr val="6C747D"/>
                </a:solidFill>
                <a:latin typeface="Arial"/>
                <a:cs typeface="Arial"/>
              </a:rPr>
              <a:t> </a:t>
            </a:r>
            <a:r>
              <a:rPr sz="600" i="1" spc="-10" dirty="0">
                <a:solidFill>
                  <a:srgbClr val="6C747D"/>
                </a:solidFill>
                <a:latin typeface="Arial"/>
                <a:cs typeface="Arial"/>
              </a:rPr>
              <a:t>Importance</a:t>
            </a:r>
            <a:r>
              <a:rPr sz="600" i="1" spc="30" dirty="0">
                <a:solidFill>
                  <a:srgbClr val="6C747D"/>
                </a:solidFill>
                <a:latin typeface="Arial"/>
                <a:cs typeface="Arial"/>
              </a:rPr>
              <a:t> </a:t>
            </a:r>
            <a:r>
              <a:rPr sz="600" i="1" dirty="0">
                <a:solidFill>
                  <a:srgbClr val="6C747D"/>
                </a:solidFill>
                <a:latin typeface="Arial"/>
                <a:cs typeface="Arial"/>
              </a:rPr>
              <a:t>từ</a:t>
            </a:r>
            <a:r>
              <a:rPr sz="600" i="1" spc="30" dirty="0">
                <a:solidFill>
                  <a:srgbClr val="6C747D"/>
                </a:solidFill>
                <a:latin typeface="Arial"/>
                <a:cs typeface="Arial"/>
              </a:rPr>
              <a:t> </a:t>
            </a:r>
            <a:r>
              <a:rPr sz="600" i="1" dirty="0">
                <a:solidFill>
                  <a:srgbClr val="6C747D"/>
                </a:solidFill>
                <a:latin typeface="Arial"/>
                <a:cs typeface="Arial"/>
              </a:rPr>
              <a:t>mô</a:t>
            </a:r>
            <a:r>
              <a:rPr sz="600" i="1" spc="30" dirty="0">
                <a:solidFill>
                  <a:srgbClr val="6C747D"/>
                </a:solidFill>
                <a:latin typeface="Arial"/>
                <a:cs typeface="Arial"/>
              </a:rPr>
              <a:t> </a:t>
            </a:r>
            <a:r>
              <a:rPr sz="600" i="1" dirty="0">
                <a:solidFill>
                  <a:srgbClr val="6C747D"/>
                </a:solidFill>
                <a:latin typeface="Arial"/>
                <a:cs typeface="Arial"/>
              </a:rPr>
              <a:t>hình</a:t>
            </a:r>
            <a:r>
              <a:rPr sz="600" i="1" spc="30" dirty="0">
                <a:solidFill>
                  <a:srgbClr val="6C747D"/>
                </a:solidFill>
                <a:latin typeface="Arial"/>
                <a:cs typeface="Arial"/>
              </a:rPr>
              <a:t> </a:t>
            </a:r>
            <a:r>
              <a:rPr sz="600" i="1" spc="-20" dirty="0">
                <a:solidFill>
                  <a:srgbClr val="6C747D"/>
                </a:solidFill>
                <a:latin typeface="Arial"/>
                <a:cs typeface="Arial"/>
              </a:rPr>
              <a:t>Random</a:t>
            </a:r>
            <a:r>
              <a:rPr sz="600" i="1" spc="25" dirty="0">
                <a:solidFill>
                  <a:srgbClr val="6C747D"/>
                </a:solidFill>
                <a:latin typeface="Arial"/>
                <a:cs typeface="Arial"/>
              </a:rPr>
              <a:t> </a:t>
            </a:r>
            <a:r>
              <a:rPr sz="600" i="1" spc="-10" dirty="0">
                <a:solidFill>
                  <a:srgbClr val="6C747D"/>
                </a:solidFill>
                <a:latin typeface="Arial"/>
                <a:cs typeface="Arial"/>
              </a:rPr>
              <a:t>Forest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1290" marR="493395" indent="-149225">
              <a:lnSpc>
                <a:spcPct val="108400"/>
              </a:lnSpc>
              <a:spcBef>
                <a:spcPts val="100"/>
              </a:spcBef>
              <a:buClr>
                <a:srgbClr val="197FA4"/>
              </a:buClr>
              <a:buFont typeface="Arial MT"/>
              <a:buChar char="•"/>
              <a:tabLst>
                <a:tab pos="161290" algn="l"/>
              </a:tabLst>
            </a:pPr>
            <a:r>
              <a:rPr lang="en-US" sz="1200" b="1" spc="-45" dirty="0" err="1">
                <a:latin typeface="Tahoma"/>
                <a:cs typeface="Tahoma"/>
              </a:rPr>
              <a:t>trip_distance</a:t>
            </a:r>
            <a:r>
              <a:rPr lang="en-US" sz="1200" b="1" spc="35" dirty="0">
                <a:latin typeface="Tahoma"/>
                <a:cs typeface="Tahoma"/>
              </a:rPr>
              <a:t> </a:t>
            </a:r>
            <a:r>
              <a:rPr lang="en-US" sz="1200" dirty="0">
                <a:latin typeface="Tahoma"/>
                <a:cs typeface="Tahoma"/>
              </a:rPr>
              <a:t>+</a:t>
            </a:r>
            <a:r>
              <a:rPr lang="en-US" sz="1200" spc="20" dirty="0">
                <a:latin typeface="Tahoma"/>
                <a:cs typeface="Tahoma"/>
              </a:rPr>
              <a:t> </a:t>
            </a:r>
            <a:r>
              <a:rPr lang="en-US" sz="1200" b="1" spc="-80" dirty="0">
                <a:latin typeface="Tahoma"/>
                <a:cs typeface="Tahoma"/>
              </a:rPr>
              <a:t>duration </a:t>
            </a:r>
            <a:r>
              <a:rPr lang="en-US" spc="-40" dirty="0" err="1"/>
              <a:t>chiếm</a:t>
            </a:r>
            <a:r>
              <a:rPr lang="en-US" spc="-35" dirty="0"/>
              <a:t> </a:t>
            </a:r>
            <a:r>
              <a:rPr lang="en-US" i="1" spc="-125" dirty="0">
                <a:solidFill>
                  <a:srgbClr val="197FA4"/>
                </a:solidFill>
                <a:latin typeface="Verdana"/>
                <a:cs typeface="Verdana"/>
              </a:rPr>
              <a:t>&gt;</a:t>
            </a:r>
            <a:r>
              <a:rPr lang="en-US" b="1" spc="-125" dirty="0">
                <a:solidFill>
                  <a:srgbClr val="197FA4"/>
                </a:solidFill>
                <a:latin typeface="Tahoma"/>
                <a:cs typeface="Tahoma"/>
              </a:rPr>
              <a:t>90%</a:t>
            </a:r>
            <a:r>
              <a:rPr lang="en-US" b="1" spc="40" dirty="0">
                <a:solidFill>
                  <a:srgbClr val="197FA4"/>
                </a:solidFill>
                <a:latin typeface="Tahoma"/>
                <a:cs typeface="Tahoma"/>
              </a:rPr>
              <a:t> </a:t>
            </a:r>
            <a:r>
              <a:rPr lang="en-US" dirty="0" err="1"/>
              <a:t>tổng</a:t>
            </a:r>
            <a:r>
              <a:rPr lang="en-US" spc="-15" dirty="0"/>
              <a:t> </a:t>
            </a:r>
            <a:r>
              <a:rPr lang="en-US" spc="-10" dirty="0"/>
              <a:t>Feature Importance</a:t>
            </a:r>
            <a:endParaRPr lang="en-US" sz="1200" dirty="0">
              <a:latin typeface="Tahoma"/>
              <a:cs typeface="Tahoma"/>
            </a:endParaRPr>
          </a:p>
          <a:p>
            <a:pPr marL="161290" marR="185420" indent="-149225">
              <a:lnSpc>
                <a:spcPct val="112999"/>
              </a:lnSpc>
              <a:spcBef>
                <a:spcPts val="635"/>
              </a:spcBef>
              <a:buClr>
                <a:srgbClr val="197FA4"/>
              </a:buClr>
              <a:buFont typeface="Arial MT"/>
              <a:buChar char="•"/>
              <a:tabLst>
                <a:tab pos="161290" algn="l"/>
              </a:tabLst>
            </a:pPr>
            <a:r>
              <a:rPr lang="en-US" sz="1200" b="1" spc="-55" dirty="0">
                <a:latin typeface="Tahoma"/>
                <a:cs typeface="Tahoma"/>
              </a:rPr>
              <a:t>payment</a:t>
            </a:r>
            <a:r>
              <a:rPr lang="vi-VN" sz="1200" b="1" spc="-55" dirty="0">
                <a:latin typeface="Tahoma"/>
                <a:cs typeface="Tahoma"/>
              </a:rPr>
              <a:t>_</a:t>
            </a:r>
            <a:r>
              <a:rPr lang="vi-VN" sz="1200" b="1" spc="-55" dirty="0" err="1">
                <a:latin typeface="Tahoma"/>
                <a:cs typeface="Tahoma"/>
              </a:rPr>
              <a:t>type</a:t>
            </a:r>
            <a:r>
              <a:rPr lang="vi-VN" sz="1200" spc="-55" dirty="0">
                <a:latin typeface="Tahoma"/>
                <a:cs typeface="Tahoma"/>
              </a:rPr>
              <a:t>:</a:t>
            </a:r>
            <a:r>
              <a:rPr lang="vi-VN" sz="1200" spc="65" dirty="0">
                <a:latin typeface="Tahoma"/>
                <a:cs typeface="Tahoma"/>
              </a:rPr>
              <a:t> </a:t>
            </a:r>
            <a:r>
              <a:rPr lang="vi-VN" sz="1200" spc="-55" dirty="0">
                <a:latin typeface="Tahoma"/>
                <a:cs typeface="Tahoma"/>
              </a:rPr>
              <a:t>ảnh</a:t>
            </a:r>
            <a:r>
              <a:rPr lang="vi-VN" sz="1200" spc="-25" dirty="0">
                <a:latin typeface="Tahoma"/>
                <a:cs typeface="Tahoma"/>
              </a:rPr>
              <a:t> </a:t>
            </a:r>
            <a:r>
              <a:rPr lang="vi-VN" sz="1200" spc="-90" dirty="0">
                <a:latin typeface="Tahoma"/>
                <a:cs typeface="Tahoma"/>
              </a:rPr>
              <a:t>hưởng</a:t>
            </a:r>
            <a:r>
              <a:rPr lang="vi-VN" sz="1200" spc="-5" dirty="0">
                <a:latin typeface="Tahoma"/>
                <a:cs typeface="Tahoma"/>
              </a:rPr>
              <a:t> </a:t>
            </a:r>
            <a:r>
              <a:rPr lang="vi-VN" sz="1200" spc="-90" dirty="0">
                <a:latin typeface="Tahoma"/>
                <a:cs typeface="Tahoma"/>
              </a:rPr>
              <a:t>yếu nhưng</a:t>
            </a:r>
            <a:r>
              <a:rPr lang="vi-VN" sz="1200" spc="-5" dirty="0">
                <a:latin typeface="Tahoma"/>
                <a:cs typeface="Tahoma"/>
              </a:rPr>
              <a:t> </a:t>
            </a:r>
            <a:r>
              <a:rPr lang="vi-VN" sz="1200" dirty="0">
                <a:latin typeface="Tahoma"/>
                <a:cs typeface="Tahoma"/>
              </a:rPr>
              <a:t>có</a:t>
            </a:r>
            <a:r>
              <a:rPr lang="vi-VN" sz="1200" spc="-45" dirty="0">
                <a:latin typeface="Tahoma"/>
                <a:cs typeface="Tahoma"/>
              </a:rPr>
              <a:t> </a:t>
            </a:r>
            <a:r>
              <a:rPr lang="vi-VN" sz="1200" dirty="0">
                <a:latin typeface="Tahoma"/>
                <a:cs typeface="Tahoma"/>
              </a:rPr>
              <a:t>ý</a:t>
            </a:r>
            <a:r>
              <a:rPr lang="vi-VN" sz="1200" spc="-30" dirty="0">
                <a:latin typeface="Tahoma"/>
                <a:cs typeface="Tahoma"/>
              </a:rPr>
              <a:t> </a:t>
            </a:r>
            <a:r>
              <a:rPr lang="vi-VN" sz="1200" spc="-65" dirty="0">
                <a:latin typeface="Tahoma"/>
                <a:cs typeface="Tahoma"/>
              </a:rPr>
              <a:t>nghĩa</a:t>
            </a:r>
            <a:r>
              <a:rPr lang="vi-VN" sz="1200" spc="-30" dirty="0">
                <a:latin typeface="Tahoma"/>
                <a:cs typeface="Tahoma"/>
              </a:rPr>
              <a:t> </a:t>
            </a:r>
            <a:r>
              <a:rPr lang="vi-VN" sz="1200" spc="-50" dirty="0" err="1">
                <a:latin typeface="Tahoma"/>
                <a:cs typeface="Tahoma"/>
              </a:rPr>
              <a:t>thốg</a:t>
            </a:r>
            <a:r>
              <a:rPr lang="vi-VN" sz="1200" spc="-25" dirty="0">
                <a:latin typeface="Tahoma"/>
                <a:cs typeface="Tahoma"/>
              </a:rPr>
              <a:t> kê</a:t>
            </a:r>
            <a:endParaRPr lang="vi-VN" sz="1200" dirty="0">
              <a:latin typeface="Tahoma"/>
              <a:cs typeface="Tahoma"/>
            </a:endParaRPr>
          </a:p>
          <a:p>
            <a:pPr marL="161290" marR="5080" indent="-149225">
              <a:lnSpc>
                <a:spcPct val="112999"/>
              </a:lnSpc>
              <a:spcBef>
                <a:spcPts val="610"/>
              </a:spcBef>
              <a:buClr>
                <a:srgbClr val="197FA4"/>
              </a:buClr>
              <a:buFont typeface="Arial MT"/>
              <a:buChar char="•"/>
              <a:tabLst>
                <a:tab pos="161290" algn="l"/>
              </a:tabLst>
            </a:pPr>
            <a:r>
              <a:rPr lang="vi-VN" sz="1200" b="1" spc="-60" dirty="0" err="1">
                <a:latin typeface="Tahoma"/>
                <a:cs typeface="Tahoma"/>
              </a:rPr>
              <a:t>passenger_count</a:t>
            </a:r>
            <a:r>
              <a:rPr lang="vi-VN" sz="1200" spc="-60" dirty="0">
                <a:latin typeface="Tahoma"/>
                <a:cs typeface="Tahoma"/>
              </a:rPr>
              <a:t>:</a:t>
            </a:r>
            <a:r>
              <a:rPr lang="vi-VN" sz="1200" spc="65" dirty="0">
                <a:latin typeface="Tahoma"/>
                <a:cs typeface="Tahoma"/>
              </a:rPr>
              <a:t> </a:t>
            </a:r>
            <a:r>
              <a:rPr lang="vi-VN" sz="1200" spc="-85" dirty="0">
                <a:latin typeface="Tahoma"/>
                <a:cs typeface="Tahoma"/>
              </a:rPr>
              <a:t>gần</a:t>
            </a:r>
            <a:r>
              <a:rPr lang="vi-VN" sz="1200" spc="-10" dirty="0">
                <a:latin typeface="Tahoma"/>
                <a:cs typeface="Tahoma"/>
              </a:rPr>
              <a:t> </a:t>
            </a:r>
            <a:r>
              <a:rPr lang="vi-VN" sz="1200" spc="-100" dirty="0">
                <a:latin typeface="Tahoma"/>
                <a:cs typeface="Tahoma"/>
              </a:rPr>
              <a:t>như</a:t>
            </a:r>
            <a:r>
              <a:rPr lang="vi-VN" sz="1200" spc="-10" dirty="0">
                <a:latin typeface="Tahoma"/>
                <a:cs typeface="Tahoma"/>
              </a:rPr>
              <a:t> </a:t>
            </a:r>
            <a:r>
              <a:rPr lang="vi-VN" sz="1200" spc="-65" dirty="0">
                <a:latin typeface="Tahoma"/>
                <a:cs typeface="Tahoma"/>
              </a:rPr>
              <a:t>không </a:t>
            </a:r>
            <a:r>
              <a:rPr lang="vi-VN" sz="1200" dirty="0">
                <a:latin typeface="Tahoma"/>
                <a:cs typeface="Tahoma"/>
              </a:rPr>
              <a:t>có</a:t>
            </a:r>
            <a:r>
              <a:rPr lang="vi-VN" sz="1200" spc="-45" dirty="0">
                <a:latin typeface="Tahoma"/>
                <a:cs typeface="Tahoma"/>
              </a:rPr>
              <a:t> </a:t>
            </a:r>
            <a:r>
              <a:rPr lang="vi-VN" sz="1200" spc="-55" dirty="0">
                <a:latin typeface="Tahoma"/>
                <a:cs typeface="Tahoma"/>
              </a:rPr>
              <a:t>ảnh</a:t>
            </a:r>
            <a:r>
              <a:rPr lang="vi-VN" sz="1200" spc="-20" dirty="0">
                <a:latin typeface="Tahoma"/>
                <a:cs typeface="Tahoma"/>
              </a:rPr>
              <a:t> </a:t>
            </a:r>
            <a:r>
              <a:rPr lang="vi-VN" sz="1200" spc="-90" dirty="0">
                <a:latin typeface="Tahoma"/>
                <a:cs typeface="Tahoma"/>
              </a:rPr>
              <a:t>hưởng</a:t>
            </a:r>
            <a:r>
              <a:rPr lang="vi-VN" sz="1200" spc="-5" dirty="0">
                <a:latin typeface="Tahoma"/>
                <a:cs typeface="Tahoma"/>
              </a:rPr>
              <a:t> </a:t>
            </a:r>
            <a:r>
              <a:rPr lang="vi-VN" sz="1200" spc="-70" dirty="0">
                <a:latin typeface="Tahoma"/>
                <a:cs typeface="Tahoma"/>
              </a:rPr>
              <a:t>tuyến</a:t>
            </a:r>
            <a:r>
              <a:rPr lang="vi-VN" sz="1200" spc="-25" dirty="0">
                <a:latin typeface="Tahoma"/>
                <a:cs typeface="Tahoma"/>
              </a:rPr>
              <a:t> </a:t>
            </a:r>
            <a:r>
              <a:rPr lang="vi-VN" sz="1200" spc="-20" dirty="0">
                <a:latin typeface="Tahoma"/>
                <a:cs typeface="Tahoma"/>
              </a:rPr>
              <a:t>tính</a:t>
            </a:r>
            <a:endParaRPr lang="vi-VN" sz="1200" dirty="0">
              <a:latin typeface="Tahoma"/>
              <a:cs typeface="Tahoma"/>
            </a:endParaRPr>
          </a:p>
          <a:p>
            <a:pPr marL="161290">
              <a:lnSpc>
                <a:spcPct val="100000"/>
              </a:lnSpc>
              <a:spcBef>
                <a:spcPts val="5"/>
              </a:spcBef>
            </a:pPr>
            <a:r>
              <a:rPr lang="en-US" sz="1200" dirty="0">
                <a:latin typeface="Tahoma"/>
                <a:cs typeface="Tahoma"/>
              </a:rPr>
              <a:t>(</a:t>
            </a:r>
            <a:r>
              <a:rPr lang="en-US" sz="1200" i="1" dirty="0">
                <a:latin typeface="Arial"/>
                <a:cs typeface="Arial"/>
              </a:rPr>
              <a:t>r</a:t>
            </a:r>
            <a:r>
              <a:rPr lang="en-US" sz="1200" i="1" spc="45" dirty="0">
                <a:latin typeface="Arial"/>
                <a:cs typeface="Arial"/>
              </a:rPr>
              <a:t> </a:t>
            </a:r>
            <a:r>
              <a:rPr lang="en-US" sz="1200" spc="-35" dirty="0">
                <a:latin typeface="Lucida Sans Unicode"/>
                <a:cs typeface="Lucida Sans Unicode"/>
              </a:rPr>
              <a:t>≈</a:t>
            </a:r>
            <a:r>
              <a:rPr lang="en-US" sz="1200" spc="-114" dirty="0">
                <a:latin typeface="Lucida Sans Unicode"/>
                <a:cs typeface="Lucida Sans Unicode"/>
              </a:rPr>
              <a:t> </a:t>
            </a:r>
            <a:r>
              <a:rPr lang="en-US" sz="1200" spc="-10" dirty="0">
                <a:latin typeface="Lucida Sans Unicode"/>
                <a:cs typeface="Lucida Sans Unicode"/>
              </a:rPr>
              <a:t>−</a:t>
            </a:r>
            <a:r>
              <a:rPr lang="en-US" sz="1200" spc="-10" dirty="0">
                <a:latin typeface="Tahoma"/>
                <a:cs typeface="Tahoma"/>
              </a:rPr>
              <a:t>0</a:t>
            </a:r>
            <a:r>
              <a:rPr lang="en-US" sz="1200" i="1" spc="-10" dirty="0">
                <a:latin typeface="Verdana"/>
                <a:cs typeface="Verdana"/>
              </a:rPr>
              <a:t>.</a:t>
            </a:r>
            <a:r>
              <a:rPr lang="en-US" sz="1200" spc="-10" dirty="0">
                <a:latin typeface="Tahoma"/>
                <a:cs typeface="Tahoma"/>
              </a:rPr>
              <a:t>01)</a:t>
            </a:r>
            <a:endParaRPr lang="en-US" sz="1200" dirty="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111614" y="2686948"/>
            <a:ext cx="2513330" cy="553085"/>
            <a:chOff x="3111614" y="2686948"/>
            <a:chExt cx="2513330" cy="553085"/>
          </a:xfrm>
        </p:grpSpPr>
        <p:sp>
          <p:nvSpPr>
            <p:cNvPr id="10" name="object 10"/>
            <p:cNvSpPr/>
            <p:nvPr/>
          </p:nvSpPr>
          <p:spPr>
            <a:xfrm>
              <a:off x="3111614" y="2686948"/>
              <a:ext cx="2513330" cy="553085"/>
            </a:xfrm>
            <a:custGeom>
              <a:avLst/>
              <a:gdLst/>
              <a:ahLst/>
              <a:cxnLst/>
              <a:rect l="l" t="t" r="r" b="b"/>
              <a:pathLst>
                <a:path w="2513329" h="553085">
                  <a:moveTo>
                    <a:pt x="2434481" y="0"/>
                  </a:moveTo>
                  <a:lnTo>
                    <a:pt x="78446" y="0"/>
                  </a:lnTo>
                  <a:lnTo>
                    <a:pt x="47911" y="6164"/>
                  </a:lnTo>
                  <a:lnTo>
                    <a:pt x="22976" y="22976"/>
                  </a:lnTo>
                  <a:lnTo>
                    <a:pt x="6164" y="47911"/>
                  </a:lnTo>
                  <a:lnTo>
                    <a:pt x="0" y="78446"/>
                  </a:lnTo>
                  <a:lnTo>
                    <a:pt x="0" y="553050"/>
                  </a:lnTo>
                  <a:lnTo>
                    <a:pt x="2512928" y="553050"/>
                  </a:lnTo>
                  <a:lnTo>
                    <a:pt x="2512928" y="78446"/>
                  </a:lnTo>
                  <a:lnTo>
                    <a:pt x="2506763" y="47911"/>
                  </a:lnTo>
                  <a:lnTo>
                    <a:pt x="2489951" y="22976"/>
                  </a:lnTo>
                  <a:lnTo>
                    <a:pt x="2465016" y="6164"/>
                  </a:lnTo>
                  <a:lnTo>
                    <a:pt x="2434481" y="0"/>
                  </a:lnTo>
                  <a:close/>
                </a:path>
              </a:pathLst>
            </a:custGeom>
            <a:solidFill>
              <a:srgbClr val="F0A5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26797" y="2702131"/>
              <a:ext cx="2482850" cy="538480"/>
            </a:xfrm>
            <a:custGeom>
              <a:avLst/>
              <a:gdLst/>
              <a:ahLst/>
              <a:cxnLst/>
              <a:rect l="l" t="t" r="r" b="b"/>
              <a:pathLst>
                <a:path w="2482850" h="538480">
                  <a:moveTo>
                    <a:pt x="2419298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537867"/>
                  </a:lnTo>
                  <a:lnTo>
                    <a:pt x="2482561" y="537867"/>
                  </a:lnTo>
                  <a:lnTo>
                    <a:pt x="2482561" y="63263"/>
                  </a:lnTo>
                  <a:lnTo>
                    <a:pt x="2477590" y="38638"/>
                  </a:lnTo>
                  <a:lnTo>
                    <a:pt x="2464032" y="18529"/>
                  </a:lnTo>
                  <a:lnTo>
                    <a:pt x="2443923" y="4971"/>
                  </a:lnTo>
                  <a:lnTo>
                    <a:pt x="2419298" y="0"/>
                  </a:lnTo>
                  <a:close/>
                </a:path>
              </a:pathLst>
            </a:custGeom>
            <a:solidFill>
              <a:srgbClr val="FCF1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226015" y="2748718"/>
            <a:ext cx="1606550" cy="39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400"/>
              </a:lnSpc>
              <a:spcBef>
                <a:spcPts val="100"/>
              </a:spcBef>
            </a:pPr>
            <a:r>
              <a:rPr sz="1000" b="1" spc="-10" dirty="0">
                <a:latin typeface="Tahoma"/>
                <a:cs typeface="Tahoma"/>
              </a:rPr>
              <a:t>Tồn</a:t>
            </a:r>
            <a:r>
              <a:rPr sz="1000" b="1" spc="-40" dirty="0">
                <a:latin typeface="Tahoma"/>
                <a:cs typeface="Tahoma"/>
              </a:rPr>
              <a:t> </a:t>
            </a:r>
            <a:r>
              <a:rPr sz="1000" b="1" spc="-10" dirty="0">
                <a:latin typeface="Tahoma"/>
                <a:cs typeface="Tahoma"/>
              </a:rPr>
              <a:t>tại</a:t>
            </a:r>
            <a:r>
              <a:rPr sz="1000" b="1" spc="-30" dirty="0">
                <a:latin typeface="Tahoma"/>
                <a:cs typeface="Tahoma"/>
              </a:rPr>
              <a:t> </a:t>
            </a:r>
            <a:r>
              <a:rPr sz="1000" b="1" spc="-50" dirty="0">
                <a:latin typeface="Tahoma"/>
                <a:cs typeface="Tahoma"/>
              </a:rPr>
              <a:t>giá</a:t>
            </a:r>
            <a:r>
              <a:rPr sz="1000" b="1" spc="-20" dirty="0">
                <a:latin typeface="Tahoma"/>
                <a:cs typeface="Tahoma"/>
              </a:rPr>
              <a:t> </a:t>
            </a:r>
            <a:r>
              <a:rPr sz="1000" b="1" spc="-45" dirty="0">
                <a:latin typeface="Tahoma"/>
                <a:cs typeface="Tahoma"/>
              </a:rPr>
              <a:t>mở</a:t>
            </a:r>
            <a:r>
              <a:rPr sz="1000" b="1" spc="-25" dirty="0">
                <a:latin typeface="Tahoma"/>
                <a:cs typeface="Tahoma"/>
              </a:rPr>
              <a:t> </a:t>
            </a:r>
            <a:r>
              <a:rPr sz="1000" b="1" spc="-45" dirty="0">
                <a:latin typeface="Tahoma"/>
                <a:cs typeface="Tahoma"/>
              </a:rPr>
              <a:t>cửa</a:t>
            </a:r>
            <a:r>
              <a:rPr sz="1000" b="1" spc="-30" dirty="0">
                <a:latin typeface="Tahoma"/>
                <a:cs typeface="Tahoma"/>
              </a:rPr>
              <a:t> </a:t>
            </a:r>
            <a:r>
              <a:rPr sz="1000" b="1" dirty="0">
                <a:latin typeface="Tahoma"/>
                <a:cs typeface="Tahoma"/>
              </a:rPr>
              <a:t>cố</a:t>
            </a:r>
            <a:r>
              <a:rPr sz="1000" b="1" spc="-25" dirty="0">
                <a:latin typeface="Tahoma"/>
                <a:cs typeface="Tahoma"/>
              </a:rPr>
              <a:t> </a:t>
            </a:r>
            <a:r>
              <a:rPr sz="1000" b="1" spc="-50" dirty="0">
                <a:latin typeface="Tahoma"/>
                <a:cs typeface="Tahoma"/>
              </a:rPr>
              <a:t>định </a:t>
            </a:r>
            <a:r>
              <a:rPr sz="1000" b="1" spc="-35" dirty="0">
                <a:latin typeface="Tahoma"/>
                <a:cs typeface="Tahoma"/>
              </a:rPr>
              <a:t>(Base</a:t>
            </a:r>
            <a:r>
              <a:rPr sz="1000" b="1" dirty="0">
                <a:latin typeface="Tahoma"/>
                <a:cs typeface="Tahoma"/>
              </a:rPr>
              <a:t> </a:t>
            </a:r>
            <a:r>
              <a:rPr sz="1000" b="1" spc="-55" dirty="0">
                <a:latin typeface="Tahoma"/>
                <a:cs typeface="Tahoma"/>
              </a:rPr>
              <a:t>Fare</a:t>
            </a:r>
            <a:r>
              <a:rPr sz="1000" b="1" spc="5" dirty="0">
                <a:latin typeface="Tahoma"/>
                <a:cs typeface="Tahoma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≥</a:t>
            </a:r>
            <a:r>
              <a:rPr sz="1000" spc="-25" dirty="0">
                <a:latin typeface="Lucida Sans Unicode"/>
                <a:cs typeface="Lucida Sans Unicode"/>
              </a:rPr>
              <a:t> </a:t>
            </a:r>
            <a:r>
              <a:rPr sz="1000" b="1" spc="-35" dirty="0">
                <a:latin typeface="Tahoma"/>
                <a:cs typeface="Tahoma"/>
              </a:rPr>
              <a:t>2,5</a:t>
            </a:r>
            <a:r>
              <a:rPr sz="1000" b="1" spc="5" dirty="0">
                <a:latin typeface="Tahoma"/>
                <a:cs typeface="Tahoma"/>
              </a:rPr>
              <a:t> </a:t>
            </a:r>
            <a:r>
              <a:rPr sz="1000" b="1" spc="-20" dirty="0">
                <a:latin typeface="Tahoma"/>
                <a:cs typeface="Tahoma"/>
              </a:rPr>
              <a:t>USD)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-3" y="3130372"/>
            <a:ext cx="5760085" cy="109855"/>
            <a:chOff x="-3" y="3130372"/>
            <a:chExt cx="5760085" cy="109855"/>
          </a:xfrm>
        </p:grpSpPr>
        <p:sp>
          <p:nvSpPr>
            <p:cNvPr id="14" name="object 14"/>
            <p:cNvSpPr/>
            <p:nvPr/>
          </p:nvSpPr>
          <p:spPr>
            <a:xfrm>
              <a:off x="0" y="3130372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26"/>
                  </a:lnTo>
                  <a:lnTo>
                    <a:pt x="1919973" y="10962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7F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19973" y="3130372"/>
              <a:ext cx="3840479" cy="109855"/>
            </a:xfrm>
            <a:custGeom>
              <a:avLst/>
              <a:gdLst/>
              <a:ahLst/>
              <a:cxnLst/>
              <a:rect l="l" t="t" r="r" b="b"/>
              <a:pathLst>
                <a:path w="3840479" h="109855">
                  <a:moveTo>
                    <a:pt x="3839934" y="0"/>
                  </a:moveTo>
                  <a:lnTo>
                    <a:pt x="1919973" y="0"/>
                  </a:lnTo>
                  <a:lnTo>
                    <a:pt x="0" y="0"/>
                  </a:lnTo>
                  <a:lnTo>
                    <a:pt x="0" y="109626"/>
                  </a:lnTo>
                  <a:lnTo>
                    <a:pt x="1919960" y="109626"/>
                  </a:lnTo>
                  <a:lnTo>
                    <a:pt x="3839934" y="109626"/>
                  </a:lnTo>
                  <a:lnTo>
                    <a:pt x="3839934" y="0"/>
                  </a:lnTo>
                  <a:close/>
                </a:path>
              </a:pathLst>
            </a:custGeom>
            <a:solidFill>
              <a:srgbClr val="0C2B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-3" y="3214693"/>
              <a:ext cx="0" cy="25400"/>
            </a:xfrm>
            <a:custGeom>
              <a:avLst/>
              <a:gdLst/>
              <a:ahLst/>
              <a:cxnLst/>
              <a:rect l="l" t="t" r="r" b="b"/>
              <a:pathLst>
                <a:path h="25400">
                  <a:moveTo>
                    <a:pt x="0" y="25305"/>
                  </a:moveTo>
                  <a:lnTo>
                    <a:pt x="0" y="0"/>
                  </a:lnTo>
                  <a:lnTo>
                    <a:pt x="0" y="25305"/>
                  </a:lnTo>
                  <a:close/>
                </a:path>
                <a:path h="25400">
                  <a:moveTo>
                    <a:pt x="0" y="0"/>
                  </a:moveTo>
                </a:path>
              </a:pathLst>
            </a:custGeom>
            <a:solidFill>
              <a:srgbClr val="A3CB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Hiếu</a:t>
            </a:r>
            <a:r>
              <a:rPr spc="35" dirty="0"/>
              <a:t> </a:t>
            </a:r>
            <a:r>
              <a:rPr dirty="0">
                <a:latin typeface="Cambria"/>
                <a:cs typeface="Cambria"/>
              </a:rPr>
              <a:t>·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dirty="0"/>
              <a:t>Trọng</a:t>
            </a:r>
            <a:r>
              <a:rPr spc="35" dirty="0"/>
              <a:t> </a:t>
            </a:r>
            <a:r>
              <a:rPr dirty="0">
                <a:latin typeface="Cambria"/>
                <a:cs typeface="Cambria"/>
              </a:rPr>
              <a:t>·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dirty="0"/>
              <a:t>Quang</a:t>
            </a:r>
            <a:r>
              <a:rPr spc="245" dirty="0"/>
              <a:t> </a:t>
            </a:r>
            <a:r>
              <a:rPr dirty="0"/>
              <a:t>(ĐH</a:t>
            </a:r>
            <a:r>
              <a:rPr spc="40" dirty="0"/>
              <a:t> </a:t>
            </a:r>
            <a:r>
              <a:rPr spc="-10" dirty="0"/>
              <a:t>Phenikaa)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441397" y="3122434"/>
            <a:ext cx="877569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Cước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phí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Taxi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·</a:t>
            </a:r>
            <a:r>
              <a:rPr sz="600" spc="55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Phenikaa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20" dirty="0"/>
              <a:t>2026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451283" y="3135795"/>
            <a:ext cx="25400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14</a:t>
            </a:r>
            <a:r>
              <a:rPr sz="6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00" spc="150" dirty="0">
                <a:solidFill>
                  <a:srgbClr val="FFFFFF"/>
                </a:solidFill>
                <a:latin typeface="Microsoft Sans Serif"/>
                <a:cs typeface="Microsoft Sans Serif"/>
              </a:rPr>
              <a:t>/</a:t>
            </a:r>
            <a:r>
              <a:rPr sz="6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19</a:t>
            </a:r>
            <a:endParaRPr sz="600">
              <a:latin typeface="Microsoft Sans Serif"/>
              <a:cs typeface="Microsoft Sans Serif"/>
            </a:endParaRPr>
          </a:p>
        </p:txBody>
      </p:sp>
      <p:pic>
        <p:nvPicPr>
          <p:cNvPr id="22" name="Hình ảnh 21">
            <a:extLst>
              <a:ext uri="{FF2B5EF4-FFF2-40B4-BE49-F238E27FC236}">
                <a16:creationId xmlns:a16="http://schemas.microsoft.com/office/drawing/2014/main" id="{1605BE66-BDDB-8E0B-88B6-B08E10CB6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00" y="619656"/>
            <a:ext cx="2734715" cy="141006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7363"/>
            <a:ext cx="22872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Chỉ</a:t>
            </a:r>
            <a:r>
              <a:rPr spc="-35" dirty="0"/>
              <a:t> </a:t>
            </a:r>
            <a:r>
              <a:rPr spc="-20" dirty="0"/>
              <a:t>số</a:t>
            </a:r>
            <a:r>
              <a:rPr spc="-40" dirty="0"/>
              <a:t> </a:t>
            </a:r>
            <a:r>
              <a:rPr spc="-10" dirty="0"/>
              <a:t>Đánh</a:t>
            </a:r>
            <a:r>
              <a:rPr spc="-35" dirty="0"/>
              <a:t> </a:t>
            </a:r>
            <a:r>
              <a:rPr spc="-30" dirty="0"/>
              <a:t>giá</a:t>
            </a:r>
            <a:r>
              <a:rPr spc="-40" dirty="0"/>
              <a:t> </a:t>
            </a:r>
            <a:r>
              <a:rPr spc="-20" dirty="0"/>
              <a:t>Hiệu</a:t>
            </a:r>
            <a:r>
              <a:rPr spc="-35" dirty="0"/>
              <a:t> </a:t>
            </a:r>
            <a:r>
              <a:rPr spc="-65" dirty="0"/>
              <a:t>năng</a:t>
            </a:r>
          </a:p>
        </p:txBody>
      </p:sp>
      <p:sp>
        <p:nvSpPr>
          <p:cNvPr id="3" name="object 3"/>
          <p:cNvSpPr/>
          <p:nvPr/>
        </p:nvSpPr>
        <p:spPr>
          <a:xfrm>
            <a:off x="121144" y="664031"/>
            <a:ext cx="2724150" cy="213360"/>
          </a:xfrm>
          <a:custGeom>
            <a:avLst/>
            <a:gdLst/>
            <a:ahLst/>
            <a:cxnLst/>
            <a:rect l="l" t="t" r="r" b="b"/>
            <a:pathLst>
              <a:path w="2724150" h="213359">
                <a:moveTo>
                  <a:pt x="267292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2957"/>
                </a:lnTo>
                <a:lnTo>
                  <a:pt x="2723725" y="212957"/>
                </a:lnTo>
                <a:lnTo>
                  <a:pt x="2723725" y="50800"/>
                </a:lnTo>
                <a:lnTo>
                  <a:pt x="2719716" y="31075"/>
                </a:lnTo>
                <a:lnTo>
                  <a:pt x="2708802" y="14922"/>
                </a:lnTo>
                <a:lnTo>
                  <a:pt x="2692649" y="4008"/>
                </a:lnTo>
                <a:lnTo>
                  <a:pt x="2672924" y="0"/>
                </a:lnTo>
                <a:close/>
              </a:path>
            </a:pathLst>
          </a:custGeom>
          <a:solidFill>
            <a:srgbClr val="197F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1945" y="690587"/>
            <a:ext cx="2407920" cy="187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b="1" spc="85" dirty="0">
                <a:solidFill>
                  <a:srgbClr val="FFFFFF"/>
                </a:solidFill>
                <a:latin typeface="Tahoma"/>
                <a:cs typeface="Tahoma"/>
              </a:rPr>
              <a:t>MAE</a:t>
            </a:r>
            <a:r>
              <a:rPr sz="1400" b="1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/>
                <a:cs typeface="Tahoma"/>
              </a:rPr>
              <a:t>–</a:t>
            </a:r>
            <a:r>
              <a:rPr sz="1400" b="1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/>
                <a:cs typeface="Tahoma"/>
              </a:rPr>
              <a:t>Mean</a:t>
            </a:r>
            <a:r>
              <a:rPr sz="1400" b="1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45" dirty="0">
                <a:solidFill>
                  <a:srgbClr val="FFFFFF"/>
                </a:solidFill>
                <a:latin typeface="Tahoma"/>
                <a:cs typeface="Tahoma"/>
              </a:rPr>
              <a:t>Absolute</a:t>
            </a:r>
            <a:r>
              <a:rPr sz="1400" b="1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55" dirty="0">
                <a:solidFill>
                  <a:srgbClr val="FFFFFF"/>
                </a:solidFill>
                <a:latin typeface="Tahoma"/>
                <a:cs typeface="Tahoma"/>
              </a:rPr>
              <a:t>Error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14477" y="881472"/>
            <a:ext cx="2724150" cy="789125"/>
            <a:chOff x="121144" y="864336"/>
            <a:chExt cx="2724150" cy="78912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144" y="864336"/>
              <a:ext cx="2723725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21144" y="908606"/>
              <a:ext cx="2724150" cy="744855"/>
            </a:xfrm>
            <a:custGeom>
              <a:avLst/>
              <a:gdLst/>
              <a:ahLst/>
              <a:cxnLst/>
              <a:rect l="l" t="t" r="r" b="b"/>
              <a:pathLst>
                <a:path w="2724150" h="744855">
                  <a:moveTo>
                    <a:pt x="2723725" y="0"/>
                  </a:moveTo>
                  <a:lnTo>
                    <a:pt x="0" y="0"/>
                  </a:lnTo>
                  <a:lnTo>
                    <a:pt x="0" y="693841"/>
                  </a:lnTo>
                  <a:lnTo>
                    <a:pt x="4008" y="713565"/>
                  </a:lnTo>
                  <a:lnTo>
                    <a:pt x="14922" y="729718"/>
                  </a:lnTo>
                  <a:lnTo>
                    <a:pt x="31075" y="740633"/>
                  </a:lnTo>
                  <a:lnTo>
                    <a:pt x="50800" y="744641"/>
                  </a:lnTo>
                  <a:lnTo>
                    <a:pt x="2672924" y="744641"/>
                  </a:lnTo>
                  <a:lnTo>
                    <a:pt x="2692649" y="740633"/>
                  </a:lnTo>
                  <a:lnTo>
                    <a:pt x="2708802" y="729718"/>
                  </a:lnTo>
                  <a:lnTo>
                    <a:pt x="2719716" y="713565"/>
                  </a:lnTo>
                  <a:lnTo>
                    <a:pt x="2723725" y="693841"/>
                  </a:lnTo>
                  <a:lnTo>
                    <a:pt x="2723725" y="0"/>
                  </a:lnTo>
                  <a:close/>
                </a:path>
              </a:pathLst>
            </a:custGeom>
            <a:solidFill>
              <a:srgbClr val="D6E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348346" y="907285"/>
            <a:ext cx="8699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200" spc="-50" dirty="0">
                <a:solidFill>
                  <a:srgbClr val="1B1B2D"/>
                </a:solidFill>
                <a:latin typeface="Tahoma"/>
                <a:cs typeface="Tahoma"/>
              </a:rPr>
              <a:t>1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345755" y="1136637"/>
            <a:ext cx="80010" cy="0"/>
          </a:xfrm>
          <a:custGeom>
            <a:avLst/>
            <a:gdLst/>
            <a:ahLst/>
            <a:cxnLst/>
            <a:rect l="l" t="t" r="r" b="b"/>
            <a:pathLst>
              <a:path w="80009">
                <a:moveTo>
                  <a:pt x="0" y="0"/>
                </a:moveTo>
                <a:lnTo>
                  <a:pt x="79502" y="0"/>
                </a:lnTo>
              </a:path>
            </a:pathLst>
          </a:custGeom>
          <a:ln w="6070">
            <a:solidFill>
              <a:srgbClr val="1B1B2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20418" y="885794"/>
            <a:ext cx="7366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900" i="1" spc="-50" dirty="0">
                <a:solidFill>
                  <a:srgbClr val="1B1B2D"/>
                </a:solidFill>
                <a:latin typeface="Franklin Gothic Medium"/>
                <a:cs typeface="Franklin Gothic Medium"/>
              </a:rPr>
              <a:t>n</a:t>
            </a:r>
            <a:endParaRPr sz="900">
              <a:latin typeface="Franklin Gothic Medium"/>
              <a:cs typeface="Franklin Gothic Medium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06348" y="943263"/>
            <a:ext cx="136652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  <a:tabLst>
                <a:tab pos="666750" algn="l"/>
              </a:tabLst>
            </a:pPr>
            <a:r>
              <a:rPr sz="1200" dirty="0">
                <a:solidFill>
                  <a:srgbClr val="1B1B2D"/>
                </a:solidFill>
                <a:latin typeface="Tahoma"/>
                <a:cs typeface="Tahoma"/>
              </a:rPr>
              <a:t>MAE</a:t>
            </a:r>
            <a:r>
              <a:rPr sz="1200" spc="2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1B1B2D"/>
                </a:solidFill>
                <a:latin typeface="Tahoma"/>
                <a:cs typeface="Tahoma"/>
              </a:rPr>
              <a:t>=</a:t>
            </a:r>
            <a:r>
              <a:rPr sz="1200" dirty="0">
                <a:solidFill>
                  <a:srgbClr val="1B1B2D"/>
                </a:solidFill>
                <a:latin typeface="Tahoma"/>
                <a:cs typeface="Tahoma"/>
              </a:rPr>
              <a:t>	</a:t>
            </a:r>
            <a:r>
              <a:rPr sz="2550" baseline="-8169" dirty="0">
                <a:solidFill>
                  <a:srgbClr val="1B1B2D"/>
                </a:solidFill>
                <a:latin typeface="Cambria"/>
                <a:cs typeface="Cambria"/>
              </a:rPr>
              <a:t>∑</a:t>
            </a:r>
            <a:r>
              <a:rPr sz="2550" spc="-172" baseline="-8169" dirty="0">
                <a:solidFill>
                  <a:srgbClr val="1B1B2D"/>
                </a:solidFill>
                <a:latin typeface="Cambria"/>
                <a:cs typeface="Cambria"/>
              </a:rPr>
              <a:t> </a:t>
            </a:r>
            <a:r>
              <a:rPr sz="1200" spc="-40" dirty="0">
                <a:solidFill>
                  <a:srgbClr val="1B1B2D"/>
                </a:solidFill>
                <a:latin typeface="Lucida Sans Unicode"/>
                <a:cs typeface="Lucida Sans Unicode"/>
              </a:rPr>
              <a:t>|</a:t>
            </a:r>
            <a:r>
              <a:rPr sz="1200" i="1" spc="-40" dirty="0">
                <a:solidFill>
                  <a:srgbClr val="1B1B2D"/>
                </a:solidFill>
                <a:latin typeface="Arial"/>
                <a:cs typeface="Arial"/>
              </a:rPr>
              <a:t>y</a:t>
            </a:r>
            <a:r>
              <a:rPr sz="1350" i="1" spc="-60" baseline="-12345" dirty="0">
                <a:solidFill>
                  <a:srgbClr val="1B1B2D"/>
                </a:solidFill>
                <a:latin typeface="Franklin Gothic Medium"/>
                <a:cs typeface="Franklin Gothic Medium"/>
              </a:rPr>
              <a:t>i</a:t>
            </a:r>
            <a:r>
              <a:rPr sz="1350" i="1" spc="75" baseline="-12345" dirty="0">
                <a:solidFill>
                  <a:srgbClr val="1B1B2D"/>
                </a:solidFill>
                <a:latin typeface="Franklin Gothic Medium"/>
                <a:cs typeface="Franklin Gothic Medium"/>
              </a:rPr>
              <a:t> </a:t>
            </a:r>
            <a:r>
              <a:rPr sz="1200" spc="-35" dirty="0">
                <a:solidFill>
                  <a:srgbClr val="1B1B2D"/>
                </a:solidFill>
                <a:latin typeface="Lucida Sans Unicode"/>
                <a:cs typeface="Lucida Sans Unicode"/>
              </a:rPr>
              <a:t>−</a:t>
            </a:r>
            <a:r>
              <a:rPr sz="1200" spc="-215" dirty="0">
                <a:solidFill>
                  <a:srgbClr val="1B1B2D"/>
                </a:solidFill>
                <a:latin typeface="Lucida Sans Unicode"/>
                <a:cs typeface="Lucida Sans Unicode"/>
              </a:rPr>
              <a:t> </a:t>
            </a:r>
            <a:r>
              <a:rPr sz="1200" i="1" spc="-540" dirty="0">
                <a:solidFill>
                  <a:srgbClr val="1B1B2D"/>
                </a:solidFill>
                <a:latin typeface="Arial"/>
                <a:cs typeface="Arial"/>
              </a:rPr>
              <a:t>y</a:t>
            </a:r>
            <a:r>
              <a:rPr sz="1200" spc="-190" dirty="0">
                <a:solidFill>
                  <a:srgbClr val="1B1B2D"/>
                </a:solidFill>
                <a:latin typeface="Tahoma"/>
                <a:cs typeface="Tahoma"/>
              </a:rPr>
              <a:t>ˆ</a:t>
            </a:r>
            <a:r>
              <a:rPr sz="1350" i="1" spc="-44" baseline="-12345" dirty="0">
                <a:solidFill>
                  <a:srgbClr val="1B1B2D"/>
                </a:solidFill>
                <a:latin typeface="Franklin Gothic Medium"/>
                <a:cs typeface="Franklin Gothic Medium"/>
              </a:rPr>
              <a:t>i</a:t>
            </a:r>
            <a:r>
              <a:rPr sz="1350" i="1" spc="-135" baseline="-12345" dirty="0">
                <a:solidFill>
                  <a:srgbClr val="1B1B2D"/>
                </a:solidFill>
                <a:latin typeface="Franklin Gothic Medium"/>
                <a:cs typeface="Franklin Gothic Medium"/>
              </a:rPr>
              <a:t> </a:t>
            </a:r>
            <a:r>
              <a:rPr sz="1200" spc="-50" dirty="0">
                <a:solidFill>
                  <a:srgbClr val="1B1B2D"/>
                </a:solidFill>
                <a:latin typeface="Lucida Sans Unicode"/>
                <a:cs typeface="Lucida Sans Unicode"/>
              </a:rPr>
              <a:t>|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6545" y="1090612"/>
            <a:ext cx="2044064" cy="524510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198880">
              <a:lnSpc>
                <a:spcPct val="100000"/>
              </a:lnSpc>
              <a:spcBef>
                <a:spcPts val="710"/>
              </a:spcBef>
            </a:pPr>
            <a:r>
              <a:rPr sz="1800" i="1" spc="-112" baseline="20833" dirty="0">
                <a:solidFill>
                  <a:srgbClr val="1B1B2D"/>
                </a:solidFill>
                <a:latin typeface="Arial"/>
                <a:cs typeface="Arial"/>
              </a:rPr>
              <a:t>n</a:t>
            </a:r>
            <a:r>
              <a:rPr sz="1800" i="1" spc="-82" baseline="20833" dirty="0">
                <a:solidFill>
                  <a:srgbClr val="1B1B2D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1B1B2D"/>
                </a:solidFill>
                <a:latin typeface="Franklin Gothic Medium"/>
                <a:cs typeface="Franklin Gothic Medium"/>
              </a:rPr>
              <a:t>i</a:t>
            </a:r>
            <a:r>
              <a:rPr sz="900" i="1" spc="-135" dirty="0">
                <a:solidFill>
                  <a:srgbClr val="1B1B2D"/>
                </a:solidFill>
                <a:latin typeface="Franklin Gothic Medium"/>
                <a:cs typeface="Franklin Gothic Medium"/>
              </a:rPr>
              <a:t> </a:t>
            </a:r>
            <a:r>
              <a:rPr sz="900" spc="-25" dirty="0">
                <a:solidFill>
                  <a:srgbClr val="1B1B2D"/>
                </a:solidFill>
                <a:latin typeface="Lucida Sans Unicode"/>
                <a:cs typeface="Lucida Sans Unicode"/>
              </a:rPr>
              <a:t>=</a:t>
            </a:r>
            <a:r>
              <a:rPr sz="900" spc="-25" dirty="0">
                <a:solidFill>
                  <a:srgbClr val="1B1B2D"/>
                </a:solidFill>
                <a:latin typeface="Calibri"/>
                <a:cs typeface="Calibri"/>
              </a:rPr>
              <a:t>1</a:t>
            </a:r>
            <a:endParaRPr sz="900">
              <a:latin typeface="Calibri"/>
              <a:cs typeface="Calibri"/>
            </a:endParaRPr>
          </a:p>
          <a:p>
            <a:pPr marL="25400">
              <a:lnSpc>
                <a:spcPct val="100000"/>
              </a:lnSpc>
              <a:spcBef>
                <a:spcPts val="555"/>
              </a:spcBef>
            </a:pPr>
            <a:r>
              <a:rPr sz="1100" spc="-55" dirty="0">
                <a:solidFill>
                  <a:srgbClr val="1B1B2D"/>
                </a:solidFill>
                <a:latin typeface="Microsoft Sans Serif"/>
                <a:cs typeface="Microsoft Sans Serif"/>
              </a:rPr>
              <a:t>Sai</a:t>
            </a:r>
            <a:r>
              <a:rPr sz="11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75" dirty="0">
                <a:solidFill>
                  <a:srgbClr val="1B1B2D"/>
                </a:solidFill>
                <a:latin typeface="Microsoft Sans Serif"/>
                <a:cs typeface="Microsoft Sans Serif"/>
              </a:rPr>
              <a:t>số</a:t>
            </a:r>
            <a:r>
              <a:rPr sz="1100" spc="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tuyệt</a:t>
            </a:r>
            <a:r>
              <a:rPr sz="1100" spc="-4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đối</a:t>
            </a:r>
            <a:r>
              <a:rPr sz="1100" spc="-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trung</a:t>
            </a:r>
            <a:r>
              <a:rPr sz="1100" spc="-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bình</a:t>
            </a:r>
            <a:r>
              <a:rPr sz="11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(USD)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21144" y="1877173"/>
            <a:ext cx="2724150" cy="247015"/>
          </a:xfrm>
          <a:custGeom>
            <a:avLst/>
            <a:gdLst/>
            <a:ahLst/>
            <a:cxnLst/>
            <a:rect l="l" t="t" r="r" b="b"/>
            <a:pathLst>
              <a:path w="2724150" h="247014">
                <a:moveTo>
                  <a:pt x="267292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46571"/>
                </a:lnTo>
                <a:lnTo>
                  <a:pt x="2723725" y="246571"/>
                </a:lnTo>
                <a:lnTo>
                  <a:pt x="2723725" y="50800"/>
                </a:lnTo>
                <a:lnTo>
                  <a:pt x="2719716" y="31075"/>
                </a:lnTo>
                <a:lnTo>
                  <a:pt x="2708802" y="14922"/>
                </a:lnTo>
                <a:lnTo>
                  <a:pt x="2692649" y="4008"/>
                </a:lnTo>
                <a:lnTo>
                  <a:pt x="2672924" y="0"/>
                </a:lnTo>
                <a:close/>
              </a:path>
            </a:pathLst>
          </a:custGeom>
          <a:solidFill>
            <a:srgbClr val="197F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71945" y="1910790"/>
            <a:ext cx="1174750" cy="187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b="1" spc="55" dirty="0">
                <a:solidFill>
                  <a:srgbClr val="FFFFFF"/>
                </a:solidFill>
                <a:latin typeface="Tahoma"/>
                <a:cs typeface="Tahoma"/>
              </a:rPr>
              <a:t>MSE</a:t>
            </a:r>
            <a:r>
              <a:rPr sz="1400" b="1" spc="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1400" b="1" spc="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Tahoma"/>
                <a:cs typeface="Tahoma"/>
              </a:rPr>
              <a:t>RMSE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14052" y="2104734"/>
            <a:ext cx="2724150" cy="840562"/>
            <a:chOff x="121144" y="2111095"/>
            <a:chExt cx="2724150" cy="840562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144" y="2111095"/>
              <a:ext cx="2723725" cy="5060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21144" y="2155367"/>
              <a:ext cx="2724150" cy="796290"/>
            </a:xfrm>
            <a:custGeom>
              <a:avLst/>
              <a:gdLst/>
              <a:ahLst/>
              <a:cxnLst/>
              <a:rect l="l" t="t" r="r" b="b"/>
              <a:pathLst>
                <a:path w="2724150" h="796289">
                  <a:moveTo>
                    <a:pt x="2723725" y="0"/>
                  </a:moveTo>
                  <a:lnTo>
                    <a:pt x="0" y="0"/>
                  </a:lnTo>
                  <a:lnTo>
                    <a:pt x="0" y="745147"/>
                  </a:lnTo>
                  <a:lnTo>
                    <a:pt x="4008" y="764872"/>
                  </a:lnTo>
                  <a:lnTo>
                    <a:pt x="14922" y="781025"/>
                  </a:lnTo>
                  <a:lnTo>
                    <a:pt x="31075" y="791939"/>
                  </a:lnTo>
                  <a:lnTo>
                    <a:pt x="50800" y="795948"/>
                  </a:lnTo>
                  <a:lnTo>
                    <a:pt x="2672924" y="795948"/>
                  </a:lnTo>
                  <a:lnTo>
                    <a:pt x="2692649" y="791939"/>
                  </a:lnTo>
                  <a:lnTo>
                    <a:pt x="2708802" y="781025"/>
                  </a:lnTo>
                  <a:lnTo>
                    <a:pt x="2719716" y="764872"/>
                  </a:lnTo>
                  <a:lnTo>
                    <a:pt x="2723725" y="745147"/>
                  </a:lnTo>
                  <a:lnTo>
                    <a:pt x="2723725" y="0"/>
                  </a:lnTo>
                  <a:close/>
                </a:path>
              </a:pathLst>
            </a:custGeom>
            <a:solidFill>
              <a:srgbClr val="D6EAF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254925" y="2040646"/>
            <a:ext cx="16510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200" spc="540" dirty="0">
                <a:solidFill>
                  <a:srgbClr val="1B1B2D"/>
                </a:solidFill>
                <a:latin typeface="Arial MT"/>
                <a:cs typeface="Arial MT"/>
              </a:rPr>
              <a:t>s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406766" y="2202218"/>
            <a:ext cx="883285" cy="0"/>
          </a:xfrm>
          <a:custGeom>
            <a:avLst/>
            <a:gdLst/>
            <a:ahLst/>
            <a:cxnLst/>
            <a:rect l="l" t="t" r="r" b="b"/>
            <a:pathLst>
              <a:path w="883285">
                <a:moveTo>
                  <a:pt x="0" y="0"/>
                </a:moveTo>
                <a:lnTo>
                  <a:pt x="883119" y="0"/>
                </a:lnTo>
              </a:path>
            </a:pathLst>
          </a:custGeom>
          <a:ln w="5918">
            <a:solidFill>
              <a:srgbClr val="1B1B2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421942" y="2430017"/>
            <a:ext cx="80010" cy="0"/>
          </a:xfrm>
          <a:custGeom>
            <a:avLst/>
            <a:gdLst/>
            <a:ahLst/>
            <a:cxnLst/>
            <a:rect l="l" t="t" r="r" b="b"/>
            <a:pathLst>
              <a:path w="80009">
                <a:moveTo>
                  <a:pt x="0" y="0"/>
                </a:moveTo>
                <a:lnTo>
                  <a:pt x="79502" y="0"/>
                </a:lnTo>
              </a:path>
            </a:pathLst>
          </a:custGeom>
          <a:ln w="6070">
            <a:solidFill>
              <a:srgbClr val="1B1B2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596605" y="2179175"/>
            <a:ext cx="7366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900" i="1" spc="-50" dirty="0">
                <a:solidFill>
                  <a:srgbClr val="1B1B2D"/>
                </a:solidFill>
                <a:latin typeface="Franklin Gothic Medium"/>
                <a:cs typeface="Franklin Gothic Medium"/>
              </a:rPr>
              <a:t>n</a:t>
            </a:r>
            <a:endParaRPr sz="900">
              <a:latin typeface="Franklin Gothic Medium"/>
              <a:cs typeface="Franklin Gothic Medium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1945" y="2728708"/>
            <a:ext cx="14382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Phạt</a:t>
            </a:r>
            <a:r>
              <a:rPr sz="11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55" dirty="0">
                <a:solidFill>
                  <a:srgbClr val="1B1B2D"/>
                </a:solidFill>
                <a:latin typeface="Microsoft Sans Serif"/>
                <a:cs typeface="Microsoft Sans Serif"/>
              </a:rPr>
              <a:t>nặng</a:t>
            </a:r>
            <a:r>
              <a:rPr sz="1100" spc="-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50" dirty="0">
                <a:solidFill>
                  <a:srgbClr val="1B1B2D"/>
                </a:solidFill>
                <a:latin typeface="Microsoft Sans Serif"/>
                <a:cs typeface="Microsoft Sans Serif"/>
              </a:rPr>
              <a:t>các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40" dirty="0">
                <a:solidFill>
                  <a:srgbClr val="1B1B2D"/>
                </a:solidFill>
                <a:latin typeface="Microsoft Sans Serif"/>
                <a:cs typeface="Microsoft Sans Serif"/>
              </a:rPr>
              <a:t>sai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75" dirty="0">
                <a:solidFill>
                  <a:srgbClr val="1B1B2D"/>
                </a:solidFill>
                <a:latin typeface="Microsoft Sans Serif"/>
                <a:cs typeface="Microsoft Sans Serif"/>
              </a:rPr>
              <a:t>số</a:t>
            </a:r>
            <a:r>
              <a:rPr sz="1100" spc="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lớn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915170" y="664031"/>
            <a:ext cx="2724150" cy="269240"/>
          </a:xfrm>
          <a:custGeom>
            <a:avLst/>
            <a:gdLst/>
            <a:ahLst/>
            <a:cxnLst/>
            <a:rect l="l" t="t" r="r" b="b"/>
            <a:pathLst>
              <a:path w="2724150" h="269240">
                <a:moveTo>
                  <a:pt x="267292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68677"/>
                </a:lnTo>
                <a:lnTo>
                  <a:pt x="2723725" y="268677"/>
                </a:lnTo>
                <a:lnTo>
                  <a:pt x="2723725" y="50800"/>
                </a:lnTo>
                <a:lnTo>
                  <a:pt x="2719716" y="31075"/>
                </a:lnTo>
                <a:lnTo>
                  <a:pt x="2708802" y="14922"/>
                </a:lnTo>
                <a:lnTo>
                  <a:pt x="2692649" y="4008"/>
                </a:lnTo>
                <a:lnTo>
                  <a:pt x="2672924" y="0"/>
                </a:lnTo>
                <a:close/>
              </a:path>
            </a:pathLst>
          </a:custGeom>
          <a:solidFill>
            <a:srgbClr val="197F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965970" y="701014"/>
            <a:ext cx="1683385" cy="217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30"/>
              </a:lnSpc>
            </a:pPr>
            <a:r>
              <a:rPr sz="1400" i="1" spc="-12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400" i="1" spc="-2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50" baseline="25252" dirty="0">
                <a:solidFill>
                  <a:srgbClr val="FFFFFF"/>
                </a:solidFill>
                <a:latin typeface="Microsoft Sans Serif"/>
                <a:cs typeface="Microsoft Sans Serif"/>
              </a:rPr>
              <a:t>2</a:t>
            </a:r>
            <a:r>
              <a:rPr sz="1650" spc="209" baseline="25252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/>
                <a:cs typeface="Tahoma"/>
              </a:rPr>
              <a:t>–</a:t>
            </a:r>
            <a:r>
              <a:rPr sz="1400" b="1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/>
                <a:cs typeface="Tahoma"/>
              </a:rPr>
              <a:t>Hệ</a:t>
            </a:r>
            <a:r>
              <a:rPr sz="1400" b="1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Tahoma"/>
                <a:cs typeface="Tahoma"/>
              </a:rPr>
              <a:t>số</a:t>
            </a:r>
            <a:r>
              <a:rPr sz="1400" b="1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40" dirty="0">
                <a:solidFill>
                  <a:srgbClr val="FFFFFF"/>
                </a:solidFill>
                <a:latin typeface="Tahoma"/>
                <a:cs typeface="Tahoma"/>
              </a:rPr>
              <a:t>xác</a:t>
            </a:r>
            <a:r>
              <a:rPr sz="1400" b="1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80" dirty="0">
                <a:solidFill>
                  <a:srgbClr val="FFFFFF"/>
                </a:solidFill>
                <a:latin typeface="Tahoma"/>
                <a:cs typeface="Tahoma"/>
              </a:rPr>
              <a:t>định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921837" y="934708"/>
            <a:ext cx="2724150" cy="741512"/>
            <a:chOff x="2915170" y="920051"/>
            <a:chExt cx="2724150" cy="741512"/>
          </a:xfrm>
        </p:grpSpPr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15170" y="920051"/>
              <a:ext cx="2723725" cy="50609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2915170" y="964333"/>
              <a:ext cx="2724150" cy="697230"/>
            </a:xfrm>
            <a:custGeom>
              <a:avLst/>
              <a:gdLst/>
              <a:ahLst/>
              <a:cxnLst/>
              <a:rect l="l" t="t" r="r" b="b"/>
              <a:pathLst>
                <a:path w="2724150" h="697230">
                  <a:moveTo>
                    <a:pt x="2723725" y="0"/>
                  </a:moveTo>
                  <a:lnTo>
                    <a:pt x="0" y="0"/>
                  </a:lnTo>
                  <a:lnTo>
                    <a:pt x="0" y="646420"/>
                  </a:lnTo>
                  <a:lnTo>
                    <a:pt x="4008" y="666144"/>
                  </a:lnTo>
                  <a:lnTo>
                    <a:pt x="14922" y="682297"/>
                  </a:lnTo>
                  <a:lnTo>
                    <a:pt x="31075" y="693211"/>
                  </a:lnTo>
                  <a:lnTo>
                    <a:pt x="50800" y="697220"/>
                  </a:lnTo>
                  <a:lnTo>
                    <a:pt x="2672924" y="697220"/>
                  </a:lnTo>
                  <a:lnTo>
                    <a:pt x="2692649" y="693211"/>
                  </a:lnTo>
                  <a:lnTo>
                    <a:pt x="2708802" y="682297"/>
                  </a:lnTo>
                  <a:lnTo>
                    <a:pt x="2719716" y="666144"/>
                  </a:lnTo>
                  <a:lnTo>
                    <a:pt x="2723725" y="646420"/>
                  </a:lnTo>
                  <a:lnTo>
                    <a:pt x="2723725" y="0"/>
                  </a:lnTo>
                  <a:close/>
                </a:path>
              </a:pathLst>
            </a:custGeom>
            <a:solidFill>
              <a:srgbClr val="D6E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742192" y="1030536"/>
            <a:ext cx="18097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167640" algn="l"/>
              </a:tabLst>
            </a:pPr>
            <a:r>
              <a:rPr sz="900" i="1" u="sng" spc="-50" dirty="0">
                <a:solidFill>
                  <a:srgbClr val="1B1B2D"/>
                </a:solidFill>
                <a:uFill>
                  <a:solidFill>
                    <a:srgbClr val="1B1B2D"/>
                  </a:solidFill>
                </a:uFill>
                <a:latin typeface="Franklin Gothic Medium"/>
                <a:cs typeface="Franklin Gothic Medium"/>
              </a:rPr>
              <a:t>i</a:t>
            </a:r>
            <a:r>
              <a:rPr sz="900" i="1" u="sng" dirty="0">
                <a:solidFill>
                  <a:srgbClr val="1B1B2D"/>
                </a:solidFill>
                <a:uFill>
                  <a:solidFill>
                    <a:srgbClr val="1B1B2D"/>
                  </a:solidFill>
                </a:uFill>
                <a:latin typeface="Franklin Gothic Medium"/>
                <a:cs typeface="Franklin Gothic Medium"/>
              </a:rPr>
              <a:t>	</a:t>
            </a:r>
            <a:endParaRPr sz="900">
              <a:latin typeface="Franklin Gothic Medium"/>
              <a:cs typeface="Franklin Gothic Medium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940570" y="1106788"/>
            <a:ext cx="2677795" cy="475771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308100">
              <a:lnSpc>
                <a:spcPct val="100000"/>
              </a:lnSpc>
              <a:spcBef>
                <a:spcPts val="710"/>
              </a:spcBef>
            </a:pPr>
            <a:endParaRPr sz="1350" baseline="27777" dirty="0">
              <a:latin typeface="Calibri"/>
              <a:cs typeface="Calibri"/>
            </a:endParaRPr>
          </a:p>
          <a:p>
            <a:pPr marL="25400">
              <a:lnSpc>
                <a:spcPct val="100000"/>
              </a:lnSpc>
              <a:spcBef>
                <a:spcPts val="555"/>
              </a:spcBef>
            </a:pP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Tỷ</a:t>
            </a:r>
            <a:r>
              <a:rPr sz="1100" spc="-3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lệ</a:t>
            </a:r>
            <a:r>
              <a:rPr sz="1100" spc="-3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45" dirty="0">
                <a:solidFill>
                  <a:srgbClr val="1B1B2D"/>
                </a:solidFill>
                <a:latin typeface="Microsoft Sans Serif"/>
                <a:cs typeface="Microsoft Sans Serif"/>
              </a:rPr>
              <a:t>phương</a:t>
            </a:r>
            <a:r>
              <a:rPr sz="11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40" dirty="0">
                <a:solidFill>
                  <a:srgbClr val="1B1B2D"/>
                </a:solidFill>
                <a:latin typeface="Microsoft Sans Serif"/>
                <a:cs typeface="Microsoft Sans Serif"/>
              </a:rPr>
              <a:t>sai</a:t>
            </a:r>
            <a:r>
              <a:rPr sz="1100" spc="-3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được 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giải</a:t>
            </a:r>
            <a:r>
              <a:rPr sz="1100" spc="-3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thích</a:t>
            </a:r>
            <a:r>
              <a:rPr sz="11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bởi</a:t>
            </a:r>
            <a:r>
              <a:rPr sz="1100" spc="-3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mô</a:t>
            </a:r>
            <a:r>
              <a:rPr sz="11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hình</a:t>
            </a:r>
            <a:endParaRPr sz="1100" dirty="0">
              <a:latin typeface="Microsoft Sans Serif"/>
              <a:cs typeface="Microsoft Sans Serif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965970" y="1966972"/>
            <a:ext cx="2622550" cy="774065"/>
            <a:chOff x="2965970" y="1966972"/>
            <a:chExt cx="2622550" cy="774065"/>
          </a:xfrm>
        </p:grpSpPr>
        <p:sp>
          <p:nvSpPr>
            <p:cNvPr id="40" name="object 40"/>
            <p:cNvSpPr/>
            <p:nvPr/>
          </p:nvSpPr>
          <p:spPr>
            <a:xfrm>
              <a:off x="2965970" y="1966972"/>
              <a:ext cx="2622550" cy="774065"/>
            </a:xfrm>
            <a:custGeom>
              <a:avLst/>
              <a:gdLst/>
              <a:ahLst/>
              <a:cxnLst/>
              <a:rect l="l" t="t" r="r" b="b"/>
              <a:pathLst>
                <a:path w="2622550" h="774064">
                  <a:moveTo>
                    <a:pt x="2546207" y="0"/>
                  </a:moveTo>
                  <a:lnTo>
                    <a:pt x="75916" y="0"/>
                  </a:lnTo>
                  <a:lnTo>
                    <a:pt x="46365" y="5965"/>
                  </a:lnTo>
                  <a:lnTo>
                    <a:pt x="22235" y="22235"/>
                  </a:lnTo>
                  <a:lnTo>
                    <a:pt x="5965" y="46366"/>
                  </a:lnTo>
                  <a:lnTo>
                    <a:pt x="0" y="75916"/>
                  </a:lnTo>
                  <a:lnTo>
                    <a:pt x="0" y="697554"/>
                  </a:lnTo>
                  <a:lnTo>
                    <a:pt x="5965" y="727105"/>
                  </a:lnTo>
                  <a:lnTo>
                    <a:pt x="22235" y="751236"/>
                  </a:lnTo>
                  <a:lnTo>
                    <a:pt x="46365" y="767505"/>
                  </a:lnTo>
                  <a:lnTo>
                    <a:pt x="75916" y="773471"/>
                  </a:lnTo>
                  <a:lnTo>
                    <a:pt x="2546207" y="773471"/>
                  </a:lnTo>
                  <a:lnTo>
                    <a:pt x="2575758" y="767505"/>
                  </a:lnTo>
                  <a:lnTo>
                    <a:pt x="2599888" y="751236"/>
                  </a:lnTo>
                  <a:lnTo>
                    <a:pt x="2616158" y="727105"/>
                  </a:lnTo>
                  <a:lnTo>
                    <a:pt x="2622124" y="697554"/>
                  </a:lnTo>
                  <a:lnTo>
                    <a:pt x="2622124" y="75916"/>
                  </a:lnTo>
                  <a:lnTo>
                    <a:pt x="2616158" y="46366"/>
                  </a:lnTo>
                  <a:lnTo>
                    <a:pt x="2599888" y="22235"/>
                  </a:lnTo>
                  <a:lnTo>
                    <a:pt x="2575758" y="5965"/>
                  </a:lnTo>
                  <a:lnTo>
                    <a:pt x="2546207" y="0"/>
                  </a:lnTo>
                  <a:close/>
                </a:path>
              </a:pathLst>
            </a:custGeom>
            <a:solidFill>
              <a:srgbClr val="197F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978623" y="1979625"/>
              <a:ext cx="2597150" cy="748665"/>
            </a:xfrm>
            <a:custGeom>
              <a:avLst/>
              <a:gdLst/>
              <a:ahLst/>
              <a:cxnLst/>
              <a:rect l="l" t="t" r="r" b="b"/>
              <a:pathLst>
                <a:path w="2597150" h="748664">
                  <a:moveTo>
                    <a:pt x="2533555" y="0"/>
                  </a:moveTo>
                  <a:lnTo>
                    <a:pt x="63263" y="0"/>
                  </a:lnTo>
                  <a:lnTo>
                    <a:pt x="38638" y="4971"/>
                  </a:lnTo>
                  <a:lnTo>
                    <a:pt x="18529" y="18529"/>
                  </a:lnTo>
                  <a:lnTo>
                    <a:pt x="4971" y="38638"/>
                  </a:lnTo>
                  <a:lnTo>
                    <a:pt x="0" y="63263"/>
                  </a:lnTo>
                  <a:lnTo>
                    <a:pt x="0" y="684902"/>
                  </a:lnTo>
                  <a:lnTo>
                    <a:pt x="4971" y="709527"/>
                  </a:lnTo>
                  <a:lnTo>
                    <a:pt x="18529" y="729636"/>
                  </a:lnTo>
                  <a:lnTo>
                    <a:pt x="38638" y="743194"/>
                  </a:lnTo>
                  <a:lnTo>
                    <a:pt x="63263" y="748165"/>
                  </a:lnTo>
                  <a:lnTo>
                    <a:pt x="2533555" y="748165"/>
                  </a:lnTo>
                  <a:lnTo>
                    <a:pt x="2558180" y="743194"/>
                  </a:lnTo>
                  <a:lnTo>
                    <a:pt x="2578289" y="729636"/>
                  </a:lnTo>
                  <a:lnTo>
                    <a:pt x="2591847" y="709527"/>
                  </a:lnTo>
                  <a:lnTo>
                    <a:pt x="2596818" y="684902"/>
                  </a:lnTo>
                  <a:lnTo>
                    <a:pt x="2596818" y="63263"/>
                  </a:lnTo>
                  <a:lnTo>
                    <a:pt x="2591847" y="38638"/>
                  </a:lnTo>
                  <a:lnTo>
                    <a:pt x="2578289" y="18529"/>
                  </a:lnTo>
                  <a:lnTo>
                    <a:pt x="2558180" y="4971"/>
                  </a:lnTo>
                  <a:lnTo>
                    <a:pt x="2533555" y="0"/>
                  </a:lnTo>
                  <a:close/>
                </a:path>
              </a:pathLst>
            </a:custGeom>
            <a:solidFill>
              <a:srgbClr val="E3E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3052432" y="2040913"/>
            <a:ext cx="2091689" cy="60134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5"/>
              </a:spcBef>
            </a:pPr>
            <a:r>
              <a:rPr sz="1100" b="1" dirty="0">
                <a:latin typeface="Tahoma"/>
                <a:cs typeface="Tahoma"/>
              </a:rPr>
              <a:t>MAE,</a:t>
            </a:r>
            <a:r>
              <a:rPr sz="1100" b="1" spc="45" dirty="0">
                <a:latin typeface="Tahoma"/>
                <a:cs typeface="Tahoma"/>
              </a:rPr>
              <a:t> </a:t>
            </a:r>
            <a:r>
              <a:rPr sz="1100" b="1" dirty="0">
                <a:latin typeface="Tahoma"/>
                <a:cs typeface="Tahoma"/>
              </a:rPr>
              <a:t>RMSE</a:t>
            </a:r>
            <a:r>
              <a:rPr sz="1100" dirty="0">
                <a:latin typeface="Microsoft Sans Serif"/>
                <a:cs typeface="Microsoft Sans Serif"/>
              </a:rPr>
              <a:t>:</a:t>
            </a:r>
            <a:r>
              <a:rPr sz="1100" spc="50" dirty="0">
                <a:latin typeface="Microsoft Sans Serif"/>
                <a:cs typeface="Microsoft Sans Serif"/>
              </a:rPr>
              <a:t> </a:t>
            </a:r>
            <a:r>
              <a:rPr sz="1100" spc="-60" dirty="0">
                <a:latin typeface="Microsoft Sans Serif"/>
                <a:cs typeface="Microsoft Sans Serif"/>
              </a:rPr>
              <a:t>càng</a:t>
            </a:r>
            <a:r>
              <a:rPr sz="1100" spc="4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thấp</a:t>
            </a:r>
            <a:r>
              <a:rPr sz="1100" spc="45" dirty="0">
                <a:latin typeface="Microsoft Sans Serif"/>
                <a:cs typeface="Microsoft Sans Serif"/>
              </a:rPr>
              <a:t> </a:t>
            </a:r>
            <a:r>
              <a:rPr sz="1100" spc="-60" dirty="0">
                <a:latin typeface="Microsoft Sans Serif"/>
                <a:cs typeface="Microsoft Sans Serif"/>
              </a:rPr>
              <a:t>càng</a:t>
            </a:r>
            <a:r>
              <a:rPr sz="1100" spc="50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tốt</a:t>
            </a:r>
            <a:endParaRPr sz="1100">
              <a:latin typeface="Microsoft Sans Serif"/>
              <a:cs typeface="Microsoft Sans Serif"/>
            </a:endParaRPr>
          </a:p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100" i="1" dirty="0">
                <a:latin typeface="Franklin Gothic Medium"/>
                <a:cs typeface="Franklin Gothic Medium"/>
              </a:rPr>
              <a:t>R</a:t>
            </a:r>
            <a:r>
              <a:rPr sz="1200" baseline="27777" dirty="0">
                <a:latin typeface="Microsoft Sans Serif"/>
                <a:cs typeface="Microsoft Sans Serif"/>
              </a:rPr>
              <a:t>2</a:t>
            </a:r>
            <a:r>
              <a:rPr sz="1100" dirty="0">
                <a:latin typeface="Microsoft Sans Serif"/>
                <a:cs typeface="Microsoft Sans Serif"/>
              </a:rPr>
              <a:t>:</a:t>
            </a:r>
            <a:r>
              <a:rPr sz="1100" spc="120" dirty="0">
                <a:latin typeface="Microsoft Sans Serif"/>
                <a:cs typeface="Microsoft Sans Serif"/>
              </a:rPr>
              <a:t> </a:t>
            </a:r>
            <a:r>
              <a:rPr sz="1100" spc="-60" dirty="0">
                <a:latin typeface="Microsoft Sans Serif"/>
                <a:cs typeface="Microsoft Sans Serif"/>
              </a:rPr>
              <a:t>càng</a:t>
            </a:r>
            <a:r>
              <a:rPr sz="1100" spc="30" dirty="0">
                <a:latin typeface="Microsoft Sans Serif"/>
                <a:cs typeface="Microsoft Sans Serif"/>
              </a:rPr>
              <a:t> </a:t>
            </a:r>
            <a:r>
              <a:rPr sz="1100" spc="-45" dirty="0">
                <a:latin typeface="Microsoft Sans Serif"/>
                <a:cs typeface="Microsoft Sans Serif"/>
              </a:rPr>
              <a:t>gần</a:t>
            </a:r>
            <a:r>
              <a:rPr sz="1100" spc="25" dirty="0"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Microsoft Sans Serif"/>
                <a:cs typeface="Microsoft Sans Serif"/>
              </a:rPr>
              <a:t>1,0</a:t>
            </a:r>
            <a:r>
              <a:rPr sz="1100" spc="30" dirty="0">
                <a:latin typeface="Microsoft Sans Serif"/>
                <a:cs typeface="Microsoft Sans Serif"/>
              </a:rPr>
              <a:t> </a:t>
            </a:r>
            <a:r>
              <a:rPr sz="1100" spc="-60" dirty="0">
                <a:latin typeface="Microsoft Sans Serif"/>
                <a:cs typeface="Microsoft Sans Serif"/>
              </a:rPr>
              <a:t>càng</a:t>
            </a:r>
            <a:r>
              <a:rPr sz="1100" spc="30" dirty="0">
                <a:latin typeface="Microsoft Sans Serif"/>
                <a:cs typeface="Microsoft Sans Serif"/>
              </a:rPr>
              <a:t> </a:t>
            </a:r>
            <a:r>
              <a:rPr sz="1100" spc="-25" dirty="0">
                <a:latin typeface="Microsoft Sans Serif"/>
                <a:cs typeface="Microsoft Sans Serif"/>
              </a:rPr>
              <a:t>tốt</a:t>
            </a:r>
            <a:endParaRPr sz="1100">
              <a:latin typeface="Microsoft Sans Serif"/>
              <a:cs typeface="Microsoft Sans Serif"/>
            </a:endParaRPr>
          </a:p>
          <a:p>
            <a:pPr marL="38100">
              <a:lnSpc>
                <a:spcPct val="100000"/>
              </a:lnSpc>
              <a:spcBef>
                <a:spcPts val="325"/>
              </a:spcBef>
            </a:pPr>
            <a:r>
              <a:rPr sz="1100" spc="-35" dirty="0">
                <a:latin typeface="Microsoft Sans Serif"/>
                <a:cs typeface="Microsoft Sans Serif"/>
              </a:rPr>
              <a:t>Đánh </a:t>
            </a:r>
            <a:r>
              <a:rPr sz="1100" spc="-10" dirty="0">
                <a:latin typeface="Microsoft Sans Serif"/>
                <a:cs typeface="Microsoft Sans Serif"/>
              </a:rPr>
              <a:t>giá</a:t>
            </a:r>
            <a:r>
              <a:rPr sz="1100" spc="-35" dirty="0"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Microsoft Sans Serif"/>
                <a:cs typeface="Microsoft Sans Serif"/>
              </a:rPr>
              <a:t>trên</a:t>
            </a:r>
            <a:r>
              <a:rPr sz="1100" spc="-35" dirty="0">
                <a:latin typeface="Microsoft Sans Serif"/>
                <a:cs typeface="Microsoft Sans Serif"/>
              </a:rPr>
              <a:t> </a:t>
            </a:r>
            <a:r>
              <a:rPr sz="1100" b="1" spc="-25" dirty="0">
                <a:latin typeface="Tahoma"/>
                <a:cs typeface="Tahoma"/>
              </a:rPr>
              <a:t>Test</a:t>
            </a:r>
            <a:r>
              <a:rPr sz="1100" b="1" spc="-40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Set</a:t>
            </a:r>
            <a:r>
              <a:rPr sz="1100" b="1" spc="-40" dirty="0">
                <a:latin typeface="Tahoma"/>
                <a:cs typeface="Tahoma"/>
              </a:rPr>
              <a:t> </a:t>
            </a:r>
            <a:r>
              <a:rPr sz="1100" b="1" spc="-25" dirty="0">
                <a:latin typeface="Tahoma"/>
                <a:cs typeface="Tahoma"/>
              </a:rPr>
              <a:t>20%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-3" y="3130372"/>
            <a:ext cx="5760085" cy="109855"/>
            <a:chOff x="-3" y="3130372"/>
            <a:chExt cx="5760085" cy="109855"/>
          </a:xfrm>
        </p:grpSpPr>
        <p:sp>
          <p:nvSpPr>
            <p:cNvPr id="44" name="object 44"/>
            <p:cNvSpPr/>
            <p:nvPr/>
          </p:nvSpPr>
          <p:spPr>
            <a:xfrm>
              <a:off x="0" y="3130372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26"/>
                  </a:lnTo>
                  <a:lnTo>
                    <a:pt x="1919973" y="10962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7F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919960" y="3130384"/>
              <a:ext cx="3840479" cy="109855"/>
            </a:xfrm>
            <a:custGeom>
              <a:avLst/>
              <a:gdLst/>
              <a:ahLst/>
              <a:cxnLst/>
              <a:rect l="l" t="t" r="r" b="b"/>
              <a:pathLst>
                <a:path w="3840479" h="109855">
                  <a:moveTo>
                    <a:pt x="3839946" y="0"/>
                  </a:moveTo>
                  <a:lnTo>
                    <a:pt x="1919973" y="0"/>
                  </a:lnTo>
                  <a:lnTo>
                    <a:pt x="0" y="0"/>
                  </a:lnTo>
                  <a:lnTo>
                    <a:pt x="0" y="109613"/>
                  </a:lnTo>
                  <a:lnTo>
                    <a:pt x="1919973" y="109613"/>
                  </a:lnTo>
                  <a:lnTo>
                    <a:pt x="3839946" y="109613"/>
                  </a:lnTo>
                  <a:lnTo>
                    <a:pt x="3839946" y="0"/>
                  </a:lnTo>
                  <a:close/>
                </a:path>
              </a:pathLst>
            </a:custGeom>
            <a:solidFill>
              <a:srgbClr val="0C2B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-3" y="3214693"/>
              <a:ext cx="0" cy="25400"/>
            </a:xfrm>
            <a:custGeom>
              <a:avLst/>
              <a:gdLst/>
              <a:ahLst/>
              <a:cxnLst/>
              <a:rect l="l" t="t" r="r" b="b"/>
              <a:pathLst>
                <a:path h="25400">
                  <a:moveTo>
                    <a:pt x="0" y="25305"/>
                  </a:moveTo>
                  <a:lnTo>
                    <a:pt x="0" y="0"/>
                  </a:lnTo>
                  <a:lnTo>
                    <a:pt x="0" y="25305"/>
                  </a:lnTo>
                  <a:close/>
                </a:path>
                <a:path h="25400">
                  <a:moveTo>
                    <a:pt x="0" y="0"/>
                  </a:moveTo>
                </a:path>
              </a:pathLst>
            </a:custGeom>
            <a:solidFill>
              <a:srgbClr val="A3CB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Hiếu</a:t>
            </a:r>
            <a:r>
              <a:rPr spc="35" dirty="0"/>
              <a:t> </a:t>
            </a:r>
            <a:r>
              <a:rPr dirty="0">
                <a:latin typeface="Cambria"/>
                <a:cs typeface="Cambria"/>
              </a:rPr>
              <a:t>·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dirty="0"/>
              <a:t>Trọng</a:t>
            </a:r>
            <a:r>
              <a:rPr spc="35" dirty="0"/>
              <a:t> </a:t>
            </a:r>
            <a:r>
              <a:rPr dirty="0">
                <a:latin typeface="Cambria"/>
                <a:cs typeface="Cambria"/>
              </a:rPr>
              <a:t>·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dirty="0"/>
              <a:t>Quang</a:t>
            </a:r>
            <a:r>
              <a:rPr spc="245" dirty="0"/>
              <a:t> </a:t>
            </a:r>
            <a:r>
              <a:rPr dirty="0"/>
              <a:t>(ĐH</a:t>
            </a:r>
            <a:r>
              <a:rPr spc="40" dirty="0"/>
              <a:t> </a:t>
            </a:r>
            <a:r>
              <a:rPr spc="-10" dirty="0"/>
              <a:t>Phenikaa)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2441397" y="3122434"/>
            <a:ext cx="877569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4" action="ppaction://hlinksldjump"/>
              </a:rPr>
              <a:t>Cước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4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4" action="ppaction://hlinksldjump"/>
              </a:rPr>
              <a:t>phí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4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4" action="ppaction://hlinksldjump"/>
              </a:rPr>
              <a:t>Taxi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4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·</a:t>
            </a:r>
            <a:r>
              <a:rPr sz="600" spc="55" dirty="0">
                <a:solidFill>
                  <a:srgbClr val="FFFFFF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Microsoft Sans Serif"/>
                <a:cs typeface="Microsoft Sans Serif"/>
                <a:hlinkClick r:id="rId4" action="ppaction://hlinksldjump"/>
              </a:rPr>
              <a:t>Phenikaa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20" dirty="0"/>
              <a:t>2026</a:t>
            </a:r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15</a:t>
            </a:fld>
            <a:r>
              <a:rPr spc="-45" dirty="0"/>
              <a:t> </a:t>
            </a:r>
            <a:r>
              <a:rPr spc="150" dirty="0"/>
              <a:t>/</a:t>
            </a:r>
            <a:r>
              <a:rPr spc="-45" dirty="0"/>
              <a:t> </a:t>
            </a:r>
            <a:r>
              <a:rPr spc="-25" dirty="0"/>
              <a:t>19</a:t>
            </a:r>
          </a:p>
        </p:txBody>
      </p:sp>
      <p:pic>
        <p:nvPicPr>
          <p:cNvPr id="18" name="Hình ảnh 17">
            <a:extLst>
              <a:ext uri="{FF2B5EF4-FFF2-40B4-BE49-F238E27FC236}">
                <a16:creationId xmlns:a16="http://schemas.microsoft.com/office/drawing/2014/main" id="{7A1B34F3-5B1C-3EB6-843E-2F6453D069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322" y="955430"/>
            <a:ext cx="2612145" cy="396034"/>
          </a:xfrm>
          <a:prstGeom prst="rect">
            <a:avLst/>
          </a:prstGeom>
        </p:spPr>
      </p:pic>
      <p:pic>
        <p:nvPicPr>
          <p:cNvPr id="51" name="Hình ảnh 50">
            <a:extLst>
              <a:ext uri="{FF2B5EF4-FFF2-40B4-BE49-F238E27FC236}">
                <a16:creationId xmlns:a16="http://schemas.microsoft.com/office/drawing/2014/main" id="{083A53DD-1965-C3FC-43C5-000FB43446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545" y="2125318"/>
            <a:ext cx="2678382" cy="352016"/>
          </a:xfrm>
          <a:prstGeom prst="rect">
            <a:avLst/>
          </a:prstGeom>
        </p:spPr>
      </p:pic>
      <p:pic>
        <p:nvPicPr>
          <p:cNvPr id="53" name="Hình ảnh 52">
            <a:extLst>
              <a:ext uri="{FF2B5EF4-FFF2-40B4-BE49-F238E27FC236}">
                <a16:creationId xmlns:a16="http://schemas.microsoft.com/office/drawing/2014/main" id="{4885A669-79AE-9F81-815A-265299D24D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5118" y="974632"/>
            <a:ext cx="1827602" cy="343174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7363"/>
            <a:ext cx="23660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So</a:t>
            </a:r>
            <a:r>
              <a:rPr spc="30" dirty="0"/>
              <a:t> </a:t>
            </a:r>
            <a:r>
              <a:rPr spc="-75" dirty="0"/>
              <a:t>sánh</a:t>
            </a:r>
            <a:r>
              <a:rPr spc="30" dirty="0"/>
              <a:t> </a:t>
            </a:r>
            <a:r>
              <a:rPr spc="-20" dirty="0"/>
              <a:t>Hiệu</a:t>
            </a:r>
            <a:r>
              <a:rPr spc="30" dirty="0"/>
              <a:t> </a:t>
            </a:r>
            <a:r>
              <a:rPr spc="-70" dirty="0"/>
              <a:t>năng</a:t>
            </a:r>
            <a:r>
              <a:rPr spc="30" dirty="0"/>
              <a:t> </a:t>
            </a:r>
            <a:r>
              <a:rPr dirty="0"/>
              <a:t>Mô</a:t>
            </a:r>
            <a:r>
              <a:rPr spc="30" dirty="0"/>
              <a:t> </a:t>
            </a:r>
            <a:r>
              <a:rPr spc="-50" dirty="0"/>
              <a:t>hình</a:t>
            </a:r>
          </a:p>
        </p:txBody>
      </p:sp>
      <p:grpSp>
        <p:nvGrpSpPr>
          <p:cNvPr id="17" name="object 17"/>
          <p:cNvGrpSpPr/>
          <p:nvPr/>
        </p:nvGrpSpPr>
        <p:grpSpPr>
          <a:xfrm>
            <a:off x="0" y="3130372"/>
            <a:ext cx="5760085" cy="109855"/>
            <a:chOff x="0" y="3130372"/>
            <a:chExt cx="5760085" cy="109855"/>
          </a:xfrm>
        </p:grpSpPr>
        <p:sp>
          <p:nvSpPr>
            <p:cNvPr id="18" name="object 18"/>
            <p:cNvSpPr/>
            <p:nvPr/>
          </p:nvSpPr>
          <p:spPr>
            <a:xfrm>
              <a:off x="0" y="3130372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85" y="0"/>
                  </a:moveTo>
                  <a:lnTo>
                    <a:pt x="12" y="0"/>
                  </a:lnTo>
                  <a:lnTo>
                    <a:pt x="12" y="109626"/>
                  </a:lnTo>
                  <a:lnTo>
                    <a:pt x="1919985" y="109626"/>
                  </a:lnTo>
                  <a:lnTo>
                    <a:pt x="1919985" y="0"/>
                  </a:lnTo>
                  <a:close/>
                </a:path>
              </a:pathLst>
            </a:custGeom>
            <a:solidFill>
              <a:srgbClr val="197F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19973" y="3130384"/>
              <a:ext cx="3840479" cy="109855"/>
            </a:xfrm>
            <a:custGeom>
              <a:avLst/>
              <a:gdLst/>
              <a:ahLst/>
              <a:cxnLst/>
              <a:rect l="l" t="t" r="r" b="b"/>
              <a:pathLst>
                <a:path w="384047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13"/>
                  </a:lnTo>
                  <a:lnTo>
                    <a:pt x="1919973" y="109613"/>
                  </a:lnTo>
                  <a:lnTo>
                    <a:pt x="1919973" y="0"/>
                  </a:lnTo>
                  <a:close/>
                </a:path>
                <a:path w="3840479" h="109855">
                  <a:moveTo>
                    <a:pt x="3839959" y="0"/>
                  </a:moveTo>
                  <a:lnTo>
                    <a:pt x="1919986" y="0"/>
                  </a:lnTo>
                  <a:lnTo>
                    <a:pt x="1919986" y="109613"/>
                  </a:lnTo>
                  <a:lnTo>
                    <a:pt x="3839959" y="109613"/>
                  </a:lnTo>
                  <a:lnTo>
                    <a:pt x="3839959" y="0"/>
                  </a:lnTo>
                  <a:close/>
                </a:path>
              </a:pathLst>
            </a:custGeom>
            <a:solidFill>
              <a:srgbClr val="0C2B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" y="3214693"/>
              <a:ext cx="0" cy="25400"/>
            </a:xfrm>
            <a:custGeom>
              <a:avLst/>
              <a:gdLst/>
              <a:ahLst/>
              <a:cxnLst/>
              <a:rect l="l" t="t" r="r" b="b"/>
              <a:pathLst>
                <a:path h="25400">
                  <a:moveTo>
                    <a:pt x="0" y="25305"/>
                  </a:moveTo>
                  <a:lnTo>
                    <a:pt x="0" y="0"/>
                  </a:lnTo>
                  <a:lnTo>
                    <a:pt x="0" y="25305"/>
                  </a:lnTo>
                  <a:close/>
                </a:path>
                <a:path h="25400">
                  <a:moveTo>
                    <a:pt x="0" y="0"/>
                  </a:moveTo>
                </a:path>
              </a:pathLst>
            </a:custGeom>
            <a:solidFill>
              <a:srgbClr val="A3CB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Hiếu</a:t>
            </a:r>
            <a:r>
              <a:rPr spc="35" dirty="0"/>
              <a:t> </a:t>
            </a:r>
            <a:r>
              <a:rPr dirty="0">
                <a:latin typeface="Cambria"/>
                <a:cs typeface="Cambria"/>
              </a:rPr>
              <a:t>·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dirty="0"/>
              <a:t>Trọng</a:t>
            </a:r>
            <a:r>
              <a:rPr spc="35" dirty="0"/>
              <a:t> </a:t>
            </a:r>
            <a:r>
              <a:rPr dirty="0">
                <a:latin typeface="Cambria"/>
                <a:cs typeface="Cambria"/>
              </a:rPr>
              <a:t>·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dirty="0"/>
              <a:t>Quang</a:t>
            </a:r>
            <a:r>
              <a:rPr spc="245" dirty="0"/>
              <a:t> </a:t>
            </a:r>
            <a:r>
              <a:rPr dirty="0"/>
              <a:t>(ĐH</a:t>
            </a:r>
            <a:r>
              <a:rPr spc="40" dirty="0"/>
              <a:t> </a:t>
            </a:r>
            <a:r>
              <a:rPr spc="-10" dirty="0"/>
              <a:t>Phenikaa)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441397" y="3122434"/>
            <a:ext cx="877569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Cước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phí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Taxi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·</a:t>
            </a:r>
            <a:r>
              <a:rPr sz="600" spc="55" dirty="0">
                <a:solidFill>
                  <a:srgbClr val="FFFFFF"/>
                </a:solidFill>
                <a:latin typeface="Cambria"/>
                <a:cs typeface="Cambri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Microsoft Sans Serif"/>
                <a:cs typeface="Microsoft Sans Serif"/>
                <a:hlinkClick r:id="rId2" action="ppaction://hlinksldjump"/>
              </a:rPr>
              <a:t>Phenikaa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20" dirty="0"/>
              <a:t>2026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16</a:t>
            </a:fld>
            <a:r>
              <a:rPr spc="-45" dirty="0"/>
              <a:t> </a:t>
            </a:r>
            <a:r>
              <a:rPr spc="150" dirty="0"/>
              <a:t>/</a:t>
            </a:r>
            <a:r>
              <a:rPr spc="-45" dirty="0"/>
              <a:t> </a:t>
            </a:r>
            <a:r>
              <a:rPr spc="-25" dirty="0"/>
              <a:t>19</a:t>
            </a:r>
          </a:p>
        </p:txBody>
      </p:sp>
      <p:graphicFrame>
        <p:nvGraphicFramePr>
          <p:cNvPr id="25" name="Bảng 24">
            <a:extLst>
              <a:ext uri="{FF2B5EF4-FFF2-40B4-BE49-F238E27FC236}">
                <a16:creationId xmlns:a16="http://schemas.microsoft.com/office/drawing/2014/main" id="{EDBBE8EB-34DB-4FCF-B714-2DAD83F734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986657"/>
              </p:ext>
            </p:extLst>
          </p:nvPr>
        </p:nvGraphicFramePr>
        <p:xfrm>
          <a:off x="673100" y="479425"/>
          <a:ext cx="4267200" cy="175260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42650">
                  <a:extLst>
                    <a:ext uri="{9D8B030D-6E8A-4147-A177-3AD203B41FA5}">
                      <a16:colId xmlns:a16="http://schemas.microsoft.com/office/drawing/2014/main" val="1593202212"/>
                    </a:ext>
                  </a:extLst>
                </a:gridCol>
                <a:gridCol w="642650">
                  <a:extLst>
                    <a:ext uri="{9D8B030D-6E8A-4147-A177-3AD203B41FA5}">
                      <a16:colId xmlns:a16="http://schemas.microsoft.com/office/drawing/2014/main" val="460744462"/>
                    </a:ext>
                  </a:extLst>
                </a:gridCol>
                <a:gridCol w="642650">
                  <a:extLst>
                    <a:ext uri="{9D8B030D-6E8A-4147-A177-3AD203B41FA5}">
                      <a16:colId xmlns:a16="http://schemas.microsoft.com/office/drawing/2014/main" val="1651218504"/>
                    </a:ext>
                  </a:extLst>
                </a:gridCol>
                <a:gridCol w="642650">
                  <a:extLst>
                    <a:ext uri="{9D8B030D-6E8A-4147-A177-3AD203B41FA5}">
                      <a16:colId xmlns:a16="http://schemas.microsoft.com/office/drawing/2014/main" val="3672899984"/>
                    </a:ext>
                  </a:extLst>
                </a:gridCol>
                <a:gridCol w="642650">
                  <a:extLst>
                    <a:ext uri="{9D8B030D-6E8A-4147-A177-3AD203B41FA5}">
                      <a16:colId xmlns:a16="http://schemas.microsoft.com/office/drawing/2014/main" val="1677814164"/>
                    </a:ext>
                  </a:extLst>
                </a:gridCol>
                <a:gridCol w="1053950">
                  <a:extLst>
                    <a:ext uri="{9D8B030D-6E8A-4147-A177-3AD203B41FA5}">
                      <a16:colId xmlns:a16="http://schemas.microsoft.com/office/drawing/2014/main" val="2002474191"/>
                    </a:ext>
                  </a:extLst>
                </a:gridCol>
              </a:tblGrid>
              <a:tr h="35003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dirty="0">
                        <a:effectLst/>
                      </a:endParaRPr>
                    </a:p>
                  </a:txBody>
                  <a:tcPr marL="8539" marR="8539" marT="4270" marB="4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 err="1">
                          <a:effectLst/>
                        </a:rPr>
                        <a:t>Mô</a:t>
                      </a:r>
                      <a:r>
                        <a:rPr lang="en-US" sz="700" dirty="0">
                          <a:effectLst/>
                        </a:rPr>
                        <a:t> </a:t>
                      </a:r>
                      <a:r>
                        <a:rPr lang="en-US" sz="700" dirty="0" err="1">
                          <a:effectLst/>
                        </a:rPr>
                        <a:t>hình</a:t>
                      </a:r>
                      <a:endParaRPr lang="en-US" sz="700" dirty="0">
                        <a:effectLst/>
                      </a:endParaRPr>
                    </a:p>
                    <a:p>
                      <a:pPr algn="ctr" fontAlgn="ctr">
                        <a:buNone/>
                      </a:pPr>
                      <a:endParaRPr lang="en-US" sz="700" dirty="0">
                        <a:effectLst/>
                      </a:endParaRPr>
                    </a:p>
                  </a:txBody>
                  <a:tcPr marL="8539" marR="8539" marT="4270" marB="4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effectLst/>
                        </a:rPr>
                        <a:t>MAE (USD)</a:t>
                      </a:r>
                    </a:p>
                    <a:p>
                      <a:pPr algn="ctr" fontAlgn="ctr">
                        <a:buNone/>
                      </a:pPr>
                      <a:endParaRPr lang="en-US" sz="700" dirty="0">
                        <a:effectLst/>
                      </a:endParaRPr>
                    </a:p>
                  </a:txBody>
                  <a:tcPr marL="8539" marR="8539" marT="4270" marB="4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effectLst/>
                        </a:rPr>
                        <a:t>MSE</a:t>
                      </a:r>
                    </a:p>
                    <a:p>
                      <a:pPr algn="ctr" fontAlgn="ctr">
                        <a:buNone/>
                      </a:pPr>
                      <a:endParaRPr lang="en-US" sz="700" dirty="0">
                        <a:effectLst/>
                      </a:endParaRPr>
                    </a:p>
                  </a:txBody>
                  <a:tcPr marL="8539" marR="8539" marT="4270" marB="4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effectLst/>
                        </a:rPr>
                        <a:t>RMSE (USD)</a:t>
                      </a:r>
                    </a:p>
                    <a:p>
                      <a:pPr algn="ctr" fontAlgn="ctr">
                        <a:buNone/>
                      </a:pPr>
                      <a:endParaRPr lang="en-US" sz="700" dirty="0">
                        <a:effectLst/>
                      </a:endParaRPr>
                    </a:p>
                  </a:txBody>
                  <a:tcPr marL="8539" marR="8539" marT="4270" marB="4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effectLst/>
                        </a:rPr>
                        <a:t>R² Score</a:t>
                      </a:r>
                    </a:p>
                    <a:p>
                      <a:pPr algn="ctr"/>
                      <a:endParaRPr lang="en-US" sz="700" dirty="0"/>
                    </a:p>
                  </a:txBody>
                  <a:tcPr marL="15371" marR="15371" marT="7685" marB="76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927495"/>
                  </a:ext>
                </a:extLst>
              </a:tr>
              <a:tr h="2227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dirty="0">
                          <a:effectLst/>
                        </a:rPr>
                        <a:t>1</a:t>
                      </a:r>
                    </a:p>
                  </a:txBody>
                  <a:tcPr marL="8539" marR="8539" marT="4270" marB="4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dirty="0" err="1">
                          <a:effectLst/>
                        </a:rPr>
                        <a:t>LightGBM</a:t>
                      </a:r>
                      <a:endParaRPr lang="en-US" sz="700" dirty="0">
                        <a:effectLst/>
                      </a:endParaRPr>
                    </a:p>
                  </a:txBody>
                  <a:tcPr marL="8539" marR="8539" marT="4270" marB="4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dirty="0">
                          <a:effectLst/>
                        </a:rPr>
                        <a:t>1.4358</a:t>
                      </a:r>
                    </a:p>
                  </a:txBody>
                  <a:tcPr marL="8539" marR="8539" marT="4270" marB="4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dirty="0">
                          <a:effectLst/>
                        </a:rPr>
                        <a:t>3.2221</a:t>
                      </a:r>
                    </a:p>
                  </a:txBody>
                  <a:tcPr marL="8539" marR="8539" marT="4270" marB="4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>
                          <a:effectLst/>
                        </a:rPr>
                        <a:t>1.7950</a:t>
                      </a:r>
                    </a:p>
                  </a:txBody>
                  <a:tcPr marL="8539" marR="8539" marT="4270" marB="4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>
                          <a:effectLst/>
                        </a:rPr>
                        <a:t>0.8300</a:t>
                      </a:r>
                    </a:p>
                  </a:txBody>
                  <a:tcPr marL="8539" marR="8539" marT="4270" marB="4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6615605"/>
                  </a:ext>
                </a:extLst>
              </a:tr>
              <a:tr h="33958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dirty="0">
                          <a:effectLst/>
                        </a:rPr>
                        <a:t>2</a:t>
                      </a:r>
                    </a:p>
                  </a:txBody>
                  <a:tcPr marL="8539" marR="8539" marT="4270" marB="4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dirty="0">
                          <a:effectLst/>
                        </a:rPr>
                        <a:t>Random Forest</a:t>
                      </a:r>
                    </a:p>
                  </a:txBody>
                  <a:tcPr marL="8539" marR="8539" marT="4270" marB="4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dirty="0">
                          <a:effectLst/>
                        </a:rPr>
                        <a:t>1.4406</a:t>
                      </a:r>
                    </a:p>
                  </a:txBody>
                  <a:tcPr marL="8539" marR="8539" marT="4270" marB="4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dirty="0">
                          <a:effectLst/>
                        </a:rPr>
                        <a:t>3.2343</a:t>
                      </a:r>
                    </a:p>
                  </a:txBody>
                  <a:tcPr marL="8539" marR="8539" marT="4270" marB="4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dirty="0">
                          <a:effectLst/>
                        </a:rPr>
                        <a:t>1.7984</a:t>
                      </a:r>
                    </a:p>
                  </a:txBody>
                  <a:tcPr marL="8539" marR="8539" marT="4270" marB="4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dirty="0">
                          <a:effectLst/>
                        </a:rPr>
                        <a:t>0.8294</a:t>
                      </a:r>
                    </a:p>
                  </a:txBody>
                  <a:tcPr marL="8539" marR="8539" marT="4270" marB="4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4970944"/>
                  </a:ext>
                </a:extLst>
              </a:tr>
              <a:tr h="2227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>
                          <a:effectLst/>
                        </a:rPr>
                        <a:t>3</a:t>
                      </a:r>
                    </a:p>
                  </a:txBody>
                  <a:tcPr marL="8539" marR="8539" marT="4270" marB="4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dirty="0" err="1">
                          <a:effectLst/>
                        </a:rPr>
                        <a:t>XGBoost</a:t>
                      </a:r>
                      <a:endParaRPr lang="en-US" sz="700" dirty="0">
                        <a:effectLst/>
                      </a:endParaRPr>
                    </a:p>
                  </a:txBody>
                  <a:tcPr marL="8539" marR="8539" marT="4270" marB="4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>
                          <a:effectLst/>
                        </a:rPr>
                        <a:t>1.4401</a:t>
                      </a:r>
                    </a:p>
                  </a:txBody>
                  <a:tcPr marL="8539" marR="8539" marT="4270" marB="4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dirty="0">
                          <a:effectLst/>
                        </a:rPr>
                        <a:t>3.2393</a:t>
                      </a:r>
                    </a:p>
                  </a:txBody>
                  <a:tcPr marL="8539" marR="8539" marT="4270" marB="4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>
                          <a:effectLst/>
                        </a:rPr>
                        <a:t>1.7998</a:t>
                      </a:r>
                    </a:p>
                  </a:txBody>
                  <a:tcPr marL="8539" marR="8539" marT="4270" marB="4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>
                          <a:effectLst/>
                        </a:rPr>
                        <a:t>0.8291</a:t>
                      </a:r>
                    </a:p>
                  </a:txBody>
                  <a:tcPr marL="8539" marR="8539" marT="4270" marB="4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4492557"/>
                  </a:ext>
                </a:extLst>
              </a:tr>
              <a:tr h="3516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>
                          <a:effectLst/>
                        </a:rPr>
                        <a:t>4</a:t>
                      </a:r>
                    </a:p>
                  </a:txBody>
                  <a:tcPr marL="8539" marR="8539" marT="4270" marB="4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dirty="0">
                          <a:effectLst/>
                        </a:rPr>
                        <a:t>Linear Regression</a:t>
                      </a:r>
                    </a:p>
                  </a:txBody>
                  <a:tcPr marL="8539" marR="8539" marT="4270" marB="4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dirty="0">
                          <a:effectLst/>
                        </a:rPr>
                        <a:t>1.4506</a:t>
                      </a:r>
                    </a:p>
                  </a:txBody>
                  <a:tcPr marL="8539" marR="8539" marT="4270" marB="4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dirty="0">
                          <a:effectLst/>
                        </a:rPr>
                        <a:t>3.3074</a:t>
                      </a:r>
                    </a:p>
                  </a:txBody>
                  <a:tcPr marL="8539" marR="8539" marT="4270" marB="4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dirty="0">
                          <a:effectLst/>
                        </a:rPr>
                        <a:t>1.8186</a:t>
                      </a:r>
                    </a:p>
                  </a:txBody>
                  <a:tcPr marL="8539" marR="8539" marT="4270" marB="4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dirty="0">
                          <a:effectLst/>
                        </a:rPr>
                        <a:t>0.8255</a:t>
                      </a:r>
                    </a:p>
                  </a:txBody>
                  <a:tcPr marL="8539" marR="8539" marT="4270" marB="4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9744577"/>
                  </a:ext>
                </a:extLst>
              </a:tr>
              <a:tr h="26574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dirty="0">
                          <a:effectLst/>
                        </a:rPr>
                        <a:t>5</a:t>
                      </a:r>
                    </a:p>
                  </a:txBody>
                  <a:tcPr marL="8539" marR="8539" marT="4270" marB="4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dirty="0">
                          <a:effectLst/>
                        </a:rPr>
                        <a:t>Decision Tree</a:t>
                      </a:r>
                    </a:p>
                  </a:txBody>
                  <a:tcPr marL="8539" marR="8539" marT="4270" marB="4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>
                          <a:effectLst/>
                        </a:rPr>
                        <a:t>1.4647</a:t>
                      </a:r>
                    </a:p>
                  </a:txBody>
                  <a:tcPr marL="8539" marR="8539" marT="4270" marB="4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dirty="0">
                          <a:effectLst/>
                        </a:rPr>
                        <a:t>3.3654</a:t>
                      </a:r>
                    </a:p>
                  </a:txBody>
                  <a:tcPr marL="8539" marR="8539" marT="4270" marB="4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dirty="0">
                          <a:effectLst/>
                        </a:rPr>
                        <a:t>1.8345</a:t>
                      </a:r>
                    </a:p>
                  </a:txBody>
                  <a:tcPr marL="8539" marR="8539" marT="4270" marB="4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dirty="0">
                          <a:effectLst/>
                        </a:rPr>
                        <a:t>0.8225</a:t>
                      </a:r>
                    </a:p>
                  </a:txBody>
                  <a:tcPr marL="8539" marR="8539" marT="4270" marB="4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5977442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7363"/>
            <a:ext cx="7448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Kết</a:t>
            </a:r>
            <a:r>
              <a:rPr spc="114" dirty="0"/>
              <a:t> </a:t>
            </a:r>
            <a:r>
              <a:rPr spc="-75" dirty="0"/>
              <a:t>luận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74252" y="1658250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1B1B2D"/>
                </a:solidFill>
                <a:latin typeface="Microsoft Sans Serif"/>
                <a:cs typeface="Microsoft Sans Serif"/>
              </a:rPr>
              <a:t>2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383" y="588015"/>
            <a:ext cx="2833370" cy="2101986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66700" indent="-228600">
              <a:lnSpc>
                <a:spcPct val="100000"/>
              </a:lnSpc>
              <a:spcBef>
                <a:spcPts val="450"/>
              </a:spcBef>
              <a:buFont typeface="+mj-lt"/>
              <a:buAutoNum type="arabicPeriod"/>
            </a:pPr>
            <a:r>
              <a:rPr sz="1200" b="1" spc="-10" dirty="0" err="1">
                <a:solidFill>
                  <a:srgbClr val="1B1B2D"/>
                </a:solidFill>
                <a:latin typeface="Tahoma"/>
                <a:cs typeface="Tahoma"/>
              </a:rPr>
              <a:t>Phát</a:t>
            </a:r>
            <a:r>
              <a:rPr sz="1200" b="1" spc="-2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spc="-70" dirty="0" err="1">
                <a:solidFill>
                  <a:srgbClr val="1B1B2D"/>
                </a:solidFill>
                <a:latin typeface="Tahoma"/>
                <a:cs typeface="Tahoma"/>
              </a:rPr>
              <a:t>hiện</a:t>
            </a:r>
            <a:r>
              <a:rPr sz="1200" b="1" spc="-2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spc="-10" dirty="0" err="1">
                <a:solidFill>
                  <a:srgbClr val="1B1B2D"/>
                </a:solidFill>
                <a:latin typeface="Tahoma"/>
                <a:cs typeface="Tahoma"/>
              </a:rPr>
              <a:t>chính</a:t>
            </a:r>
            <a:r>
              <a:rPr sz="1200" b="1" spc="-10" dirty="0">
                <a:solidFill>
                  <a:srgbClr val="1B1B2D"/>
                </a:solidFill>
                <a:latin typeface="Tahoma"/>
                <a:cs typeface="Tahoma"/>
              </a:rPr>
              <a:t>:</a:t>
            </a:r>
            <a:endParaRPr sz="1200" dirty="0">
              <a:latin typeface="Tahoma"/>
              <a:cs typeface="Tahoma"/>
            </a:endParaRPr>
          </a:p>
          <a:p>
            <a:pPr marL="142240">
              <a:lnSpc>
                <a:spcPct val="100000"/>
              </a:lnSpc>
              <a:spcBef>
                <a:spcPts val="315"/>
              </a:spcBef>
              <a:buClr>
                <a:srgbClr val="0C2B54"/>
              </a:buClr>
              <a:tabLst>
                <a:tab pos="335280" algn="l"/>
              </a:tabLst>
            </a:pPr>
            <a:r>
              <a:rPr sz="1100" b="1" spc="-65" dirty="0" err="1">
                <a:solidFill>
                  <a:srgbClr val="1B1B2D"/>
                </a:solidFill>
                <a:latin typeface="Tahoma"/>
                <a:cs typeface="Tahoma"/>
              </a:rPr>
              <a:t>Quãng</a:t>
            </a:r>
            <a:r>
              <a:rPr sz="1100" b="1" spc="2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100" b="1" spc="-85" dirty="0" err="1">
                <a:solidFill>
                  <a:srgbClr val="1B1B2D"/>
                </a:solidFill>
                <a:latin typeface="Tahoma"/>
                <a:cs typeface="Tahoma"/>
              </a:rPr>
              <a:t>đường</a:t>
            </a:r>
            <a:r>
              <a:rPr sz="1100" b="1" spc="2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100" b="1" dirty="0">
                <a:solidFill>
                  <a:srgbClr val="1B1B2D"/>
                </a:solidFill>
                <a:latin typeface="Tahoma"/>
                <a:cs typeface="Tahoma"/>
              </a:rPr>
              <a:t>&amp;</a:t>
            </a:r>
            <a:r>
              <a:rPr sz="1100" b="1" spc="2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100" b="1" dirty="0" err="1">
                <a:solidFill>
                  <a:srgbClr val="1B1B2D"/>
                </a:solidFill>
                <a:latin typeface="Tahoma"/>
                <a:cs typeface="Tahoma"/>
              </a:rPr>
              <a:t>Thời</a:t>
            </a:r>
            <a:r>
              <a:rPr sz="1100" b="1" spc="3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100" b="1" spc="-85" dirty="0" err="1">
                <a:solidFill>
                  <a:srgbClr val="1B1B2D"/>
                </a:solidFill>
                <a:latin typeface="Tahoma"/>
                <a:cs typeface="Tahoma"/>
              </a:rPr>
              <a:t>lượng</a:t>
            </a:r>
            <a:r>
              <a:rPr sz="1100" b="1" spc="1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100" spc="-10" dirty="0" err="1">
                <a:solidFill>
                  <a:srgbClr val="1B1B2D"/>
                </a:solidFill>
                <a:latin typeface="Microsoft Sans Serif"/>
                <a:cs typeface="Microsoft Sans Serif"/>
              </a:rPr>
              <a:t>chiếm</a:t>
            </a:r>
            <a:endParaRPr sz="1100" dirty="0">
              <a:latin typeface="Microsoft Sans Serif"/>
              <a:cs typeface="Microsoft Sans Serif"/>
            </a:endParaRPr>
          </a:p>
          <a:p>
            <a:pPr marL="335280">
              <a:lnSpc>
                <a:spcPct val="100000"/>
              </a:lnSpc>
              <a:spcBef>
                <a:spcPts val="35"/>
              </a:spcBef>
            </a:pPr>
            <a:r>
              <a:rPr sz="1100" i="1" spc="-55" dirty="0">
                <a:solidFill>
                  <a:srgbClr val="1B1B2D"/>
                </a:solidFill>
                <a:latin typeface="Verdana"/>
                <a:cs typeface="Verdana"/>
              </a:rPr>
              <a:t>&gt;</a:t>
            </a:r>
            <a:r>
              <a:rPr sz="1100" spc="-55" dirty="0">
                <a:solidFill>
                  <a:srgbClr val="1B1B2D"/>
                </a:solidFill>
                <a:latin typeface="Microsoft Sans Serif"/>
                <a:cs typeface="Microsoft Sans Serif"/>
              </a:rPr>
              <a:t>90%</a:t>
            </a:r>
            <a:r>
              <a:rPr sz="1100" spc="-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45" dirty="0">
                <a:solidFill>
                  <a:srgbClr val="1B1B2D"/>
                </a:solidFill>
                <a:latin typeface="Microsoft Sans Serif"/>
                <a:cs typeface="Microsoft Sans Serif"/>
              </a:rPr>
              <a:t>Feature</a:t>
            </a:r>
            <a:r>
              <a:rPr sz="1100" spc="-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Importance</a:t>
            </a:r>
            <a:endParaRPr sz="1100" dirty="0">
              <a:latin typeface="Microsoft Sans Serif"/>
              <a:cs typeface="Microsoft Sans Serif"/>
            </a:endParaRPr>
          </a:p>
          <a:p>
            <a:pPr marL="142240" marR="340360">
              <a:lnSpc>
                <a:spcPct val="102600"/>
              </a:lnSpc>
              <a:spcBef>
                <a:spcPts val="495"/>
              </a:spcBef>
              <a:buClr>
                <a:srgbClr val="0C2B54"/>
              </a:buClr>
              <a:tabLst>
                <a:tab pos="335280" algn="l"/>
              </a:tabLst>
            </a:pPr>
            <a:r>
              <a:rPr sz="1100" b="1" spc="-70" dirty="0">
                <a:solidFill>
                  <a:srgbClr val="1B1B2D"/>
                </a:solidFill>
                <a:latin typeface="Tahoma"/>
                <a:cs typeface="Tahoma"/>
              </a:rPr>
              <a:t>Random</a:t>
            </a:r>
            <a:r>
              <a:rPr sz="1100" b="1" spc="2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100" b="1" spc="-70" dirty="0">
                <a:solidFill>
                  <a:srgbClr val="1B1B2D"/>
                </a:solidFill>
                <a:latin typeface="Tahoma"/>
                <a:cs typeface="Tahoma"/>
              </a:rPr>
              <a:t>Forest</a:t>
            </a:r>
            <a:r>
              <a:rPr sz="1100" b="1" spc="-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là</a:t>
            </a:r>
            <a:r>
              <a:rPr sz="1100" spc="2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mô</a:t>
            </a:r>
            <a:r>
              <a:rPr sz="1100" spc="2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hình</a:t>
            </a:r>
            <a:r>
              <a:rPr sz="1100" spc="2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tốt</a:t>
            </a:r>
            <a:r>
              <a:rPr sz="1100" spc="2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nhất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(</a:t>
            </a:r>
            <a:r>
              <a:rPr sz="1100" i="1" dirty="0">
                <a:solidFill>
                  <a:srgbClr val="1B1B2D"/>
                </a:solidFill>
                <a:latin typeface="Franklin Gothic Medium"/>
                <a:cs typeface="Franklin Gothic Medium"/>
              </a:rPr>
              <a:t>R</a:t>
            </a:r>
            <a:r>
              <a:rPr sz="1200" baseline="27777" dirty="0">
                <a:solidFill>
                  <a:srgbClr val="1B1B2D"/>
                </a:solidFill>
                <a:latin typeface="Microsoft Sans Serif"/>
                <a:cs typeface="Microsoft Sans Serif"/>
              </a:rPr>
              <a:t>2</a:t>
            </a:r>
            <a:r>
              <a:rPr sz="1200" spc="209" baseline="27777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35" dirty="0">
                <a:solidFill>
                  <a:srgbClr val="1B1B2D"/>
                </a:solidFill>
                <a:latin typeface="Lucida Sans Unicode"/>
                <a:cs typeface="Lucida Sans Unicode"/>
              </a:rPr>
              <a:t>≈</a:t>
            </a:r>
            <a:r>
              <a:rPr sz="1100" spc="-60" dirty="0">
                <a:solidFill>
                  <a:srgbClr val="1B1B2D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0</a:t>
            </a:r>
            <a:r>
              <a:rPr sz="1100" i="1" spc="-10" dirty="0">
                <a:solidFill>
                  <a:srgbClr val="1B1B2D"/>
                </a:solidFill>
                <a:latin typeface="Verdana"/>
                <a:cs typeface="Verdana"/>
              </a:rPr>
              <a:t>.</a:t>
            </a:r>
            <a:r>
              <a:rPr lang="vi-VN"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8294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)</a:t>
            </a:r>
            <a:endParaRPr sz="1100" dirty="0">
              <a:latin typeface="Microsoft Sans Serif"/>
              <a:cs typeface="Microsoft Sans Serif"/>
            </a:endParaRPr>
          </a:p>
          <a:p>
            <a:pPr marL="142240" marR="106045">
              <a:lnSpc>
                <a:spcPct val="102600"/>
              </a:lnSpc>
              <a:spcBef>
                <a:spcPts val="500"/>
              </a:spcBef>
              <a:buClr>
                <a:srgbClr val="0C2B54"/>
              </a:buClr>
              <a:tabLst>
                <a:tab pos="335280" algn="l"/>
              </a:tabLst>
            </a:pPr>
            <a:r>
              <a:rPr lang="vi-VN" sz="1100" b="1" spc="35" dirty="0" err="1">
                <a:solidFill>
                  <a:srgbClr val="1B1B2D"/>
                </a:solidFill>
                <a:latin typeface="Tahoma"/>
                <a:cs typeface="Tahoma"/>
              </a:rPr>
              <a:t>Decision</a:t>
            </a:r>
            <a:r>
              <a:rPr lang="vi-VN" sz="1100" b="1" spc="3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lang="vi-VN" sz="1100" b="1" spc="35" dirty="0" err="1">
                <a:solidFill>
                  <a:srgbClr val="1B1B2D"/>
                </a:solidFill>
                <a:latin typeface="Tahoma"/>
                <a:cs typeface="Tahoma"/>
              </a:rPr>
              <a:t>Tree</a:t>
            </a:r>
            <a:r>
              <a:rPr lang="en-US" sz="1100" b="1" spc="3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lang="en-US" sz="1100" b="1" spc="2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100" spc="-75" dirty="0" err="1">
                <a:solidFill>
                  <a:srgbClr val="1B1B2D"/>
                </a:solidFill>
                <a:latin typeface="Microsoft Sans Serif"/>
                <a:cs typeface="Microsoft Sans Serif"/>
              </a:rPr>
              <a:t>yếu</a:t>
            </a:r>
            <a:r>
              <a:rPr sz="1100" spc="5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 err="1">
                <a:solidFill>
                  <a:srgbClr val="1B1B2D"/>
                </a:solidFill>
                <a:latin typeface="Microsoft Sans Serif"/>
                <a:cs typeface="Microsoft Sans Serif"/>
              </a:rPr>
              <a:t>nhất</a:t>
            </a:r>
            <a:r>
              <a:rPr sz="1100" spc="5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(</a:t>
            </a:r>
            <a:r>
              <a:rPr sz="1100" i="1" dirty="0">
                <a:solidFill>
                  <a:srgbClr val="1B1B2D"/>
                </a:solidFill>
                <a:latin typeface="Franklin Gothic Medium"/>
                <a:cs typeface="Franklin Gothic Medium"/>
              </a:rPr>
              <a:t>R</a:t>
            </a:r>
            <a:r>
              <a:rPr sz="1100" spc="-35" dirty="0">
                <a:solidFill>
                  <a:srgbClr val="1B1B2D"/>
                </a:solidFill>
                <a:latin typeface="Lucida Sans Unicode"/>
                <a:cs typeface="Lucida Sans Unicode"/>
              </a:rPr>
              <a:t>≈</a:t>
            </a:r>
            <a:r>
              <a:rPr lang="vi-VN" sz="1100" spc="-35" dirty="0">
                <a:solidFill>
                  <a:srgbClr val="1B1B2D"/>
                </a:solidFill>
                <a:latin typeface="Lucida Sans Unicode"/>
                <a:cs typeface="Lucida Sans Unicode"/>
              </a:rPr>
              <a:t>0.8225</a:t>
            </a:r>
            <a:r>
              <a:rPr sz="1100" spc="-30" dirty="0">
                <a:solidFill>
                  <a:srgbClr val="1B1B2D"/>
                </a:solidFill>
                <a:latin typeface="Microsoft Sans Serif"/>
                <a:cs typeface="Microsoft Sans Serif"/>
              </a:rPr>
              <a:t>) 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do</a:t>
            </a:r>
            <a:r>
              <a:rPr sz="1100" spc="-3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endParaRPr sz="1100" dirty="0">
              <a:latin typeface="Microsoft Sans Serif"/>
              <a:cs typeface="Microsoft Sans Serif"/>
            </a:endParaRPr>
          </a:p>
          <a:p>
            <a:pPr marL="142240" marR="80645">
              <a:lnSpc>
                <a:spcPct val="102600"/>
              </a:lnSpc>
              <a:spcBef>
                <a:spcPts val="500"/>
              </a:spcBef>
              <a:buClr>
                <a:srgbClr val="0C2B54"/>
              </a:buClr>
              <a:tabLst>
                <a:tab pos="335280" algn="l"/>
              </a:tabLst>
            </a:pPr>
            <a:r>
              <a:rPr sz="1100" dirty="0" err="1">
                <a:solidFill>
                  <a:srgbClr val="1B1B2D"/>
                </a:solidFill>
                <a:latin typeface="Microsoft Sans Serif"/>
                <a:cs typeface="Microsoft Sans Serif"/>
              </a:rPr>
              <a:t>Tiền</a:t>
            </a:r>
            <a:r>
              <a:rPr sz="1100" spc="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xử</a:t>
            </a:r>
            <a:r>
              <a:rPr sz="1100" spc="1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lý</a:t>
            </a:r>
            <a:r>
              <a:rPr sz="1100" spc="2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b="1" spc="-45" dirty="0">
                <a:solidFill>
                  <a:srgbClr val="1B1B2D"/>
                </a:solidFill>
                <a:latin typeface="Tahoma"/>
                <a:cs typeface="Tahoma"/>
              </a:rPr>
              <a:t>IQR</a:t>
            </a:r>
            <a:r>
              <a:rPr sz="1100" b="1" spc="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100" b="1" dirty="0">
                <a:solidFill>
                  <a:srgbClr val="1B1B2D"/>
                </a:solidFill>
                <a:latin typeface="Tahoma"/>
                <a:cs typeface="Tahoma"/>
              </a:rPr>
              <a:t>+</a:t>
            </a:r>
            <a:r>
              <a:rPr sz="1100" b="1" spc="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100" b="1" spc="-65" dirty="0">
                <a:solidFill>
                  <a:srgbClr val="1B1B2D"/>
                </a:solidFill>
                <a:latin typeface="Tahoma"/>
                <a:cs typeface="Tahoma"/>
              </a:rPr>
              <a:t>Capping</a:t>
            </a:r>
            <a:r>
              <a:rPr sz="1100" b="1" spc="-1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giúp</a:t>
            </a:r>
            <a:r>
              <a:rPr sz="1100" spc="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tăng</a:t>
            </a:r>
            <a:r>
              <a:rPr sz="1100" spc="1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độ 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ổn</a:t>
            </a:r>
            <a:r>
              <a:rPr sz="1100" spc="-4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định</a:t>
            </a:r>
            <a:r>
              <a:rPr sz="1100" spc="-3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55" dirty="0">
                <a:solidFill>
                  <a:srgbClr val="1B1B2D"/>
                </a:solidFill>
                <a:latin typeface="Microsoft Sans Serif"/>
                <a:cs typeface="Microsoft Sans Serif"/>
              </a:rPr>
              <a:t>đáng</a:t>
            </a:r>
            <a:r>
              <a:rPr sz="1100" spc="-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kể</a:t>
            </a:r>
            <a:endParaRPr sz="1100" dirty="0">
              <a:latin typeface="Microsoft Sans Serif"/>
              <a:cs typeface="Microsoft Sans Serif"/>
            </a:endParaRPr>
          </a:p>
          <a:p>
            <a:pPr marL="142240" marR="30480">
              <a:lnSpc>
                <a:spcPct val="109400"/>
              </a:lnSpc>
              <a:spcBef>
                <a:spcPts val="495"/>
              </a:spcBef>
              <a:buClr>
                <a:srgbClr val="0C2B54"/>
              </a:buClr>
              <a:tabLst>
                <a:tab pos="335280" algn="l"/>
              </a:tabLst>
            </a:pPr>
            <a:r>
              <a:rPr sz="11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Tồn</a:t>
            </a:r>
            <a:r>
              <a:rPr sz="1100" spc="-4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tại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b="1" spc="-60" dirty="0">
                <a:solidFill>
                  <a:srgbClr val="1B1B2D"/>
                </a:solidFill>
                <a:latin typeface="Tahoma"/>
                <a:cs typeface="Tahoma"/>
              </a:rPr>
              <a:t>giá</a:t>
            </a:r>
            <a:r>
              <a:rPr sz="1100" b="1" spc="-2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100" b="1" spc="-65" dirty="0">
                <a:solidFill>
                  <a:srgbClr val="1B1B2D"/>
                </a:solidFill>
                <a:latin typeface="Tahoma"/>
                <a:cs typeface="Tahoma"/>
              </a:rPr>
              <a:t>mở</a:t>
            </a:r>
            <a:r>
              <a:rPr sz="1100" b="1" spc="-1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100" b="1" spc="-55" dirty="0">
                <a:solidFill>
                  <a:srgbClr val="1B1B2D"/>
                </a:solidFill>
                <a:latin typeface="Tahoma"/>
                <a:cs typeface="Tahoma"/>
              </a:rPr>
              <a:t>cửa</a:t>
            </a:r>
            <a:r>
              <a:rPr sz="1100" b="1" spc="-2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100" b="1" dirty="0">
                <a:solidFill>
                  <a:srgbClr val="1B1B2D"/>
                </a:solidFill>
                <a:latin typeface="Tahoma"/>
                <a:cs typeface="Tahoma"/>
              </a:rPr>
              <a:t>cố</a:t>
            </a:r>
            <a:r>
              <a:rPr sz="1100" b="1" spc="-1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100" b="1" spc="-65" dirty="0">
                <a:solidFill>
                  <a:srgbClr val="1B1B2D"/>
                </a:solidFill>
                <a:latin typeface="Tahoma"/>
                <a:cs typeface="Tahoma"/>
              </a:rPr>
              <a:t>định</a:t>
            </a:r>
            <a:r>
              <a:rPr sz="1100" b="1" spc="-1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trong</a:t>
            </a:r>
            <a:r>
              <a:rPr sz="1100" spc="-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cơ </a:t>
            </a:r>
            <a:r>
              <a:rPr sz="1100" spc="-40" dirty="0">
                <a:solidFill>
                  <a:srgbClr val="1B1B2D"/>
                </a:solidFill>
                <a:latin typeface="Microsoft Sans Serif"/>
                <a:cs typeface="Microsoft Sans Serif"/>
              </a:rPr>
              <a:t>chế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tính</a:t>
            </a:r>
            <a:r>
              <a:rPr sz="1100" spc="4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cước</a:t>
            </a:r>
            <a:endParaRPr sz="1100" dirty="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98914" y="633079"/>
            <a:ext cx="118491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10" dirty="0">
                <a:solidFill>
                  <a:srgbClr val="1B1B2D"/>
                </a:solidFill>
                <a:latin typeface="Tahoma"/>
                <a:cs typeface="Tahoma"/>
              </a:rPr>
              <a:t>Lợi</a:t>
            </a:r>
            <a:r>
              <a:rPr sz="1200" b="1" spc="-6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spc="-25" dirty="0">
                <a:solidFill>
                  <a:srgbClr val="1B1B2D"/>
                </a:solidFill>
                <a:latin typeface="Tahoma"/>
                <a:cs typeface="Tahoma"/>
              </a:rPr>
              <a:t>ích</a:t>
            </a:r>
            <a:r>
              <a:rPr sz="1200" b="1" spc="-3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spc="-85" dirty="0">
                <a:solidFill>
                  <a:srgbClr val="1B1B2D"/>
                </a:solidFill>
                <a:latin typeface="Tahoma"/>
                <a:cs typeface="Tahoma"/>
              </a:rPr>
              <a:t>mang</a:t>
            </a:r>
            <a:r>
              <a:rPr sz="1200" b="1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200" b="1" spc="-45" dirty="0">
                <a:solidFill>
                  <a:srgbClr val="1B1B2D"/>
                </a:solidFill>
                <a:latin typeface="Tahoma"/>
                <a:cs typeface="Tahoma"/>
              </a:rPr>
              <a:t>lại: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114135" y="914299"/>
            <a:ext cx="1224280" cy="248920"/>
            <a:chOff x="3114135" y="914299"/>
            <a:chExt cx="1224280" cy="248920"/>
          </a:xfrm>
        </p:grpSpPr>
        <p:sp>
          <p:nvSpPr>
            <p:cNvPr id="7" name="object 7"/>
            <p:cNvSpPr/>
            <p:nvPr/>
          </p:nvSpPr>
          <p:spPr>
            <a:xfrm>
              <a:off x="3114135" y="914299"/>
              <a:ext cx="1224280" cy="248920"/>
            </a:xfrm>
            <a:custGeom>
              <a:avLst/>
              <a:gdLst/>
              <a:ahLst/>
              <a:cxnLst/>
              <a:rect l="l" t="t" r="r" b="b"/>
              <a:pathLst>
                <a:path w="1224279" h="248919">
                  <a:moveTo>
                    <a:pt x="1224013" y="0"/>
                  </a:moveTo>
                  <a:lnTo>
                    <a:pt x="0" y="0"/>
                  </a:lnTo>
                  <a:lnTo>
                    <a:pt x="0" y="248537"/>
                  </a:lnTo>
                  <a:lnTo>
                    <a:pt x="1224013" y="248537"/>
                  </a:lnTo>
                  <a:lnTo>
                    <a:pt x="1224013" y="0"/>
                  </a:lnTo>
                  <a:close/>
                </a:path>
              </a:pathLst>
            </a:custGeom>
            <a:solidFill>
              <a:srgbClr val="D6E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40582" y="965720"/>
              <a:ext cx="123825" cy="13970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114135" y="914299"/>
            <a:ext cx="1224280" cy="248920"/>
          </a:xfrm>
          <a:prstGeom prst="rect">
            <a:avLst/>
          </a:prstGeom>
          <a:ln w="5060">
            <a:solidFill>
              <a:srgbClr val="0C2B54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340360">
              <a:lnSpc>
                <a:spcPct val="100000"/>
              </a:lnSpc>
              <a:spcBef>
                <a:spcPts val="254"/>
              </a:spcBef>
            </a:pPr>
            <a:r>
              <a:rPr sz="1100" b="1" spc="-25" dirty="0">
                <a:solidFill>
                  <a:srgbClr val="1B1B2D"/>
                </a:solidFill>
                <a:latin typeface="Tahoma"/>
                <a:cs typeface="Tahoma"/>
              </a:rPr>
              <a:t>Khách</a:t>
            </a:r>
            <a:r>
              <a:rPr sz="1100" b="1" spc="-4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100" b="1" spc="-20" dirty="0">
                <a:solidFill>
                  <a:srgbClr val="1B1B2D"/>
                </a:solidFill>
                <a:latin typeface="Tahoma"/>
                <a:cs typeface="Tahoma"/>
              </a:rPr>
              <a:t>hàng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114135" y="1257898"/>
            <a:ext cx="1224280" cy="228600"/>
            <a:chOff x="3114135" y="1257898"/>
            <a:chExt cx="1224280" cy="228600"/>
          </a:xfrm>
        </p:grpSpPr>
        <p:sp>
          <p:nvSpPr>
            <p:cNvPr id="11" name="object 11"/>
            <p:cNvSpPr/>
            <p:nvPr/>
          </p:nvSpPr>
          <p:spPr>
            <a:xfrm>
              <a:off x="3114135" y="1257898"/>
              <a:ext cx="1224280" cy="228600"/>
            </a:xfrm>
            <a:custGeom>
              <a:avLst/>
              <a:gdLst/>
              <a:ahLst/>
              <a:cxnLst/>
              <a:rect l="l" t="t" r="r" b="b"/>
              <a:pathLst>
                <a:path w="1224279" h="228600">
                  <a:moveTo>
                    <a:pt x="1224013" y="0"/>
                  </a:moveTo>
                  <a:lnTo>
                    <a:pt x="0" y="0"/>
                  </a:lnTo>
                  <a:lnTo>
                    <a:pt x="0" y="228482"/>
                  </a:lnTo>
                  <a:lnTo>
                    <a:pt x="1224013" y="228482"/>
                  </a:lnTo>
                  <a:lnTo>
                    <a:pt x="1224013" y="0"/>
                  </a:lnTo>
                  <a:close/>
                </a:path>
              </a:pathLst>
            </a:custGeom>
            <a:solidFill>
              <a:srgbClr val="D6E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13239" y="1332064"/>
              <a:ext cx="142875" cy="10795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3114135" y="1257898"/>
            <a:ext cx="1224280" cy="228600"/>
          </a:xfrm>
          <a:prstGeom prst="rect">
            <a:avLst/>
          </a:prstGeom>
          <a:ln w="5060">
            <a:solidFill>
              <a:srgbClr val="0C2B54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533400">
              <a:lnSpc>
                <a:spcPct val="100000"/>
              </a:lnSpc>
              <a:spcBef>
                <a:spcPts val="305"/>
              </a:spcBef>
            </a:pPr>
            <a:r>
              <a:rPr sz="1100" b="1" dirty="0">
                <a:solidFill>
                  <a:srgbClr val="1B1B2D"/>
                </a:solidFill>
                <a:latin typeface="Tahoma"/>
                <a:cs typeface="Tahoma"/>
              </a:rPr>
              <a:t>Tài</a:t>
            </a:r>
            <a:r>
              <a:rPr sz="1100" b="1" spc="-6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100" b="1" spc="-25" dirty="0">
                <a:solidFill>
                  <a:srgbClr val="1B1B2D"/>
                </a:solidFill>
                <a:latin typeface="Tahoma"/>
                <a:cs typeface="Tahoma"/>
              </a:rPr>
              <a:t>xế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114135" y="1581443"/>
            <a:ext cx="1224280" cy="248920"/>
            <a:chOff x="3114135" y="1581443"/>
            <a:chExt cx="1224280" cy="248920"/>
          </a:xfrm>
        </p:grpSpPr>
        <p:sp>
          <p:nvSpPr>
            <p:cNvPr id="15" name="object 15"/>
            <p:cNvSpPr/>
            <p:nvPr/>
          </p:nvSpPr>
          <p:spPr>
            <a:xfrm>
              <a:off x="3114135" y="1581443"/>
              <a:ext cx="1224280" cy="248920"/>
            </a:xfrm>
            <a:custGeom>
              <a:avLst/>
              <a:gdLst/>
              <a:ahLst/>
              <a:cxnLst/>
              <a:rect l="l" t="t" r="r" b="b"/>
              <a:pathLst>
                <a:path w="1224279" h="248919">
                  <a:moveTo>
                    <a:pt x="1224013" y="0"/>
                  </a:moveTo>
                  <a:lnTo>
                    <a:pt x="0" y="0"/>
                  </a:lnTo>
                  <a:lnTo>
                    <a:pt x="0" y="248537"/>
                  </a:lnTo>
                  <a:lnTo>
                    <a:pt x="1224013" y="248537"/>
                  </a:lnTo>
                  <a:lnTo>
                    <a:pt x="1224013" y="0"/>
                  </a:lnTo>
                  <a:close/>
                </a:path>
              </a:pathLst>
            </a:custGeom>
            <a:solidFill>
              <a:srgbClr val="D6E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78632" y="1632851"/>
              <a:ext cx="123825" cy="13970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3114135" y="1581443"/>
            <a:ext cx="1224280" cy="248920"/>
          </a:xfrm>
          <a:prstGeom prst="rect">
            <a:avLst/>
          </a:prstGeom>
          <a:ln w="5060">
            <a:solidFill>
              <a:srgbClr val="0C2B54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278765">
              <a:lnSpc>
                <a:spcPct val="100000"/>
              </a:lnSpc>
              <a:spcBef>
                <a:spcPts val="254"/>
              </a:spcBef>
            </a:pPr>
            <a:r>
              <a:rPr sz="1100" b="1" spc="-45" dirty="0">
                <a:solidFill>
                  <a:srgbClr val="1B1B2D"/>
                </a:solidFill>
                <a:latin typeface="Tahoma"/>
                <a:cs typeface="Tahoma"/>
              </a:rPr>
              <a:t>Doanh</a:t>
            </a:r>
            <a:r>
              <a:rPr sz="1100" b="1" spc="-2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1B1B2D"/>
                </a:solidFill>
                <a:latin typeface="Tahoma"/>
                <a:cs typeface="Tahoma"/>
              </a:rPr>
              <a:t>nghiệp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52048" y="978070"/>
            <a:ext cx="10502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1B1B2D"/>
                </a:solidFill>
                <a:latin typeface="Microsoft Sans Serif"/>
                <a:cs typeface="Microsoft Sans Serif"/>
              </a:rPr>
              <a:t>Ước</a:t>
            </a:r>
            <a:r>
              <a:rPr sz="600" spc="5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600" dirty="0">
                <a:solidFill>
                  <a:srgbClr val="1B1B2D"/>
                </a:solidFill>
                <a:latin typeface="Microsoft Sans Serif"/>
                <a:cs typeface="Microsoft Sans Serif"/>
              </a:rPr>
              <a:t>tính</a:t>
            </a:r>
            <a:r>
              <a:rPr sz="600" spc="5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600" dirty="0">
                <a:solidFill>
                  <a:srgbClr val="1B1B2D"/>
                </a:solidFill>
                <a:latin typeface="Microsoft Sans Serif"/>
                <a:cs typeface="Microsoft Sans Serif"/>
              </a:rPr>
              <a:t>cước</a:t>
            </a:r>
            <a:r>
              <a:rPr sz="600" spc="5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600" dirty="0">
                <a:solidFill>
                  <a:srgbClr val="1B1B2D"/>
                </a:solidFill>
                <a:latin typeface="Microsoft Sans Serif"/>
                <a:cs typeface="Microsoft Sans Serif"/>
              </a:rPr>
              <a:t>trước</a:t>
            </a:r>
            <a:r>
              <a:rPr sz="600" spc="5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6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chuyến</a:t>
            </a:r>
            <a:r>
              <a:rPr sz="600" spc="5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6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đi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52048" y="1311635"/>
            <a:ext cx="101346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1B1B2D"/>
                </a:solidFill>
                <a:latin typeface="Microsoft Sans Serif"/>
                <a:cs typeface="Microsoft Sans Serif"/>
              </a:rPr>
              <a:t>Ưu</a:t>
            </a:r>
            <a:r>
              <a:rPr sz="600" spc="3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600" dirty="0">
                <a:solidFill>
                  <a:srgbClr val="1B1B2D"/>
                </a:solidFill>
                <a:latin typeface="Microsoft Sans Serif"/>
                <a:cs typeface="Microsoft Sans Serif"/>
              </a:rPr>
              <a:t>tiên</a:t>
            </a:r>
            <a:r>
              <a:rPr sz="600" spc="4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6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chuyến</a:t>
            </a:r>
            <a:r>
              <a:rPr sz="600" spc="4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600" dirty="0">
                <a:solidFill>
                  <a:srgbClr val="1B1B2D"/>
                </a:solidFill>
                <a:latin typeface="Microsoft Sans Serif"/>
                <a:cs typeface="Microsoft Sans Serif"/>
              </a:rPr>
              <a:t>lợi</a:t>
            </a:r>
            <a:r>
              <a:rPr sz="600" spc="4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6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nhuận</a:t>
            </a:r>
            <a:r>
              <a:rPr sz="600" spc="4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6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cao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452048" y="1602706"/>
            <a:ext cx="883285" cy="20510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700"/>
              </a:lnSpc>
              <a:spcBef>
                <a:spcPts val="135"/>
              </a:spcBef>
            </a:pPr>
            <a:r>
              <a:rPr sz="600" dirty="0">
                <a:solidFill>
                  <a:srgbClr val="1B1B2D"/>
                </a:solidFill>
                <a:latin typeface="Microsoft Sans Serif"/>
                <a:cs typeface="Microsoft Sans Serif"/>
              </a:rPr>
              <a:t>Tối</a:t>
            </a:r>
            <a:r>
              <a:rPr sz="600" spc="2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600" dirty="0">
                <a:solidFill>
                  <a:srgbClr val="1B1B2D"/>
                </a:solidFill>
                <a:latin typeface="Microsoft Sans Serif"/>
                <a:cs typeface="Microsoft Sans Serif"/>
              </a:rPr>
              <a:t>ưu</a:t>
            </a:r>
            <a:r>
              <a:rPr sz="600" spc="2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600" dirty="0">
                <a:solidFill>
                  <a:srgbClr val="1B1B2D"/>
                </a:solidFill>
                <a:latin typeface="Microsoft Sans Serif"/>
                <a:cs typeface="Microsoft Sans Serif"/>
              </a:rPr>
              <a:t>vận</a:t>
            </a:r>
            <a:r>
              <a:rPr sz="600" spc="2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600" dirty="0">
                <a:solidFill>
                  <a:srgbClr val="1B1B2D"/>
                </a:solidFill>
                <a:latin typeface="Microsoft Sans Serif"/>
                <a:cs typeface="Microsoft Sans Serif"/>
              </a:rPr>
              <a:t>hành,</a:t>
            </a:r>
            <a:r>
              <a:rPr sz="600" spc="2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600" dirty="0">
                <a:solidFill>
                  <a:srgbClr val="1B1B2D"/>
                </a:solidFill>
                <a:latin typeface="Microsoft Sans Serif"/>
                <a:cs typeface="Microsoft Sans Serif"/>
              </a:rPr>
              <a:t>tăng</a:t>
            </a:r>
            <a:r>
              <a:rPr sz="600" spc="2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6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lợi</a:t>
            </a:r>
            <a:r>
              <a:rPr sz="600" spc="50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6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nhuận</a:t>
            </a:r>
            <a:endParaRPr sz="600">
              <a:latin typeface="Microsoft Sans Serif"/>
              <a:cs typeface="Microsoft Sans Serif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-3" y="3130372"/>
            <a:ext cx="5760085" cy="109855"/>
            <a:chOff x="-3" y="3130372"/>
            <a:chExt cx="5760085" cy="109855"/>
          </a:xfrm>
        </p:grpSpPr>
        <p:sp>
          <p:nvSpPr>
            <p:cNvPr id="22" name="object 22"/>
            <p:cNvSpPr/>
            <p:nvPr/>
          </p:nvSpPr>
          <p:spPr>
            <a:xfrm>
              <a:off x="0" y="3130372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26"/>
                  </a:lnTo>
                  <a:lnTo>
                    <a:pt x="1919973" y="10962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7F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919973" y="3130372"/>
              <a:ext cx="3840479" cy="109855"/>
            </a:xfrm>
            <a:custGeom>
              <a:avLst/>
              <a:gdLst/>
              <a:ahLst/>
              <a:cxnLst/>
              <a:rect l="l" t="t" r="r" b="b"/>
              <a:pathLst>
                <a:path w="3840479" h="109855">
                  <a:moveTo>
                    <a:pt x="3839946" y="0"/>
                  </a:moveTo>
                  <a:lnTo>
                    <a:pt x="1919973" y="0"/>
                  </a:lnTo>
                  <a:lnTo>
                    <a:pt x="0" y="0"/>
                  </a:lnTo>
                  <a:lnTo>
                    <a:pt x="0" y="109626"/>
                  </a:lnTo>
                  <a:lnTo>
                    <a:pt x="1919973" y="109626"/>
                  </a:lnTo>
                  <a:lnTo>
                    <a:pt x="3839946" y="109626"/>
                  </a:lnTo>
                  <a:lnTo>
                    <a:pt x="3839946" y="0"/>
                  </a:lnTo>
                  <a:close/>
                </a:path>
              </a:pathLst>
            </a:custGeom>
            <a:solidFill>
              <a:srgbClr val="0C2B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-3" y="3214693"/>
              <a:ext cx="0" cy="25400"/>
            </a:xfrm>
            <a:custGeom>
              <a:avLst/>
              <a:gdLst/>
              <a:ahLst/>
              <a:cxnLst/>
              <a:rect l="l" t="t" r="r" b="b"/>
              <a:pathLst>
                <a:path h="25400">
                  <a:moveTo>
                    <a:pt x="0" y="25305"/>
                  </a:moveTo>
                  <a:lnTo>
                    <a:pt x="0" y="0"/>
                  </a:lnTo>
                  <a:lnTo>
                    <a:pt x="0" y="25305"/>
                  </a:lnTo>
                  <a:close/>
                </a:path>
                <a:path h="25400">
                  <a:moveTo>
                    <a:pt x="0" y="0"/>
                  </a:moveTo>
                </a:path>
              </a:pathLst>
            </a:custGeom>
            <a:solidFill>
              <a:srgbClr val="A3CB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Hiếu</a:t>
            </a:r>
            <a:r>
              <a:rPr spc="35" dirty="0"/>
              <a:t> </a:t>
            </a:r>
            <a:r>
              <a:rPr dirty="0">
                <a:latin typeface="Cambria"/>
                <a:cs typeface="Cambria"/>
              </a:rPr>
              <a:t>·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dirty="0"/>
              <a:t>Trọng</a:t>
            </a:r>
            <a:r>
              <a:rPr spc="35" dirty="0"/>
              <a:t> </a:t>
            </a:r>
            <a:r>
              <a:rPr dirty="0">
                <a:latin typeface="Cambria"/>
                <a:cs typeface="Cambria"/>
              </a:rPr>
              <a:t>·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dirty="0"/>
              <a:t>Quang</a:t>
            </a:r>
            <a:r>
              <a:rPr spc="245" dirty="0"/>
              <a:t> </a:t>
            </a:r>
            <a:r>
              <a:rPr dirty="0"/>
              <a:t>(ĐH</a:t>
            </a:r>
            <a:r>
              <a:rPr spc="40" dirty="0"/>
              <a:t> </a:t>
            </a:r>
            <a:r>
              <a:rPr spc="-10" dirty="0"/>
              <a:t>Phenikaa)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441397" y="3122434"/>
            <a:ext cx="877569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5" action="ppaction://hlinksldjump"/>
              </a:rPr>
              <a:t>Cước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5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5" action="ppaction://hlinksldjump"/>
              </a:rPr>
              <a:t>phí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5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5" action="ppaction://hlinksldjump"/>
              </a:rPr>
              <a:t>Taxi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5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·</a:t>
            </a:r>
            <a:r>
              <a:rPr sz="600" spc="5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Microsoft Sans Serif"/>
                <a:cs typeface="Microsoft Sans Serif"/>
                <a:hlinkClick r:id="rId5" action="ppaction://hlinksldjump"/>
              </a:rPr>
              <a:t>Phenikaa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20" dirty="0"/>
              <a:t>2026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5451283" y="3135795"/>
            <a:ext cx="25400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17</a:t>
            </a:r>
            <a:r>
              <a:rPr sz="6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00" spc="150" dirty="0">
                <a:solidFill>
                  <a:srgbClr val="FFFFFF"/>
                </a:solidFill>
                <a:latin typeface="Microsoft Sans Serif"/>
                <a:cs typeface="Microsoft Sans Serif"/>
              </a:rPr>
              <a:t>/</a:t>
            </a:r>
            <a:r>
              <a:rPr sz="6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19</a:t>
            </a:r>
            <a:endParaRPr sz="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7363"/>
            <a:ext cx="15024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Hướng</a:t>
            </a:r>
            <a:r>
              <a:rPr spc="-25" dirty="0"/>
              <a:t> </a:t>
            </a:r>
            <a:r>
              <a:rPr dirty="0"/>
              <a:t>Phát</a:t>
            </a:r>
            <a:r>
              <a:rPr spc="-20" dirty="0"/>
              <a:t> </a:t>
            </a:r>
            <a:r>
              <a:rPr spc="-55" dirty="0"/>
              <a:t>triển</a:t>
            </a:r>
          </a:p>
        </p:txBody>
      </p:sp>
      <p:sp>
        <p:nvSpPr>
          <p:cNvPr id="3" name="object 3"/>
          <p:cNvSpPr/>
          <p:nvPr/>
        </p:nvSpPr>
        <p:spPr>
          <a:xfrm>
            <a:off x="121144" y="663803"/>
            <a:ext cx="2724150" cy="259715"/>
          </a:xfrm>
          <a:custGeom>
            <a:avLst/>
            <a:gdLst/>
            <a:ahLst/>
            <a:cxnLst/>
            <a:rect l="l" t="t" r="r" b="b"/>
            <a:pathLst>
              <a:path w="2724150" h="259715">
                <a:moveTo>
                  <a:pt x="267292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59631"/>
                </a:lnTo>
                <a:lnTo>
                  <a:pt x="2723725" y="259631"/>
                </a:lnTo>
                <a:lnTo>
                  <a:pt x="2723725" y="50800"/>
                </a:lnTo>
                <a:lnTo>
                  <a:pt x="2719716" y="31075"/>
                </a:lnTo>
                <a:lnTo>
                  <a:pt x="2708802" y="14922"/>
                </a:lnTo>
                <a:lnTo>
                  <a:pt x="2692649" y="4008"/>
                </a:lnTo>
                <a:lnTo>
                  <a:pt x="2672924" y="0"/>
                </a:lnTo>
                <a:close/>
              </a:path>
            </a:pathLst>
          </a:custGeom>
          <a:solidFill>
            <a:srgbClr val="197F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1945" y="703436"/>
            <a:ext cx="1717039" cy="205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35"/>
              </a:lnSpc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</a:t>
            </a:r>
            <a:r>
              <a:rPr sz="1400" spc="409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/>
                <a:cs typeface="Tahoma"/>
              </a:rPr>
              <a:t>Cải</a:t>
            </a:r>
            <a:r>
              <a:rPr sz="1400" b="1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45" dirty="0">
                <a:solidFill>
                  <a:srgbClr val="FFFFFF"/>
                </a:solidFill>
                <a:latin typeface="Tahoma"/>
                <a:cs typeface="Tahoma"/>
              </a:rPr>
              <a:t>thiện</a:t>
            </a:r>
            <a:r>
              <a:rPr sz="1400" b="1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/>
                <a:cs typeface="Tahoma"/>
              </a:rPr>
              <a:t>Dữ</a:t>
            </a:r>
            <a:r>
              <a:rPr sz="1400" b="1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90" dirty="0">
                <a:solidFill>
                  <a:srgbClr val="FFFFFF"/>
                </a:solidFill>
                <a:latin typeface="Tahoma"/>
                <a:cs typeface="Tahoma"/>
              </a:rPr>
              <a:t>liệu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1455" y="932822"/>
            <a:ext cx="2724150" cy="711027"/>
            <a:chOff x="121144" y="910780"/>
            <a:chExt cx="2724150" cy="711027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144" y="910780"/>
              <a:ext cx="2723725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21144" y="955057"/>
              <a:ext cx="2724150" cy="666750"/>
            </a:xfrm>
            <a:custGeom>
              <a:avLst/>
              <a:gdLst/>
              <a:ahLst/>
              <a:cxnLst/>
              <a:rect l="l" t="t" r="r" b="b"/>
              <a:pathLst>
                <a:path w="2724150" h="666750">
                  <a:moveTo>
                    <a:pt x="2723725" y="0"/>
                  </a:moveTo>
                  <a:lnTo>
                    <a:pt x="0" y="0"/>
                  </a:lnTo>
                  <a:lnTo>
                    <a:pt x="0" y="615488"/>
                  </a:lnTo>
                  <a:lnTo>
                    <a:pt x="4008" y="635213"/>
                  </a:lnTo>
                  <a:lnTo>
                    <a:pt x="14922" y="651366"/>
                  </a:lnTo>
                  <a:lnTo>
                    <a:pt x="31075" y="662280"/>
                  </a:lnTo>
                  <a:lnTo>
                    <a:pt x="50800" y="666288"/>
                  </a:lnTo>
                  <a:lnTo>
                    <a:pt x="2672924" y="666288"/>
                  </a:lnTo>
                  <a:lnTo>
                    <a:pt x="2692649" y="662280"/>
                  </a:lnTo>
                  <a:lnTo>
                    <a:pt x="2708802" y="651366"/>
                  </a:lnTo>
                  <a:lnTo>
                    <a:pt x="2719716" y="635213"/>
                  </a:lnTo>
                  <a:lnTo>
                    <a:pt x="2723725" y="615488"/>
                  </a:lnTo>
                  <a:lnTo>
                    <a:pt x="2723725" y="0"/>
                  </a:lnTo>
                  <a:close/>
                </a:path>
              </a:pathLst>
            </a:custGeom>
            <a:solidFill>
              <a:srgbClr val="D6E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13410" y="915820"/>
            <a:ext cx="2493010" cy="66738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54940" indent="-142240">
              <a:lnSpc>
                <a:spcPct val="100000"/>
              </a:lnSpc>
              <a:spcBef>
                <a:spcPts val="434"/>
              </a:spcBef>
              <a:buClr>
                <a:srgbClr val="197FA4"/>
              </a:buClr>
              <a:buFont typeface="Microsoft YaHei"/>
              <a:buChar char="•"/>
              <a:tabLst>
                <a:tab pos="154940" algn="l"/>
              </a:tabLst>
            </a:pP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Bổ</a:t>
            </a:r>
            <a:r>
              <a:rPr sz="1100" spc="-3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70" dirty="0">
                <a:solidFill>
                  <a:srgbClr val="1B1B2D"/>
                </a:solidFill>
                <a:latin typeface="Microsoft Sans Serif"/>
                <a:cs typeface="Microsoft Sans Serif"/>
              </a:rPr>
              <a:t>sung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giờ</a:t>
            </a:r>
            <a:r>
              <a:rPr sz="11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55" dirty="0">
                <a:solidFill>
                  <a:srgbClr val="1B1B2D"/>
                </a:solidFill>
                <a:latin typeface="Microsoft Sans Serif"/>
                <a:cs typeface="Microsoft Sans Serif"/>
              </a:rPr>
              <a:t>cao</a:t>
            </a:r>
            <a:r>
              <a:rPr sz="1100" spc="-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30" dirty="0">
                <a:solidFill>
                  <a:srgbClr val="1B1B2D"/>
                </a:solidFill>
                <a:latin typeface="Microsoft Sans Serif"/>
                <a:cs typeface="Microsoft Sans Serif"/>
              </a:rPr>
              <a:t>điểm,</a:t>
            </a:r>
            <a:r>
              <a:rPr sz="11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55" dirty="0">
                <a:solidFill>
                  <a:srgbClr val="1B1B2D"/>
                </a:solidFill>
                <a:latin typeface="Microsoft Sans Serif"/>
                <a:cs typeface="Microsoft Sans Serif"/>
              </a:rPr>
              <a:t>ngày</a:t>
            </a:r>
            <a:r>
              <a:rPr sz="1100" spc="-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trong</a:t>
            </a:r>
            <a:r>
              <a:rPr sz="1100" spc="-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tuần</a:t>
            </a:r>
            <a:endParaRPr sz="1100">
              <a:latin typeface="Microsoft Sans Serif"/>
              <a:cs typeface="Microsoft Sans Serif"/>
            </a:endParaRPr>
          </a:p>
          <a:p>
            <a:pPr marL="154940" indent="-142240">
              <a:lnSpc>
                <a:spcPct val="100000"/>
              </a:lnSpc>
              <a:spcBef>
                <a:spcPts val="334"/>
              </a:spcBef>
              <a:buClr>
                <a:srgbClr val="197FA4"/>
              </a:buClr>
              <a:buFont typeface="Microsoft YaHei"/>
              <a:buChar char="•"/>
              <a:tabLst>
                <a:tab pos="154940" algn="l"/>
              </a:tabLst>
            </a:pP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Tích</a:t>
            </a:r>
            <a:r>
              <a:rPr sz="1100" spc="1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hợp</a:t>
            </a:r>
            <a:r>
              <a:rPr sz="1100" spc="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dữ</a:t>
            </a:r>
            <a:r>
              <a:rPr sz="1100" spc="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liệu</a:t>
            </a:r>
            <a:r>
              <a:rPr sz="1100" spc="1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thời</a:t>
            </a:r>
            <a:r>
              <a:rPr sz="1100" spc="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tiết</a:t>
            </a:r>
            <a:r>
              <a:rPr sz="1100" spc="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thời</a:t>
            </a:r>
            <a:r>
              <a:rPr sz="1100" spc="1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35" dirty="0">
                <a:solidFill>
                  <a:srgbClr val="1B1B2D"/>
                </a:solidFill>
                <a:latin typeface="Microsoft Sans Serif"/>
                <a:cs typeface="Microsoft Sans Serif"/>
              </a:rPr>
              <a:t>gian</a:t>
            </a:r>
            <a:r>
              <a:rPr sz="1100" spc="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thực</a:t>
            </a:r>
            <a:endParaRPr sz="1100">
              <a:latin typeface="Microsoft Sans Serif"/>
              <a:cs typeface="Microsoft Sans Serif"/>
            </a:endParaRPr>
          </a:p>
          <a:p>
            <a:pPr marL="154940" indent="-142240">
              <a:lnSpc>
                <a:spcPct val="100000"/>
              </a:lnSpc>
              <a:spcBef>
                <a:spcPts val="420"/>
              </a:spcBef>
              <a:buClr>
                <a:srgbClr val="197FA4"/>
              </a:buClr>
              <a:buFont typeface="Microsoft YaHei"/>
              <a:buChar char="•"/>
              <a:tabLst>
                <a:tab pos="154940" algn="l"/>
              </a:tabLst>
            </a:pPr>
            <a:r>
              <a:rPr sz="11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Thêm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thông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 tin </a:t>
            </a:r>
            <a:r>
              <a:rPr sz="11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sự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30" dirty="0">
                <a:solidFill>
                  <a:srgbClr val="1B1B2D"/>
                </a:solidFill>
                <a:latin typeface="Microsoft Sans Serif"/>
                <a:cs typeface="Microsoft Sans Serif"/>
              </a:rPr>
              <a:t>kiện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240" dirty="0">
                <a:solidFill>
                  <a:srgbClr val="1B1B2D"/>
                </a:solidFill>
                <a:latin typeface="Microsoft Sans Serif"/>
                <a:cs typeface="Microsoft Sans Serif"/>
              </a:rPr>
              <a:t>/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 lễ </a:t>
            </a:r>
            <a:r>
              <a:rPr sz="11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hội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21144" y="1881276"/>
            <a:ext cx="2724150" cy="260350"/>
          </a:xfrm>
          <a:custGeom>
            <a:avLst/>
            <a:gdLst/>
            <a:ahLst/>
            <a:cxnLst/>
            <a:rect l="l" t="t" r="r" b="b"/>
            <a:pathLst>
              <a:path w="2724150" h="260350">
                <a:moveTo>
                  <a:pt x="267292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59955"/>
                </a:lnTo>
                <a:lnTo>
                  <a:pt x="2723725" y="259955"/>
                </a:lnTo>
                <a:lnTo>
                  <a:pt x="2723725" y="50800"/>
                </a:lnTo>
                <a:lnTo>
                  <a:pt x="2719716" y="31075"/>
                </a:lnTo>
                <a:lnTo>
                  <a:pt x="2708802" y="14922"/>
                </a:lnTo>
                <a:lnTo>
                  <a:pt x="2692649" y="4008"/>
                </a:lnTo>
                <a:lnTo>
                  <a:pt x="2672924" y="0"/>
                </a:lnTo>
                <a:close/>
              </a:path>
            </a:pathLst>
          </a:custGeom>
          <a:solidFill>
            <a:srgbClr val="197F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71945" y="1920896"/>
            <a:ext cx="1887220" cy="205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35"/>
              </a:lnSpc>
            </a:pPr>
            <a:r>
              <a:rPr sz="1400" spc="210" dirty="0">
                <a:solidFill>
                  <a:srgbClr val="FFFFFF"/>
                </a:solidFill>
                <a:latin typeface="Arial MT"/>
                <a:cs typeface="Arial MT"/>
              </a:rPr>
              <a:t></a:t>
            </a:r>
            <a:r>
              <a:rPr sz="1400" spc="4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/>
                <a:cs typeface="Tahoma"/>
              </a:rPr>
              <a:t>Mô</a:t>
            </a:r>
            <a:r>
              <a:rPr sz="1400" b="1" spc="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55" dirty="0">
                <a:solidFill>
                  <a:srgbClr val="FFFFFF"/>
                </a:solidFill>
                <a:latin typeface="Tahoma"/>
                <a:cs typeface="Tahoma"/>
              </a:rPr>
              <a:t>hình</a:t>
            </a:r>
            <a:r>
              <a:rPr sz="1400" b="1" spc="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Tahoma"/>
                <a:cs typeface="Tahoma"/>
              </a:rPr>
              <a:t>Nâng</a:t>
            </a:r>
            <a:r>
              <a:rPr sz="1400" b="1" spc="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60" dirty="0">
                <a:solidFill>
                  <a:srgbClr val="FFFFFF"/>
                </a:solidFill>
                <a:latin typeface="Tahoma"/>
                <a:cs typeface="Tahoma"/>
              </a:rPr>
              <a:t>cao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14820" y="2137450"/>
            <a:ext cx="2724150" cy="676741"/>
            <a:chOff x="121144" y="2128570"/>
            <a:chExt cx="2724150" cy="676741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1144" y="2128570"/>
              <a:ext cx="2723725" cy="5060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21144" y="2172851"/>
              <a:ext cx="2724150" cy="632460"/>
            </a:xfrm>
            <a:custGeom>
              <a:avLst/>
              <a:gdLst/>
              <a:ahLst/>
              <a:cxnLst/>
              <a:rect l="l" t="t" r="r" b="b"/>
              <a:pathLst>
                <a:path w="2724150" h="632460">
                  <a:moveTo>
                    <a:pt x="2723725" y="0"/>
                  </a:moveTo>
                  <a:lnTo>
                    <a:pt x="0" y="0"/>
                  </a:lnTo>
                  <a:lnTo>
                    <a:pt x="0" y="581207"/>
                  </a:lnTo>
                  <a:lnTo>
                    <a:pt x="4008" y="600931"/>
                  </a:lnTo>
                  <a:lnTo>
                    <a:pt x="14922" y="617084"/>
                  </a:lnTo>
                  <a:lnTo>
                    <a:pt x="31075" y="627999"/>
                  </a:lnTo>
                  <a:lnTo>
                    <a:pt x="50800" y="632007"/>
                  </a:lnTo>
                  <a:lnTo>
                    <a:pt x="2672924" y="632007"/>
                  </a:lnTo>
                  <a:lnTo>
                    <a:pt x="2692649" y="627999"/>
                  </a:lnTo>
                  <a:lnTo>
                    <a:pt x="2708802" y="617084"/>
                  </a:lnTo>
                  <a:lnTo>
                    <a:pt x="2719716" y="600931"/>
                  </a:lnTo>
                  <a:lnTo>
                    <a:pt x="2723725" y="581207"/>
                  </a:lnTo>
                  <a:lnTo>
                    <a:pt x="2723725" y="0"/>
                  </a:lnTo>
                  <a:close/>
                </a:path>
              </a:pathLst>
            </a:custGeom>
            <a:solidFill>
              <a:srgbClr val="D6E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13410" y="2107016"/>
            <a:ext cx="2133600" cy="66738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54940" indent="-142240">
              <a:lnSpc>
                <a:spcPct val="100000"/>
              </a:lnSpc>
              <a:spcBef>
                <a:spcPts val="434"/>
              </a:spcBef>
              <a:buClr>
                <a:srgbClr val="197FA4"/>
              </a:buClr>
              <a:buFont typeface="Microsoft YaHei"/>
              <a:buChar char="•"/>
              <a:tabLst>
                <a:tab pos="154940" algn="l"/>
              </a:tabLst>
            </a:pPr>
            <a:r>
              <a:rPr sz="1100" spc="-40" dirty="0">
                <a:solidFill>
                  <a:srgbClr val="1B1B2D"/>
                </a:solidFill>
                <a:latin typeface="Microsoft Sans Serif"/>
                <a:cs typeface="Microsoft Sans Serif"/>
              </a:rPr>
              <a:t>Neural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35" dirty="0">
                <a:solidFill>
                  <a:srgbClr val="1B1B2D"/>
                </a:solidFill>
                <a:latin typeface="Microsoft Sans Serif"/>
                <a:cs typeface="Microsoft Sans Serif"/>
              </a:rPr>
              <a:t>Network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(MLP)</a:t>
            </a:r>
            <a:endParaRPr sz="1100">
              <a:latin typeface="Microsoft Sans Serif"/>
              <a:cs typeface="Microsoft Sans Serif"/>
            </a:endParaRPr>
          </a:p>
          <a:p>
            <a:pPr marL="154940" indent="-142240">
              <a:lnSpc>
                <a:spcPct val="100000"/>
              </a:lnSpc>
              <a:spcBef>
                <a:spcPts val="334"/>
              </a:spcBef>
              <a:buClr>
                <a:srgbClr val="197FA4"/>
              </a:buClr>
              <a:buFont typeface="Microsoft YaHei"/>
              <a:buChar char="•"/>
              <a:tabLst>
                <a:tab pos="154940" algn="l"/>
              </a:tabLst>
            </a:pPr>
            <a:r>
              <a:rPr sz="1100" spc="-40" dirty="0">
                <a:solidFill>
                  <a:srgbClr val="1B1B2D"/>
                </a:solidFill>
                <a:latin typeface="Microsoft Sans Serif"/>
                <a:cs typeface="Microsoft Sans Serif"/>
              </a:rPr>
              <a:t>XGBoost,</a:t>
            </a:r>
            <a:r>
              <a:rPr sz="1100" spc="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LightGBM</a:t>
            </a:r>
            <a:endParaRPr sz="1100">
              <a:latin typeface="Microsoft Sans Serif"/>
              <a:cs typeface="Microsoft Sans Serif"/>
            </a:endParaRPr>
          </a:p>
          <a:p>
            <a:pPr marL="154940" indent="-142240">
              <a:lnSpc>
                <a:spcPct val="100000"/>
              </a:lnSpc>
              <a:spcBef>
                <a:spcPts val="420"/>
              </a:spcBef>
              <a:buClr>
                <a:srgbClr val="197FA4"/>
              </a:buClr>
              <a:buFont typeface="Microsoft YaHei"/>
              <a:buChar char="•"/>
              <a:tabLst>
                <a:tab pos="154940" algn="l"/>
              </a:tabLst>
            </a:pP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LSTM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35" dirty="0">
                <a:solidFill>
                  <a:srgbClr val="1B1B2D"/>
                </a:solidFill>
                <a:latin typeface="Microsoft Sans Serif"/>
                <a:cs typeface="Microsoft Sans Serif"/>
              </a:rPr>
              <a:t>cho</a:t>
            </a:r>
            <a:r>
              <a:rPr sz="1100" spc="-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dữ</a:t>
            </a:r>
            <a:r>
              <a:rPr sz="1100" spc="-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liệu</a:t>
            </a:r>
            <a:r>
              <a:rPr sz="1100" spc="-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35" dirty="0">
                <a:solidFill>
                  <a:srgbClr val="1B1B2D"/>
                </a:solidFill>
                <a:latin typeface="Microsoft Sans Serif"/>
                <a:cs typeface="Microsoft Sans Serif"/>
              </a:rPr>
              <a:t>chuỗi</a:t>
            </a:r>
            <a:r>
              <a:rPr sz="1100" spc="-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thời</a:t>
            </a:r>
            <a:r>
              <a:rPr sz="1100" spc="-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gian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915170" y="663803"/>
            <a:ext cx="2724150" cy="269240"/>
          </a:xfrm>
          <a:custGeom>
            <a:avLst/>
            <a:gdLst/>
            <a:ahLst/>
            <a:cxnLst/>
            <a:rect l="l" t="t" r="r" b="b"/>
            <a:pathLst>
              <a:path w="2724150" h="269240">
                <a:moveTo>
                  <a:pt x="267292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68677"/>
                </a:lnTo>
                <a:lnTo>
                  <a:pt x="2723725" y="268677"/>
                </a:lnTo>
                <a:lnTo>
                  <a:pt x="2723725" y="50800"/>
                </a:lnTo>
                <a:lnTo>
                  <a:pt x="2719716" y="31075"/>
                </a:lnTo>
                <a:lnTo>
                  <a:pt x="2708802" y="14922"/>
                </a:lnTo>
                <a:lnTo>
                  <a:pt x="2692649" y="4008"/>
                </a:lnTo>
                <a:lnTo>
                  <a:pt x="2672924" y="0"/>
                </a:lnTo>
                <a:close/>
              </a:path>
            </a:pathLst>
          </a:custGeom>
          <a:solidFill>
            <a:srgbClr val="26AD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965970" y="712479"/>
            <a:ext cx="1877695" cy="205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35"/>
              </a:lnSpc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</a:t>
            </a:r>
            <a:r>
              <a:rPr sz="1400" spc="43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b="1" spc="-30" dirty="0">
                <a:solidFill>
                  <a:srgbClr val="FFFFFF"/>
                </a:solidFill>
                <a:latin typeface="Tahoma"/>
                <a:cs typeface="Tahoma"/>
              </a:rPr>
              <a:t>Triển</a:t>
            </a:r>
            <a:r>
              <a:rPr sz="1400" b="1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45" dirty="0">
                <a:solidFill>
                  <a:srgbClr val="FFFFFF"/>
                </a:solidFill>
                <a:latin typeface="Tahoma"/>
                <a:cs typeface="Tahoma"/>
              </a:rPr>
              <a:t>khai</a:t>
            </a:r>
            <a:r>
              <a:rPr sz="1400" b="1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/>
                <a:cs typeface="Tahoma"/>
              </a:rPr>
              <a:t>Thực</a:t>
            </a:r>
            <a:r>
              <a:rPr sz="1400" b="1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50" dirty="0">
                <a:solidFill>
                  <a:srgbClr val="FFFFFF"/>
                </a:solidFill>
                <a:latin typeface="Tahoma"/>
                <a:cs typeface="Tahoma"/>
              </a:rPr>
              <a:t>tế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912709" y="932806"/>
            <a:ext cx="2724150" cy="863432"/>
            <a:chOff x="2915170" y="919822"/>
            <a:chExt cx="2724150" cy="863432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15170" y="919822"/>
              <a:ext cx="2723725" cy="5060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915170" y="964104"/>
              <a:ext cx="2724150" cy="819150"/>
            </a:xfrm>
            <a:custGeom>
              <a:avLst/>
              <a:gdLst/>
              <a:ahLst/>
              <a:cxnLst/>
              <a:rect l="l" t="t" r="r" b="b"/>
              <a:pathLst>
                <a:path w="2724150" h="819150">
                  <a:moveTo>
                    <a:pt x="2723725" y="0"/>
                  </a:moveTo>
                  <a:lnTo>
                    <a:pt x="0" y="0"/>
                  </a:lnTo>
                  <a:lnTo>
                    <a:pt x="0" y="768213"/>
                  </a:lnTo>
                  <a:lnTo>
                    <a:pt x="4008" y="787937"/>
                  </a:lnTo>
                  <a:lnTo>
                    <a:pt x="14922" y="804090"/>
                  </a:lnTo>
                  <a:lnTo>
                    <a:pt x="31075" y="815005"/>
                  </a:lnTo>
                  <a:lnTo>
                    <a:pt x="50800" y="819013"/>
                  </a:lnTo>
                  <a:lnTo>
                    <a:pt x="2672924" y="819013"/>
                  </a:lnTo>
                  <a:lnTo>
                    <a:pt x="2692649" y="815005"/>
                  </a:lnTo>
                  <a:lnTo>
                    <a:pt x="2708802" y="804090"/>
                  </a:lnTo>
                  <a:lnTo>
                    <a:pt x="2719716" y="787937"/>
                  </a:lnTo>
                  <a:lnTo>
                    <a:pt x="2723725" y="768213"/>
                  </a:lnTo>
                  <a:lnTo>
                    <a:pt x="2723725" y="0"/>
                  </a:lnTo>
                  <a:close/>
                </a:path>
              </a:pathLst>
            </a:custGeom>
            <a:solidFill>
              <a:srgbClr val="EA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107435" y="913203"/>
            <a:ext cx="2338705" cy="839469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54940" indent="-142240">
              <a:lnSpc>
                <a:spcPct val="100000"/>
              </a:lnSpc>
              <a:spcBef>
                <a:spcPts val="434"/>
              </a:spcBef>
              <a:buClr>
                <a:srgbClr val="197FA4"/>
              </a:buClr>
              <a:buFont typeface="Microsoft YaHei"/>
              <a:buChar char="•"/>
              <a:tabLst>
                <a:tab pos="154940" algn="l"/>
              </a:tabLst>
            </a:pPr>
            <a:r>
              <a:rPr sz="1100" b="1" spc="-50" dirty="0">
                <a:solidFill>
                  <a:srgbClr val="1B1B2D"/>
                </a:solidFill>
                <a:latin typeface="Tahoma"/>
                <a:cs typeface="Tahoma"/>
              </a:rPr>
              <a:t>Flask</a:t>
            </a:r>
            <a:r>
              <a:rPr sz="1100" b="1" spc="1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100" b="1" dirty="0">
                <a:solidFill>
                  <a:srgbClr val="1B1B2D"/>
                </a:solidFill>
                <a:latin typeface="Tahoma"/>
                <a:cs typeface="Tahoma"/>
              </a:rPr>
              <a:t>API</a:t>
            </a:r>
            <a:r>
              <a:rPr sz="1100" b="1" spc="-2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100" spc="215" dirty="0">
                <a:solidFill>
                  <a:srgbClr val="1B1B2D"/>
                </a:solidFill>
                <a:latin typeface="Microsoft Sans Serif"/>
                <a:cs typeface="Microsoft Sans Serif"/>
              </a:rPr>
              <a:t>–</a:t>
            </a:r>
            <a:r>
              <a:rPr sz="1100" spc="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dự</a:t>
            </a:r>
            <a:r>
              <a:rPr sz="1100" spc="1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55" dirty="0">
                <a:solidFill>
                  <a:srgbClr val="1B1B2D"/>
                </a:solidFill>
                <a:latin typeface="Microsoft Sans Serif"/>
                <a:cs typeface="Microsoft Sans Serif"/>
              </a:rPr>
              <a:t>đoán</a:t>
            </a:r>
            <a:r>
              <a:rPr sz="1100" spc="1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40" dirty="0">
                <a:solidFill>
                  <a:srgbClr val="1B1B2D"/>
                </a:solidFill>
                <a:latin typeface="Microsoft Sans Serif"/>
                <a:cs typeface="Microsoft Sans Serif"/>
              </a:rPr>
              <a:t>real-</a:t>
            </a:r>
            <a:r>
              <a:rPr sz="11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time</a:t>
            </a:r>
            <a:endParaRPr sz="1100">
              <a:latin typeface="Microsoft Sans Serif"/>
              <a:cs typeface="Microsoft Sans Serif"/>
            </a:endParaRPr>
          </a:p>
          <a:p>
            <a:pPr marL="154305" marR="5080" indent="-142240">
              <a:lnSpc>
                <a:spcPct val="102600"/>
              </a:lnSpc>
              <a:spcBef>
                <a:spcPts val="300"/>
              </a:spcBef>
              <a:buClr>
                <a:srgbClr val="197FA4"/>
              </a:buClr>
              <a:buFont typeface="Microsoft YaHei"/>
              <a:buChar char="•"/>
              <a:tabLst>
                <a:tab pos="155575" algn="l"/>
              </a:tabLst>
            </a:pPr>
            <a:r>
              <a:rPr sz="1100" b="1" spc="-35" dirty="0">
                <a:solidFill>
                  <a:srgbClr val="1B1B2D"/>
                </a:solidFill>
                <a:latin typeface="Tahoma"/>
                <a:cs typeface="Tahoma"/>
              </a:rPr>
              <a:t>Mobile</a:t>
            </a:r>
            <a:r>
              <a:rPr sz="1100" b="1" dirty="0">
                <a:solidFill>
                  <a:srgbClr val="1B1B2D"/>
                </a:solidFill>
                <a:latin typeface="Tahoma"/>
                <a:cs typeface="Tahoma"/>
              </a:rPr>
              <a:t> App</a:t>
            </a:r>
            <a:r>
              <a:rPr sz="1100" b="1" spc="-3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100" spc="215" dirty="0">
                <a:solidFill>
                  <a:srgbClr val="1B1B2D"/>
                </a:solidFill>
                <a:latin typeface="Microsoft Sans Serif"/>
                <a:cs typeface="Microsoft Sans Serif"/>
              </a:rPr>
              <a:t>–</a:t>
            </a:r>
            <a:r>
              <a:rPr sz="1100" spc="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ước</a:t>
            </a:r>
            <a:r>
              <a:rPr sz="1100" spc="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tính</a:t>
            </a:r>
            <a:r>
              <a:rPr sz="1100" spc="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giá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 trước</a:t>
            </a:r>
            <a:r>
              <a:rPr sz="1100" spc="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khi 	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đặt</a:t>
            </a:r>
            <a:r>
              <a:rPr sz="1100" spc="2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1B1B2D"/>
                </a:solidFill>
                <a:latin typeface="Microsoft Sans Serif"/>
                <a:cs typeface="Microsoft Sans Serif"/>
              </a:rPr>
              <a:t>xe</a:t>
            </a:r>
            <a:endParaRPr sz="1100">
              <a:latin typeface="Microsoft Sans Serif"/>
              <a:cs typeface="Microsoft Sans Serif"/>
            </a:endParaRPr>
          </a:p>
          <a:p>
            <a:pPr marL="154940" indent="-142240">
              <a:lnSpc>
                <a:spcPct val="100000"/>
              </a:lnSpc>
              <a:spcBef>
                <a:spcPts val="420"/>
              </a:spcBef>
              <a:buClr>
                <a:srgbClr val="197FA4"/>
              </a:buClr>
              <a:buFont typeface="Microsoft YaHei"/>
              <a:buChar char="•"/>
              <a:tabLst>
                <a:tab pos="154940" algn="l"/>
              </a:tabLst>
            </a:pPr>
            <a:r>
              <a:rPr sz="1100" b="1" dirty="0">
                <a:solidFill>
                  <a:srgbClr val="1B1B2D"/>
                </a:solidFill>
                <a:latin typeface="Tahoma"/>
                <a:cs typeface="Tahoma"/>
              </a:rPr>
              <a:t>Hệ</a:t>
            </a:r>
            <a:r>
              <a:rPr sz="1100" b="1" spc="-15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100" b="1" spc="-70" dirty="0">
                <a:solidFill>
                  <a:srgbClr val="1B1B2D"/>
                </a:solidFill>
                <a:latin typeface="Tahoma"/>
                <a:cs typeface="Tahoma"/>
              </a:rPr>
              <a:t>thống</a:t>
            </a:r>
            <a:r>
              <a:rPr sz="1100" b="1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100" b="1" spc="-65" dirty="0">
                <a:solidFill>
                  <a:srgbClr val="1B1B2D"/>
                </a:solidFill>
                <a:latin typeface="Tahoma"/>
                <a:cs typeface="Tahoma"/>
              </a:rPr>
              <a:t>điều</a:t>
            </a:r>
            <a:r>
              <a:rPr sz="1100" b="1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100" b="1" spc="-65" dirty="0">
                <a:solidFill>
                  <a:srgbClr val="1B1B2D"/>
                </a:solidFill>
                <a:latin typeface="Tahoma"/>
                <a:cs typeface="Tahoma"/>
              </a:rPr>
              <a:t>phối</a:t>
            </a:r>
            <a:r>
              <a:rPr sz="1100" b="1" spc="-20" dirty="0">
                <a:solidFill>
                  <a:srgbClr val="1B1B2D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thông</a:t>
            </a:r>
            <a:r>
              <a:rPr sz="1100" spc="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minh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915170" y="2043035"/>
            <a:ext cx="2724150" cy="260350"/>
          </a:xfrm>
          <a:custGeom>
            <a:avLst/>
            <a:gdLst/>
            <a:ahLst/>
            <a:cxnLst/>
            <a:rect l="l" t="t" r="r" b="b"/>
            <a:pathLst>
              <a:path w="2724150" h="260350">
                <a:moveTo>
                  <a:pt x="267292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59955"/>
                </a:lnTo>
                <a:lnTo>
                  <a:pt x="2723725" y="259955"/>
                </a:lnTo>
                <a:lnTo>
                  <a:pt x="2723725" y="50800"/>
                </a:lnTo>
                <a:lnTo>
                  <a:pt x="2719716" y="31075"/>
                </a:lnTo>
                <a:lnTo>
                  <a:pt x="2708802" y="14922"/>
                </a:lnTo>
                <a:lnTo>
                  <a:pt x="2692649" y="4008"/>
                </a:lnTo>
                <a:lnTo>
                  <a:pt x="2672924" y="0"/>
                </a:lnTo>
                <a:close/>
              </a:path>
            </a:pathLst>
          </a:custGeom>
          <a:solidFill>
            <a:srgbClr val="26AD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965970" y="2082669"/>
            <a:ext cx="1753235" cy="205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35"/>
              </a:lnSpc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</a:t>
            </a:r>
            <a:r>
              <a:rPr sz="1400" spc="4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/>
                <a:cs typeface="Tahoma"/>
              </a:rPr>
              <a:t>Mở</a:t>
            </a:r>
            <a:r>
              <a:rPr sz="1400" b="1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55" dirty="0">
                <a:solidFill>
                  <a:srgbClr val="FFFFFF"/>
                </a:solidFill>
                <a:latin typeface="Tahoma"/>
                <a:cs typeface="Tahoma"/>
              </a:rPr>
              <a:t>rộng</a:t>
            </a:r>
            <a:r>
              <a:rPr sz="1400" b="1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Tahoma"/>
                <a:cs typeface="Tahoma"/>
              </a:rPr>
              <a:t>Phạm</a:t>
            </a:r>
            <a:r>
              <a:rPr sz="1400" b="1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70" dirty="0">
                <a:solidFill>
                  <a:srgbClr val="FFFFFF"/>
                </a:solidFill>
                <a:latin typeface="Tahoma"/>
                <a:cs typeface="Tahoma"/>
              </a:rPr>
              <a:t>vi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921919" y="2288271"/>
            <a:ext cx="2724150" cy="661499"/>
            <a:chOff x="2915170" y="2290343"/>
            <a:chExt cx="2724150" cy="661499"/>
          </a:xfrm>
        </p:grpSpPr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15170" y="2290343"/>
              <a:ext cx="2723725" cy="5060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915170" y="2334622"/>
              <a:ext cx="2724150" cy="617220"/>
            </a:xfrm>
            <a:custGeom>
              <a:avLst/>
              <a:gdLst/>
              <a:ahLst/>
              <a:cxnLst/>
              <a:rect l="l" t="t" r="r" b="b"/>
              <a:pathLst>
                <a:path w="2724150" h="617219">
                  <a:moveTo>
                    <a:pt x="2723725" y="0"/>
                  </a:moveTo>
                  <a:lnTo>
                    <a:pt x="0" y="0"/>
                  </a:lnTo>
                  <a:lnTo>
                    <a:pt x="0" y="566235"/>
                  </a:lnTo>
                  <a:lnTo>
                    <a:pt x="4008" y="585960"/>
                  </a:lnTo>
                  <a:lnTo>
                    <a:pt x="14922" y="602113"/>
                  </a:lnTo>
                  <a:lnTo>
                    <a:pt x="31075" y="613027"/>
                  </a:lnTo>
                  <a:lnTo>
                    <a:pt x="50800" y="617035"/>
                  </a:lnTo>
                  <a:lnTo>
                    <a:pt x="2672924" y="617035"/>
                  </a:lnTo>
                  <a:lnTo>
                    <a:pt x="2692649" y="613027"/>
                  </a:lnTo>
                  <a:lnTo>
                    <a:pt x="2708802" y="602113"/>
                  </a:lnTo>
                  <a:lnTo>
                    <a:pt x="2719716" y="585960"/>
                  </a:lnTo>
                  <a:lnTo>
                    <a:pt x="2723725" y="566235"/>
                  </a:lnTo>
                  <a:lnTo>
                    <a:pt x="2723725" y="0"/>
                  </a:lnTo>
                  <a:close/>
                </a:path>
              </a:pathLst>
            </a:custGeom>
            <a:solidFill>
              <a:srgbClr val="EAF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953270" y="2344913"/>
            <a:ext cx="2642235" cy="575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9400"/>
              </a:lnSpc>
              <a:spcBef>
                <a:spcPts val="100"/>
              </a:spcBef>
            </a:pP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Áp </a:t>
            </a:r>
            <a:r>
              <a:rPr sz="1100" spc="-40" dirty="0">
                <a:solidFill>
                  <a:srgbClr val="1B1B2D"/>
                </a:solidFill>
                <a:latin typeface="Microsoft Sans Serif"/>
                <a:cs typeface="Microsoft Sans Serif"/>
              </a:rPr>
              <a:t>dụng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45" dirty="0">
                <a:solidFill>
                  <a:srgbClr val="1B1B2D"/>
                </a:solidFill>
                <a:latin typeface="Microsoft Sans Serif"/>
                <a:cs typeface="Microsoft Sans Serif"/>
              </a:rPr>
              <a:t>phương</a:t>
            </a:r>
            <a:r>
              <a:rPr sz="1100" spc="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45" dirty="0">
                <a:solidFill>
                  <a:srgbClr val="1B1B2D"/>
                </a:solidFill>
                <a:latin typeface="Microsoft Sans Serif"/>
                <a:cs typeface="Microsoft Sans Serif"/>
              </a:rPr>
              <a:t>pháp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 tương</a:t>
            </a:r>
            <a:r>
              <a:rPr sz="1100" spc="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tự </a:t>
            </a:r>
            <a:r>
              <a:rPr sz="1100" spc="-40" dirty="0">
                <a:solidFill>
                  <a:srgbClr val="1B1B2D"/>
                </a:solidFill>
                <a:latin typeface="Microsoft Sans Serif"/>
                <a:cs typeface="Microsoft Sans Serif"/>
              </a:rPr>
              <a:t>cho</a:t>
            </a:r>
            <a:r>
              <a:rPr sz="1100" spc="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50" dirty="0">
                <a:solidFill>
                  <a:srgbClr val="1B1B2D"/>
                </a:solidFill>
                <a:latin typeface="Microsoft Sans Serif"/>
                <a:cs typeface="Microsoft Sans Serif"/>
              </a:rPr>
              <a:t>xe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buýt, 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tàu</a:t>
            </a:r>
            <a:r>
              <a:rPr sz="1100" spc="-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35" dirty="0">
                <a:solidFill>
                  <a:srgbClr val="1B1B2D"/>
                </a:solidFill>
                <a:latin typeface="Microsoft Sans Serif"/>
                <a:cs typeface="Microsoft Sans Serif"/>
              </a:rPr>
              <a:t>điện</a:t>
            </a:r>
            <a:r>
              <a:rPr sz="1100" spc="-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40" dirty="0">
                <a:solidFill>
                  <a:srgbClr val="1B1B2D"/>
                </a:solidFill>
                <a:latin typeface="Microsoft Sans Serif"/>
                <a:cs typeface="Microsoft Sans Serif"/>
              </a:rPr>
              <a:t>ngầm,</a:t>
            </a:r>
            <a:r>
              <a:rPr sz="1100" spc="-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50" dirty="0">
                <a:solidFill>
                  <a:srgbClr val="1B1B2D"/>
                </a:solidFill>
                <a:latin typeface="Microsoft Sans Serif"/>
                <a:cs typeface="Microsoft Sans Serif"/>
              </a:rPr>
              <a:t>xe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50" dirty="0">
                <a:solidFill>
                  <a:srgbClr val="1B1B2D"/>
                </a:solidFill>
                <a:latin typeface="Microsoft Sans Serif"/>
                <a:cs typeface="Microsoft Sans Serif"/>
              </a:rPr>
              <a:t>công</a:t>
            </a:r>
            <a:r>
              <a:rPr sz="1100" spc="-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55" dirty="0">
                <a:solidFill>
                  <a:srgbClr val="1B1B2D"/>
                </a:solidFill>
                <a:latin typeface="Microsoft Sans Serif"/>
                <a:cs typeface="Microsoft Sans Serif"/>
              </a:rPr>
              <a:t>nghệ</a:t>
            </a:r>
            <a:r>
              <a:rPr sz="1100" spc="-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B1B2D"/>
                </a:solidFill>
                <a:latin typeface="Lucida Sans Unicode"/>
                <a:cs typeface="Lucida Sans Unicode"/>
              </a:rPr>
              <a:t>→</a:t>
            </a:r>
            <a:r>
              <a:rPr sz="1100" spc="-60" dirty="0">
                <a:solidFill>
                  <a:srgbClr val="1B1B2D"/>
                </a:solidFill>
                <a:latin typeface="Lucida Sans Unicode"/>
                <a:cs typeface="Lucida Sans Unicode"/>
              </a:rPr>
              <a:t> </a:t>
            </a:r>
            <a:r>
              <a:rPr sz="1100" spc="-30" dirty="0">
                <a:solidFill>
                  <a:srgbClr val="1B1B2D"/>
                </a:solidFill>
                <a:latin typeface="Microsoft Sans Serif"/>
                <a:cs typeface="Microsoft Sans Serif"/>
              </a:rPr>
              <a:t>Hệ</a:t>
            </a:r>
            <a:r>
              <a:rPr sz="110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35" dirty="0">
                <a:solidFill>
                  <a:srgbClr val="1B1B2D"/>
                </a:solidFill>
                <a:latin typeface="Microsoft Sans Serif"/>
                <a:cs typeface="Microsoft Sans Serif"/>
              </a:rPr>
              <a:t>sinh</a:t>
            </a:r>
            <a:r>
              <a:rPr sz="1100" spc="-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thái </a:t>
            </a:r>
            <a:r>
              <a:rPr sz="1100" spc="-35" dirty="0">
                <a:solidFill>
                  <a:srgbClr val="1B1B2D"/>
                </a:solidFill>
                <a:latin typeface="Microsoft Sans Serif"/>
                <a:cs typeface="Microsoft Sans Serif"/>
              </a:rPr>
              <a:t>giao</a:t>
            </a:r>
            <a:r>
              <a:rPr sz="1100" spc="-40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thông</a:t>
            </a:r>
            <a:r>
              <a:rPr sz="1100" spc="-3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B1B2D"/>
                </a:solidFill>
                <a:latin typeface="Microsoft Sans Serif"/>
                <a:cs typeface="Microsoft Sans Serif"/>
              </a:rPr>
              <a:t>thông</a:t>
            </a:r>
            <a:r>
              <a:rPr sz="1100" spc="-35" dirty="0">
                <a:solidFill>
                  <a:srgbClr val="1B1B2D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1B1B2D"/>
                </a:solidFill>
                <a:latin typeface="Microsoft Sans Serif"/>
                <a:cs typeface="Microsoft Sans Serif"/>
              </a:rPr>
              <a:t>minh</a:t>
            </a:r>
            <a:endParaRPr sz="1100">
              <a:latin typeface="Microsoft Sans Serif"/>
              <a:cs typeface="Microsoft Sans Serif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-3" y="3130372"/>
            <a:ext cx="5760085" cy="109855"/>
            <a:chOff x="-3" y="3130372"/>
            <a:chExt cx="5760085" cy="109855"/>
          </a:xfrm>
        </p:grpSpPr>
        <p:sp>
          <p:nvSpPr>
            <p:cNvPr id="32" name="object 32"/>
            <p:cNvSpPr/>
            <p:nvPr/>
          </p:nvSpPr>
          <p:spPr>
            <a:xfrm>
              <a:off x="0" y="3130372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26"/>
                  </a:lnTo>
                  <a:lnTo>
                    <a:pt x="1919973" y="10962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7F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919960" y="3130372"/>
              <a:ext cx="3840479" cy="109855"/>
            </a:xfrm>
            <a:custGeom>
              <a:avLst/>
              <a:gdLst/>
              <a:ahLst/>
              <a:cxnLst/>
              <a:rect l="l" t="t" r="r" b="b"/>
              <a:pathLst>
                <a:path w="3840479" h="109855">
                  <a:moveTo>
                    <a:pt x="3839946" y="0"/>
                  </a:moveTo>
                  <a:lnTo>
                    <a:pt x="1919973" y="0"/>
                  </a:lnTo>
                  <a:lnTo>
                    <a:pt x="0" y="0"/>
                  </a:lnTo>
                  <a:lnTo>
                    <a:pt x="0" y="109626"/>
                  </a:lnTo>
                  <a:lnTo>
                    <a:pt x="1919973" y="109626"/>
                  </a:lnTo>
                  <a:lnTo>
                    <a:pt x="3839946" y="109626"/>
                  </a:lnTo>
                  <a:lnTo>
                    <a:pt x="3839946" y="0"/>
                  </a:lnTo>
                  <a:close/>
                </a:path>
              </a:pathLst>
            </a:custGeom>
            <a:solidFill>
              <a:srgbClr val="0C2B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-3" y="3214693"/>
              <a:ext cx="0" cy="25400"/>
            </a:xfrm>
            <a:custGeom>
              <a:avLst/>
              <a:gdLst/>
              <a:ahLst/>
              <a:cxnLst/>
              <a:rect l="l" t="t" r="r" b="b"/>
              <a:pathLst>
                <a:path h="25400">
                  <a:moveTo>
                    <a:pt x="0" y="25305"/>
                  </a:moveTo>
                  <a:lnTo>
                    <a:pt x="0" y="0"/>
                  </a:lnTo>
                  <a:lnTo>
                    <a:pt x="0" y="25305"/>
                  </a:lnTo>
                  <a:close/>
                </a:path>
                <a:path h="25400">
                  <a:moveTo>
                    <a:pt x="0" y="0"/>
                  </a:moveTo>
                </a:path>
              </a:pathLst>
            </a:custGeom>
            <a:solidFill>
              <a:srgbClr val="A3CB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Hiếu</a:t>
            </a:r>
            <a:r>
              <a:rPr spc="35" dirty="0"/>
              <a:t> </a:t>
            </a:r>
            <a:r>
              <a:rPr dirty="0">
                <a:latin typeface="Cambria"/>
                <a:cs typeface="Cambria"/>
              </a:rPr>
              <a:t>·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dirty="0"/>
              <a:t>Trọng</a:t>
            </a:r>
            <a:r>
              <a:rPr spc="35" dirty="0"/>
              <a:t> </a:t>
            </a:r>
            <a:r>
              <a:rPr dirty="0">
                <a:latin typeface="Cambria"/>
                <a:cs typeface="Cambria"/>
              </a:rPr>
              <a:t>·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dirty="0"/>
              <a:t>Quang</a:t>
            </a:r>
            <a:r>
              <a:rPr spc="245" dirty="0"/>
              <a:t> </a:t>
            </a:r>
            <a:r>
              <a:rPr dirty="0"/>
              <a:t>(ĐH</a:t>
            </a:r>
            <a:r>
              <a:rPr spc="40" dirty="0"/>
              <a:t> </a:t>
            </a:r>
            <a:r>
              <a:rPr spc="-10" dirty="0"/>
              <a:t>Phenikaa)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2441397" y="3122434"/>
            <a:ext cx="877569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5" action="ppaction://hlinksldjump"/>
              </a:rPr>
              <a:t>Cước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5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5" action="ppaction://hlinksldjump"/>
              </a:rPr>
              <a:t>phí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5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Microsoft Sans Serif"/>
                <a:cs typeface="Microsoft Sans Serif"/>
                <a:hlinkClick r:id="rId5" action="ppaction://hlinksldjump"/>
              </a:rPr>
              <a:t>Taxi</a:t>
            </a:r>
            <a:r>
              <a:rPr sz="600" spc="25" dirty="0">
                <a:solidFill>
                  <a:srgbClr val="FFFFFF"/>
                </a:solidFill>
                <a:latin typeface="Microsoft Sans Serif"/>
                <a:cs typeface="Microsoft Sans Serif"/>
                <a:hlinkClick r:id="rId5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·</a:t>
            </a:r>
            <a:r>
              <a:rPr sz="600" spc="55" dirty="0">
                <a:solidFill>
                  <a:srgbClr val="FFFFFF"/>
                </a:solidFill>
                <a:latin typeface="Cambria"/>
                <a:cs typeface="Cambria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Microsoft Sans Serif"/>
                <a:cs typeface="Microsoft Sans Serif"/>
                <a:hlinkClick r:id="rId5" action="ppaction://hlinksldjump"/>
              </a:rPr>
              <a:t>Phenikaa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20" dirty="0"/>
              <a:t>2026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5451283" y="3135795"/>
            <a:ext cx="25400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18</a:t>
            </a:r>
            <a:r>
              <a:rPr sz="6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00" spc="150" dirty="0">
                <a:solidFill>
                  <a:srgbClr val="FFFFFF"/>
                </a:solidFill>
                <a:latin typeface="Microsoft Sans Serif"/>
                <a:cs typeface="Microsoft Sans Serif"/>
              </a:rPr>
              <a:t>/</a:t>
            </a:r>
            <a:r>
              <a:rPr sz="6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19</a:t>
            </a:r>
            <a:endParaRPr sz="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dirty="0">
                <a:solidFill>
                  <a:srgbClr val="F0A500"/>
                </a:solidFill>
              </a:rPr>
              <a:t>Cảm</a:t>
            </a:r>
            <a:r>
              <a:rPr sz="2450" spc="-130" dirty="0">
                <a:solidFill>
                  <a:srgbClr val="F0A500"/>
                </a:solidFill>
              </a:rPr>
              <a:t> </a:t>
            </a:r>
            <a:r>
              <a:rPr sz="2450" spc="-35" dirty="0">
                <a:solidFill>
                  <a:srgbClr val="F0A500"/>
                </a:solidFill>
              </a:rPr>
              <a:t>ơn</a:t>
            </a:r>
            <a:r>
              <a:rPr sz="2450" spc="-95" dirty="0">
                <a:solidFill>
                  <a:srgbClr val="F0A500"/>
                </a:solidFill>
              </a:rPr>
              <a:t> </a:t>
            </a:r>
            <a:r>
              <a:rPr sz="2450" spc="-10" dirty="0">
                <a:solidFill>
                  <a:srgbClr val="F0A500"/>
                </a:solidFill>
              </a:rPr>
              <a:t>đã</a:t>
            </a:r>
            <a:r>
              <a:rPr sz="2450" spc="-95" dirty="0">
                <a:solidFill>
                  <a:srgbClr val="F0A500"/>
                </a:solidFill>
              </a:rPr>
              <a:t> </a:t>
            </a:r>
            <a:r>
              <a:rPr sz="2450" spc="-105" dirty="0">
                <a:solidFill>
                  <a:srgbClr val="F0A500"/>
                </a:solidFill>
              </a:rPr>
              <a:t>lắng</a:t>
            </a:r>
            <a:r>
              <a:rPr sz="2450" spc="-70" dirty="0">
                <a:solidFill>
                  <a:srgbClr val="F0A500"/>
                </a:solidFill>
              </a:rPr>
              <a:t> </a:t>
            </a:r>
            <a:r>
              <a:rPr sz="2450" spc="-90" dirty="0">
                <a:solidFill>
                  <a:srgbClr val="F0A500"/>
                </a:solidFill>
              </a:rPr>
              <a:t>nghe!</a:t>
            </a:r>
            <a:endParaRPr sz="2450"/>
          </a:p>
        </p:txBody>
      </p:sp>
      <p:sp>
        <p:nvSpPr>
          <p:cNvPr id="3" name="object 3"/>
          <p:cNvSpPr txBox="1"/>
          <p:nvPr/>
        </p:nvSpPr>
        <p:spPr>
          <a:xfrm>
            <a:off x="1387208" y="1066225"/>
            <a:ext cx="297116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10" dirty="0">
                <a:solidFill>
                  <a:srgbClr val="FFFFFF"/>
                </a:solidFill>
                <a:latin typeface="Arial"/>
                <a:cs typeface="Arial"/>
              </a:rPr>
              <a:t>“Dự</a:t>
            </a:r>
            <a:r>
              <a:rPr sz="1400" i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i="1" spc="-45" dirty="0">
                <a:solidFill>
                  <a:srgbClr val="FFFFFF"/>
                </a:solidFill>
                <a:latin typeface="Arial"/>
                <a:cs typeface="Arial"/>
              </a:rPr>
              <a:t>đoán</a:t>
            </a:r>
            <a:r>
              <a:rPr sz="1400" i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Arial"/>
                <a:cs typeface="Arial"/>
              </a:rPr>
              <a:t>và</a:t>
            </a:r>
            <a:r>
              <a:rPr sz="1400" i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FFFFFF"/>
                </a:solidFill>
                <a:latin typeface="Arial"/>
                <a:cs typeface="Arial"/>
              </a:rPr>
              <a:t>Tối</a:t>
            </a:r>
            <a:r>
              <a:rPr sz="1400" i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i="1" spc="-65" dirty="0">
                <a:solidFill>
                  <a:srgbClr val="FFFFFF"/>
                </a:solidFill>
                <a:latin typeface="Arial"/>
                <a:cs typeface="Arial"/>
              </a:rPr>
              <a:t>ưu</a:t>
            </a:r>
            <a:r>
              <a:rPr sz="1400" i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i="1" spc="-45" dirty="0">
                <a:solidFill>
                  <a:srgbClr val="FFFFFF"/>
                </a:solidFill>
                <a:latin typeface="Arial"/>
                <a:cs typeface="Arial"/>
              </a:rPr>
              <a:t>hóa</a:t>
            </a:r>
            <a:r>
              <a:rPr sz="1400" i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i="1" spc="-105" dirty="0">
                <a:solidFill>
                  <a:srgbClr val="FFFFFF"/>
                </a:solidFill>
                <a:latin typeface="Arial"/>
                <a:cs typeface="Arial"/>
              </a:rPr>
              <a:t>Cước</a:t>
            </a:r>
            <a:r>
              <a:rPr sz="1400" i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Arial"/>
                <a:cs typeface="Arial"/>
              </a:rPr>
              <a:t>phí</a:t>
            </a:r>
            <a:r>
              <a:rPr sz="1400" i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Arial"/>
                <a:cs typeface="Arial"/>
              </a:rPr>
              <a:t>Taxi”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54100" y="1668536"/>
            <a:ext cx="3803015" cy="1516381"/>
            <a:chOff x="978759" y="1643886"/>
            <a:chExt cx="3803015" cy="1516381"/>
          </a:xfrm>
        </p:grpSpPr>
        <p:sp>
          <p:nvSpPr>
            <p:cNvPr id="5" name="object 5"/>
            <p:cNvSpPr/>
            <p:nvPr/>
          </p:nvSpPr>
          <p:spPr>
            <a:xfrm>
              <a:off x="978759" y="1643886"/>
              <a:ext cx="3803015" cy="927100"/>
            </a:xfrm>
            <a:custGeom>
              <a:avLst/>
              <a:gdLst/>
              <a:ahLst/>
              <a:cxnLst/>
              <a:rect l="l" t="t" r="r" b="b"/>
              <a:pathLst>
                <a:path w="3803015" h="927100">
                  <a:moveTo>
                    <a:pt x="3802489" y="0"/>
                  </a:moveTo>
                  <a:lnTo>
                    <a:pt x="0" y="0"/>
                  </a:lnTo>
                  <a:lnTo>
                    <a:pt x="0" y="926689"/>
                  </a:lnTo>
                  <a:lnTo>
                    <a:pt x="3802489" y="926689"/>
                  </a:lnTo>
                  <a:lnTo>
                    <a:pt x="38024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78759" y="1743712"/>
              <a:ext cx="3803015" cy="927100"/>
            </a:xfrm>
            <a:custGeom>
              <a:avLst/>
              <a:gdLst/>
              <a:ahLst/>
              <a:cxnLst/>
              <a:rect l="l" t="t" r="r" b="b"/>
              <a:pathLst>
                <a:path w="3803015" h="927100">
                  <a:moveTo>
                    <a:pt x="0" y="926689"/>
                  </a:moveTo>
                  <a:lnTo>
                    <a:pt x="3802489" y="926689"/>
                  </a:lnTo>
                  <a:lnTo>
                    <a:pt x="3802489" y="0"/>
                  </a:lnTo>
                  <a:lnTo>
                    <a:pt x="0" y="0"/>
                  </a:lnTo>
                  <a:lnTo>
                    <a:pt x="0" y="926689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51075" y="3026918"/>
              <a:ext cx="136525" cy="13334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361572" y="2993147"/>
            <a:ext cx="12598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Câu</a:t>
            </a:r>
            <a:r>
              <a:rPr sz="11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hỏi</a:t>
            </a:r>
            <a:r>
              <a:rPr sz="11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100" spc="85" dirty="0">
                <a:solidFill>
                  <a:srgbClr val="FFFFFF"/>
                </a:solidFill>
                <a:latin typeface="Microsoft Sans Serif"/>
                <a:cs typeface="Microsoft Sans Serif"/>
              </a:rPr>
              <a:t>&amp;</a:t>
            </a:r>
            <a:r>
              <a:rPr sz="11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Thảo</a:t>
            </a:r>
            <a:r>
              <a:rPr sz="11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luận</a:t>
            </a:r>
            <a:endParaRPr sz="11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Words>1799</Words>
  <Application>Microsoft Office PowerPoint</Application>
  <PresentationFormat>Tùy chỉnh</PresentationFormat>
  <Paragraphs>349</Paragraphs>
  <Slides>19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12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19</vt:i4>
      </vt:variant>
    </vt:vector>
  </HeadingPairs>
  <TitlesOfParts>
    <vt:vector size="32" baseType="lpstr">
      <vt:lpstr>Microsoft YaHei</vt:lpstr>
      <vt:lpstr>Arial</vt:lpstr>
      <vt:lpstr>Arial MT</vt:lpstr>
      <vt:lpstr>Calibri</vt:lpstr>
      <vt:lpstr>Cambria</vt:lpstr>
      <vt:lpstr>Franklin Gothic Medium</vt:lpstr>
      <vt:lpstr>Lucida Sans Unicode</vt:lpstr>
      <vt:lpstr>Microsoft Sans Serif</vt:lpstr>
      <vt:lpstr>Roboto Lt</vt:lpstr>
      <vt:lpstr>Segoe UI Symbol</vt:lpstr>
      <vt:lpstr>Tahoma</vt:lpstr>
      <vt:lpstr>Verdana</vt:lpstr>
      <vt:lpstr>Office Theme</vt:lpstr>
      <vt:lpstr>Trường Đại học Phenikaa · Khoa CNTT</vt:lpstr>
      <vt:lpstr>Nội dung Trình bày</vt:lpstr>
      <vt:lpstr>Bối cảnh &amp; Lý do Chọn Đề tài</vt:lpstr>
      <vt:lpstr>Mục tiêu Nghiên cứu</vt:lpstr>
      <vt:lpstr>Câu hỏi Nghiên cứu</vt:lpstr>
      <vt:lpstr>Nguồn Dữ liệu</vt:lpstr>
      <vt:lpstr>Thống kê Mô tả – Chân dung Chuyến đi Điển hình</vt:lpstr>
      <vt:lpstr>EDA – Phân phối Đặc trưng Số</vt:lpstr>
      <vt:lpstr>EDA – Phân tích Phương thức Thanh toán</vt:lpstr>
      <vt:lpstr>Giờ Cao Điểm</vt:lpstr>
      <vt:lpstr>EDA – Tương quan &amp; Phân tích Ngoại lệ</vt:lpstr>
      <vt:lpstr>EDA – Phân phối KDE &amp; Ma trận Tương quan</vt:lpstr>
      <vt:lpstr>Mô hình Dự đoán – Tổng quan</vt:lpstr>
      <vt:lpstr>Feature Importance – Tầm quan trọng của Đặc trưng</vt:lpstr>
      <vt:lpstr>Chỉ số Đánh giá Hiệu năng</vt:lpstr>
      <vt:lpstr>So sánh Hiệu năng Mô hình</vt:lpstr>
      <vt:lpstr>Kết luận</vt:lpstr>
      <vt:lpstr>Hướng Phát triển</vt:lpstr>
      <vt:lpstr>Cảm ơn đã lắng nghe!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Dự đoán và Tối ưu hóa Cước phí Taxi - Bài tập lớn – Lập trình Phân tích Dữ liệu với Python</dc:title>
  <dc:creator>Nguyễn Trung Hiếu, Nguyễn Văn Trọng, Nguyễn Việt Quang</dc:creator>
  <cp:lastModifiedBy>Nguyen Trung Hieu</cp:lastModifiedBy>
  <cp:revision>8</cp:revision>
  <dcterms:created xsi:type="dcterms:W3CDTF">2026-06-01T12:09:48Z</dcterms:created>
  <dcterms:modified xsi:type="dcterms:W3CDTF">2026-06-02T00:15:24Z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2026-06-01T00:00:00Z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2026-06-01T00:00:00Z</vt:filetime>
  </property>
  <property fmtid="{D5CDD505-2E9C-101B-9397-08002B2CF9AE}" pid="6" name="PTEX.Fullbanner">
    <vt:lpwstr>This is pdfTeX, Version 3.141592653-2.6-1.40.27 (TeX Live 2025) kpathsea version 6.4.1</vt:lpwstr>
  </property>
  <property fmtid="{D5CDD505-2E9C-101B-9397-08002B2CF9AE}" pid="7" name="Producer">
    <vt:lpwstr>pdfTeX-1.40.27</vt:lpwstr>
  </property>
</Properties>
</file>