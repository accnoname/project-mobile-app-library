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BÀI TẬP LỚN CUỐI KỲ - LỚP N03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Ứng dụng Quản lý Thư viện trên thiết bị di động</a:t>
            </a:r>
          </a:p>
          <a:p>
            <a:r>
              <a:t>Nhóm thực hiện: Nhóm ...</a:t>
            </a:r>
          </a:p>
          <a:p>
            <a:r>
              <a:t>Đại học Phenikaa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LỤC /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Tổng quan về hệ thống và lộ trình phát triển:</a:t>
            </a:r>
          </a:p>
          <a:p>
            <a:pPr lvl="1"/>
            <a:r>
              <a:t>Câu 1 &amp; 2: User Stories và Phân tích thiết kế</a:t>
            </a:r>
          </a:p>
          <a:p>
            <a:pPr lvl="1"/>
            <a:r>
              <a:t>Câu 3: Sơ đồ UML (Class &amp; Sequence)</a:t>
            </a:r>
          </a:p>
          <a:p>
            <a:pPr lvl="1"/>
            <a:r>
              <a:t>Câu 4 &amp; 5: Thiết kế giao diện &amp; Layout mẫu</a:t>
            </a:r>
          </a:p>
          <a:p>
            <a:pPr lvl="1"/>
            <a:r>
              <a:t>Câu 6 &amp; 7: Triển khai Code &amp; Database ORM</a:t>
            </a:r>
          </a:p>
          <a:p>
            <a:pPr lvl="1"/>
            <a:r>
              <a:t>Câu 8: Kiểm thử &amp; Unit Test</a:t>
            </a:r>
          </a:p>
          <a:p>
            <a:pPr lvl="1"/>
            <a:r>
              <a:t>Câu 9 &amp; 10: Tổ chức Nhóm &amp; Git Commits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1: USER STORIES (CÂU CHUYỆN NGƯỜI DÙNG)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Hệ thống thiết kế xoay quanh vai trò Thủ thư (Librarian):</a:t>
            </a:r>
          </a:p>
          <a:p>
            <a:pPr lvl="1"/>
            <a:r>
              <a:t>Là thủ thư, tôi muốn đăng nhập an toàn vào hệ thống quản lý.</a:t>
            </a:r>
          </a:p>
          <a:p>
            <a:pPr lvl="1"/>
            <a:r>
              <a:t>Là thủ thư, tôi muốn xem Dashboard thống kê để quản lý sách trực quan.</a:t>
            </a:r>
          </a:p>
          <a:p>
            <a:pPr lvl="1"/>
            <a:r>
              <a:t>Là thủ thư, tôi muốn Thêm/Sửa/Xóa chi tiết một cuốn sách.</a:t>
            </a:r>
          </a:p>
          <a:p>
            <a:pPr lvl="1"/>
            <a:r>
              <a:t>Là thủ thư, tôi muốn tạo nhanh Phiếu Mượn/Trả sách cho độc giả.</a:t>
            </a:r>
          </a:p>
          <a:p>
            <a:pPr lvl="1"/>
            <a:r>
              <a:t>Là thủ thư, tôi muốn tự động hóa việc cập nhật tồn kho khi sách được mượn/trả.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2: PHÂN TÍCH YÊU CẦU, ĐỐI TƯỢNG VÀ MỐI QUAN HỆ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Yêu cầu: App mượt mà, lưu trữ dữ liệu thời gian thực trên cloud.</a:t>
            </a:r>
          </a:p>
          <a:p>
            <a:pPr/>
            <a:r>
              <a:t>Các đối tượng chính (Entities):</a:t>
            </a:r>
          </a:p>
          <a:p>
            <a:pPr lvl="1"/>
            <a:r>
              <a:t>1. AppUser: Quản lý thông tin thủ thư.</a:t>
            </a:r>
          </a:p>
          <a:p>
            <a:pPr lvl="1"/>
            <a:r>
              <a:t>2. BookModel: Đối tượng sách (tên, tác giả, số lượng).</a:t>
            </a:r>
          </a:p>
          <a:p>
            <a:pPr lvl="1"/>
            <a:r>
              <a:t>3. LoanModel: Đối tượng phiếu giao dịch (Mượn hoặc Trả).</a:t>
            </a:r>
          </a:p>
          <a:p>
            <a:pPr/>
            <a:r>
              <a:t>Mối quan hệ:</a:t>
            </a:r>
          </a:p>
          <a:p>
            <a:pPr lvl="1"/>
            <a:r>
              <a:t>1 AppUser xử lý N LoanModel (Phiếu).</a:t>
            </a:r>
          </a:p>
          <a:p>
            <a:pPr lvl="1"/>
            <a:r>
              <a:t>Mối quan hệ N-M giữa LoanModel và BookModel thông qua giỏ hàng (LoanBookItem).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3: SƠ ĐỒ CẤU TRÚC LỚP (CLASS 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Cấu trúc lớp hỗ trợ Object Relational Mapping (ORM):</a:t>
            </a:r>
          </a:p>
          <a:p>
            <a:pPr lvl="1"/>
            <a:r>
              <a:t>Lớp BookModel, LoanModel, AppUser đều có constructor từ Map.</a:t>
            </a:r>
          </a:p>
          <a:p>
            <a:pPr lvl="1"/>
            <a:r>
              <a:t>Chứa các hàm toMap() và fromMap()/fromJson().</a:t>
            </a:r>
          </a:p>
          <a:p>
            <a:pPr lvl="1"/>
            <a:r>
              <a:t>Các Extension (như LoanModelExtension) giúp tái sử dụng logic tính toán.</a:t>
            </a:r>
          </a:p>
          <a:p>
            <a:pPr/>
            <a:r>
              <a:t>(Giành không gian trống này để dán ảnh Sơ đồ Class Diagram)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3: SƠ ĐỒ THUẬT TOÁN (SEQUENCE/ACTIVITY)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Nhóm đã xây dựng 5 sơ đồ luồng hoạt động cốt lõi:</a:t>
            </a:r>
          </a:p>
          <a:p>
            <a:pPr lvl="1"/>
            <a:r>
              <a:t>1. Sơ đồ đăng nhập và xác thực.</a:t>
            </a:r>
          </a:p>
          <a:p>
            <a:pPr lvl="1"/>
            <a:r>
              <a:t>2. Sơ đồ quá trình thêm/sửa sách.</a:t>
            </a:r>
          </a:p>
          <a:p>
            <a:pPr lvl="1"/>
            <a:r>
              <a:t>3. Sơ đồ tạo phiếu mượn (trừ tồn kho).</a:t>
            </a:r>
          </a:p>
          <a:p>
            <a:pPr lvl="1"/>
            <a:r>
              <a:t>4. Sơ đồ tạo phiếu trả (cộng dồn tồn kho).</a:t>
            </a:r>
          </a:p>
          <a:p>
            <a:pPr lvl="1"/>
            <a:r>
              <a:t>5. Sơ đồ thuật toán lọc dữ liệu Dashboard theo thời gian.</a:t>
            </a:r>
          </a:p>
          <a:p>
            <a:pPr/>
            <a:r>
              <a:t>(Chèn ảnh các sơ đồ vào khu vực này)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4: THIẾT KẾ MÀN HÌNH &amp; FLOW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Wireframes / Mockup Screens:</a:t>
            </a:r>
          </a:p>
          <a:p>
            <a:pPr lvl="1"/>
            <a:r>
              <a:t>Giao diện sử dụng Material 3, Clean UI (Trắng &amp; Xanh Navy).</a:t>
            </a:r>
          </a:p>
          <a:p>
            <a:pPr/>
            <a:r>
              <a:t>Logic luồng bài toán (Flow of Work):</a:t>
            </a:r>
          </a:p>
          <a:p>
            <a:pPr lvl="1"/>
            <a:r>
              <a:t>Màn hình Đăng nhập -&gt; HomeScreen (Bottom Navigation Bar).</a:t>
            </a:r>
          </a:p>
          <a:p>
            <a:pPr lvl="1"/>
            <a:r>
              <a:t>Bottom Nav chứa 5 Tab: Trang chủ, Sách, Dashboard, Mượn, Trả.</a:t>
            </a:r>
          </a:p>
          <a:p>
            <a:pPr lvl="1"/>
            <a:r>
              <a:t>Nút Settings tích hợp gọn gàng trong góc của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5: THỰC HIỆN LAYOUT MẪU YÊU CẦU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Màn hình thiết kế theo mẫu IMG_5518.PNG do giảng viên yêu cầu.</a:t>
            </a:r>
          </a:p>
          <a:p>
            <a:pPr lvl="1"/>
            <a:r>
              <a:t>Responsive với mọi kích thước điện thoại.</a:t>
            </a:r>
          </a:p>
          <a:p>
            <a:pPr lvl="1"/>
            <a:r>
              <a:t>Phối màu tuân thủ 100% bản mẫu gốc.</a:t>
            </a:r>
          </a:p>
          <a:p>
            <a:pPr lvl="1"/>
            <a:r>
              <a:t>Đảm bảo cả tỷ lệ Padding, Margin và Typorgraphy.</a:t>
            </a:r>
          </a:p>
          <a:p>
            <a:pPr/>
            <a:r>
              <a:t>(Chèn ảnh ghép 2 bên: Ảnh mẫu IMG_5518 vs Ảnh ứng dụng thực tế)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6: THỰC HIỆN CODE THEO USER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Triển khai toàn diện tính năng ứng dụng thực tiễn:</a:t>
            </a:r>
          </a:p>
          <a:p>
            <a:pPr lvl="1"/>
            <a:r>
              <a:t>Tích hợp Firebase Auth cho đăng nhập.</a:t>
            </a:r>
          </a:p>
          <a:p>
            <a:pPr lvl="1"/>
            <a:r>
              <a:t>Màn hình Add/Edit book kết hợp upload hình ảnh Cloudinary.</a:t>
            </a:r>
          </a:p>
          <a:p>
            <a:pPr lvl="1"/>
            <a:r>
              <a:t>Màn hình Tạo phiếu tự động tính toán tổng số sách.</a:t>
            </a:r>
          </a:p>
          <a:p>
            <a:pPr lvl="1"/>
            <a:r>
              <a:t>Triển khai Syncfusion Charts cho Dashboard báo cáo thống kê.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7: KẾT NỐI DATABASE VÀ KỸ THUẬT 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Cơ sở dữ liệu đám mây Firebase Firestore (NoSQL Real-time).</a:t>
            </a:r>
          </a:p>
          <a:p>
            <a:pPr/>
            <a:r>
              <a:t>Kỹ thuật Object Relational Mapping (ORM):</a:t>
            </a:r>
          </a:p>
          <a:p>
            <a:pPr lvl="1"/>
            <a:r>
              <a:t>DocumentSnapshot -&gt; Map -&gt; Model Object.</a:t>
            </a:r>
          </a:p>
          <a:p>
            <a:pPr lvl="1"/>
            <a:r>
              <a:t>Không gọi trực tiếp field String/Int từ Firebase lên UI.</a:t>
            </a:r>
          </a:p>
          <a:p>
            <a:pPr lvl="1"/>
            <a:r>
              <a:t>Toàn bộ UI widget như ListView, GridView đều render dựa trên danh sách các Object mạnh (Strong-typed Objects).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8: KIỂM THỬ, BẮT LỖI VÀ UNIT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Kiểm thử chức năng và bắt lỗi ngoại lệ:</a:t>
            </a:r>
          </a:p>
          <a:p>
            <a:pPr lvl="1"/>
            <a:r>
              <a:t>Bắt lỗi Form (TextFormField validate).</a:t>
            </a:r>
          </a:p>
          <a:p>
            <a:pPr lvl="1"/>
            <a:r>
              <a:t>Bắt lỗi logic (Mượn lố số lượng có sẵn trong kho).</a:t>
            </a:r>
          </a:p>
          <a:p>
            <a:pPr/>
            <a:r>
              <a:t>Đơn vị kiểm định (Unit Test):</a:t>
            </a:r>
          </a:p>
          <a:p>
            <a:pPr lvl="1"/>
            <a:r>
              <a:t>Khởi tạo test directory, sử dụng thư viện flutter_test.</a:t>
            </a:r>
          </a:p>
          <a:p>
            <a:pPr lvl="1"/>
            <a:r>
              <a:t>Hoàn thành xuất sắc 10/10 test cases cho toàn bộ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9: BÁO CÁO, LINK DEMO VÀ PHÂN CÔNG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Tài nguyên Đồ án (Đính kèm trong báo cáo giấy):</a:t>
            </a:r>
          </a:p>
          <a:p>
            <a:pPr lvl="1"/>
            <a:r>
              <a:t>Link Github: https://github.com/Accnoname/project-mobile-app-library</a:t>
            </a:r>
          </a:p>
          <a:p>
            <a:pPr lvl="1"/>
            <a:r>
              <a:t>Link Demo: (Điền link Firebase Hosting hoặc Youtube Demo)</a:t>
            </a:r>
          </a:p>
          <a:p>
            <a:pPr/>
            <a:r>
              <a:t>Đóng góp của nhóm:</a:t>
            </a:r>
          </a:p>
          <a:p>
            <a:pPr lvl="1"/>
            <a:r>
              <a:t>SV 1 (Huy Hiếu): Setup Firebase, Code Dashboard UI, viết Unit Test.</a:t>
            </a:r>
          </a:p>
          <a:p>
            <a:pPr lvl="1"/>
            <a:r>
              <a:t>SV 2 (...): Code màn hình Sách, Mượn/Trả...</a:t>
            </a:r>
          </a:p>
          <a:p>
            <a:pPr lvl="1"/>
            <a:r>
              <a:t>SV 3 (...): Viết báo cáo, vẽ sơ đồ UML, thiết kế Slide.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10: LỊCH SỬ CODE VÀ GIT COMMITS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Kỹ năng làm việc nhóm qua công cụ quản lý mã nguồn Git:</a:t>
            </a:r>
          </a:p>
          <a:p>
            <a:pPr lvl="1"/>
            <a:r>
              <a:t>Commit có cấu trúc rõ ràng (Convention: feat, fix, chore...).</a:t>
            </a:r>
          </a:p>
          <a:p>
            <a:pPr lvl="1"/>
            <a:r>
              <a:t>Các nhánh độc lập (VD: nhánh main, nhánh giao-dien).</a:t>
            </a:r>
          </a:p>
          <a:p>
            <a:pPr lvl="1"/>
            <a:r>
              <a:t>Tần suất commit phản ánh đúng tiến trình và công sức thực tế của từng sinh viên.</a:t>
            </a:r>
          </a:p>
          <a:p>
            <a:pPr/>
            <a:r>
              <a:t>(Chèn ảnh chụp màn hình tab Commits trên kho lưu trữ Github)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 ỨNG DỤNG THỰC TẾ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Xin trân trọng kính mời Hội đồng xem Demo ứng dụng</a:t>
            </a:r>
          </a:p>
          <a:p>
            <a:r>
              <a:t>và đưa ra nhận xét / câu hỏi (Q&amp;A).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